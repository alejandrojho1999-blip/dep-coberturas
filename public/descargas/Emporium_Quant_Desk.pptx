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Resultado anual (MNQ, 1 contrato)</c:v>
                </c:pt>
              </c:strCache>
            </c:strRef>
          </c:tx>
          <c:spPr>
            <a:solidFill>
              <a:srgbClr val="4D95D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4D95D0"/>
              </a:solidFill>
              <a:effectLst/>
            </c:spPr>
          </c:dPt>
          <c:dPt>
            <c:idx val="1"/>
            <c:invertIfNegative val="0"/>
            <c:bubble3D val="0"/>
            <c:spPr>
              <a:solidFill>
                <a:srgbClr val="4D95D0"/>
              </a:solidFill>
              <a:effectLst/>
            </c:spPr>
          </c:dPt>
          <c:dPt>
            <c:idx val="2"/>
            <c:invertIfNegative val="0"/>
            <c:bubble3D val="0"/>
            <c:spPr>
              <a:solidFill>
                <a:srgbClr val="4D95D0"/>
              </a:solidFill>
              <a:effectLst/>
            </c:spPr>
          </c:dPt>
          <c:dPt>
            <c:idx val="3"/>
            <c:invertIfNegative val="0"/>
            <c:bubble3D val="0"/>
            <c:spPr>
              <a:solidFill>
                <a:srgbClr val="4D95D0"/>
              </a:solidFill>
              <a:effectLst/>
            </c:spPr>
          </c:dPt>
          <c:dPt>
            <c:idx val="4"/>
            <c:invertIfNegative val="0"/>
            <c:bubble3D val="0"/>
            <c:spPr>
              <a:solidFill>
                <a:srgbClr val="4D95D0"/>
              </a:solidFill>
              <a:effectLst/>
            </c:spPr>
          </c:dPt>
          <c:dPt>
            <c:idx val="5"/>
            <c:invertIfNegative val="0"/>
            <c:bubble3D val="0"/>
            <c:spPr>
              <a:solidFill>
                <a:srgbClr val="4D95D0"/>
              </a:solidFill>
              <a:effectLst/>
            </c:spPr>
          </c:dPt>
          <c:dPt>
            <c:idx val="6"/>
            <c:invertIfNegative val="0"/>
            <c:bubble3D val="0"/>
            <c:spPr>
              <a:solidFill>
                <a:srgbClr val="4D95D0"/>
              </a:solidFill>
              <a:effectLst/>
            </c:spPr>
          </c:dPt>
          <c:dPt>
            <c:idx val="7"/>
            <c:invertIfNegative val="0"/>
            <c:bubble3D val="0"/>
            <c:spPr>
              <a:solidFill>
                <a:srgbClr val="F04438"/>
              </a:solidFill>
              <a:effectLst/>
            </c:spPr>
          </c:dPt>
          <c:dPt>
            <c:idx val="8"/>
            <c:invertIfNegative val="0"/>
            <c:bubble3D val="0"/>
            <c:spPr>
              <a:solidFill>
                <a:srgbClr val="F04438"/>
              </a:solidFill>
              <a:effectLst/>
            </c:spPr>
          </c:dPt>
          <c:dPt>
            <c:idx val="9"/>
            <c:invertIfNegative val="0"/>
            <c:bubble3D val="0"/>
            <c:spPr>
              <a:solidFill>
                <a:srgbClr val="4D95D0"/>
              </a:solidFill>
              <a:effectLst/>
            </c:spPr>
          </c:dPt>
          <c:dPt>
            <c:idx val="10"/>
            <c:invertIfNegative val="0"/>
            <c:bubble3D val="0"/>
            <c:spPr>
              <a:solidFill>
                <a:srgbClr val="4D95D0"/>
              </a:solidFill>
              <a:effectLst/>
            </c:spPr>
          </c:dPt>
          <c:dPt>
            <c:idx val="11"/>
            <c:invertIfNegative val="0"/>
            <c:bubble3D val="0"/>
            <c:spPr>
              <a:solidFill>
                <a:srgbClr val="F04438"/>
              </a:solidFill>
              <a:effectLst/>
            </c:spPr>
          </c:dPt>
          <c:cat>
            <c:multiLvlStrRef>
              <c:f>Sheet1!$A$2:$A$13</c:f>
              <c:multiLvlStrCache>
                <c:ptCount val="12"/>
                <c:lvl>
                  <c:pt idx="0">
                    <c:v>2015</c:v>
                  </c:pt>
                  <c:pt idx="1">
                    <c:v>2016</c:v>
                  </c:pt>
                  <c:pt idx="2">
                    <c:v>2017</c:v>
                  </c:pt>
                  <c:pt idx="3">
                    <c:v>2018</c:v>
                  </c:pt>
                  <c:pt idx="4">
                    <c:v>2019</c:v>
                  </c:pt>
                  <c:pt idx="5">
                    <c:v>2020</c:v>
                  </c:pt>
                  <c:pt idx="6">
                    <c:v>2021</c:v>
                  </c:pt>
                  <c:pt idx="7">
                    <c:v>2022</c:v>
                  </c:pt>
                  <c:pt idx="8">
                    <c:v>2023</c:v>
                  </c:pt>
                  <c:pt idx="9">
                    <c:v>2024</c:v>
                  </c:pt>
                  <c:pt idx="10">
                    <c:v>2025</c:v>
                  </c:pt>
                  <c:pt idx="11">
                    <c:v>2026</c:v>
                  </c:pt>
                </c:lvl>
              </c:multiLvlStrCache>
            </c:multiLvlStrRef>
          </c:cat>
          <c:val>
            <c:numRef>
              <c:f>Sheet1!$B$2:$B$13</c:f>
              <c:numCache>
                <c:formatCode>General</c:formatCode>
                <c:ptCount val="12"/>
                <c:pt idx="0">
                  <c:v>786</c:v>
                </c:pt>
                <c:pt idx="1">
                  <c:v>216</c:v>
                </c:pt>
                <c:pt idx="2">
                  <c:v>1385</c:v>
                </c:pt>
                <c:pt idx="3">
                  <c:v>615</c:v>
                </c:pt>
                <c:pt idx="4">
                  <c:v>1007</c:v>
                </c:pt>
                <c:pt idx="5">
                  <c:v>4022</c:v>
                </c:pt>
                <c:pt idx="6">
                  <c:v>4342</c:v>
                </c:pt>
                <c:pt idx="7">
                  <c:v>-449</c:v>
                </c:pt>
                <c:pt idx="8">
                  <c:v>-41</c:v>
                </c:pt>
                <c:pt idx="9">
                  <c:v>7327</c:v>
                </c:pt>
                <c:pt idx="10">
                  <c:v>399</c:v>
                </c:pt>
                <c:pt idx="11">
                  <c:v>-1560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9DB2C4"/>
                </a:solidFill>
                <a:latin typeface="Consola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405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8299"/>
                </a:solidFill>
                <a:latin typeface="Arial"/>
              </a:defRPr>
            </a:pPr>
            <a:endParaRPr lang="en-US"/>
          </a:p>
        </c:txPr>
        <c:crossAx val="2094734554"/>
        <c:crosses val="autoZero"/>
        <c:crossBetween val="between"/>
      </c:valAx>
      <c:spPr>
        <a:solidFill>
          <a:srgbClr val="0C1E2C"/>
        </a:solidFill>
        <a:ln>
          <a:noFill/>
        </a:ln>
        <a:effectLst/>
      </c:spPr>
    </c:plotArea>
    <c:plotVisOnly val="1"/>
    <c:dispBlanksAs val="span"/>
  </c:chart>
  <c:spPr>
    <a:solidFill>
      <a:srgbClr val="0C1E2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Beneficio acumulado del portafolio (MNQ, 1 contrato por estrategia)</c:v>
                </c:pt>
              </c:strCache>
            </c:strRef>
          </c:tx>
          <c:spPr>
            <a:solidFill>
              <a:srgbClr val="4D95D0"/>
            </a:solidFill>
            <a:ln w="31750" cap="flat">
              <a:solidFill>
                <a:srgbClr val="4D95D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D95D0"/>
              </a:solidFill>
              <a:ln w="9525" cap="flat">
                <a:solidFill>
                  <a:srgbClr val="4D95D0"/>
                </a:solidFill>
                <a:prstDash val="solid"/>
                <a:round/>
              </a:ln>
              <a:effectLst/>
            </c:spPr>
          </c:marker>
          <c:cat>
            <c:multiLvlStrRef>
              <c:f>Sheet1!$A$2:$A$72</c:f>
              <c:multiLvlStrCache>
                <c:ptCount val="71"/>
                <c:lvl>
                  <c:pt idx="0">
                    <c:v>2015</c:v>
                  </c:pt>
                  <c:pt idx="1">
                    <c:v/>
                  </c:pt>
                  <c:pt idx="2">
                    <c:v/>
                  </c:pt>
                  <c:pt idx="3">
                    <c:v/>
                  </c:pt>
                  <c:pt idx="4">
                    <c:v>2016</c:v>
                  </c:pt>
                  <c:pt idx="5">
                    <c:v/>
                  </c:pt>
                  <c:pt idx="6">
                    <c:v/>
                  </c:pt>
                  <c:pt idx="7">
                    <c:v/>
                  </c:pt>
                  <c:pt idx="8">
                    <c:v/>
                  </c:pt>
                  <c:pt idx="9">
                    <c:v>2017</c:v>
                  </c:pt>
                  <c:pt idx="10">
                    <c:v/>
                  </c:pt>
                  <c:pt idx="11">
                    <c:v/>
                  </c:pt>
                  <c:pt idx="12">
                    <c:v/>
                  </c:pt>
                  <c:pt idx="13">
                    <c:v/>
                  </c:pt>
                  <c:pt idx="14">
                    <c:v/>
                  </c:pt>
                  <c:pt idx="15">
                    <c:v/>
                  </c:pt>
                  <c:pt idx="16">
                    <c:v>2018</c:v>
                  </c:pt>
                  <c:pt idx="17">
                    <c:v/>
                  </c:pt>
                  <c:pt idx="18">
                    <c:v/>
                  </c:pt>
                  <c:pt idx="19">
                    <c:v/>
                  </c:pt>
                  <c:pt idx="20">
                    <c:v/>
                  </c:pt>
                  <c:pt idx="21">
                    <c:v/>
                  </c:pt>
                  <c:pt idx="22">
                    <c:v>2019</c:v>
                  </c:pt>
                  <c:pt idx="23">
                    <c:v/>
                  </c:pt>
                  <c:pt idx="24">
                    <c:v/>
                  </c:pt>
                  <c:pt idx="25">
                    <c:v/>
                  </c:pt>
                  <c:pt idx="26">
                    <c:v/>
                  </c:pt>
                  <c:pt idx="27">
                    <c:v/>
                  </c:pt>
                  <c:pt idx="28">
                    <c:v/>
                  </c:pt>
                  <c:pt idx="29">
                    <c:v>2020</c:v>
                  </c:pt>
                  <c:pt idx="30">
                    <c:v/>
                  </c:pt>
                  <c:pt idx="31">
                    <c:v/>
                  </c:pt>
                  <c:pt idx="32">
                    <c:v/>
                  </c:pt>
                  <c:pt idx="33">
                    <c:v/>
                  </c:pt>
                  <c:pt idx="34">
                    <c:v/>
                  </c:pt>
                  <c:pt idx="35">
                    <c:v/>
                  </c:pt>
                  <c:pt idx="36">
                    <c:v>2021</c:v>
                  </c:pt>
                  <c:pt idx="37">
                    <c:v/>
                  </c:pt>
                  <c:pt idx="38">
                    <c:v/>
                  </c:pt>
                  <c:pt idx="39">
                    <c:v/>
                  </c:pt>
                  <c:pt idx="40">
                    <c:v/>
                  </c:pt>
                  <c:pt idx="41">
                    <c:v/>
                  </c:pt>
                  <c:pt idx="42">
                    <c:v/>
                  </c:pt>
                  <c:pt idx="43">
                    <c:v>2022</c:v>
                  </c:pt>
                  <c:pt idx="44">
                    <c:v/>
                  </c:pt>
                  <c:pt idx="45">
                    <c:v/>
                  </c:pt>
                  <c:pt idx="46">
                    <c:v>2023</c:v>
                  </c:pt>
                  <c:pt idx="47">
                    <c:v/>
                  </c:pt>
                  <c:pt idx="48">
                    <c:v/>
                  </c:pt>
                  <c:pt idx="49">
                    <c:v/>
                  </c:pt>
                  <c:pt idx="50">
                    <c:v/>
                  </c:pt>
                  <c:pt idx="51">
                    <c:v/>
                  </c:pt>
                  <c:pt idx="52">
                    <c:v>2024</c:v>
                  </c:pt>
                  <c:pt idx="53">
                    <c:v/>
                  </c:pt>
                  <c:pt idx="54">
                    <c:v/>
                  </c:pt>
                  <c:pt idx="55">
                    <c:v/>
                  </c:pt>
                  <c:pt idx="56">
                    <c:v/>
                  </c:pt>
                  <c:pt idx="57">
                    <c:v/>
                  </c:pt>
                  <c:pt idx="58">
                    <c:v/>
                  </c:pt>
                  <c:pt idx="59">
                    <c:v/>
                  </c:pt>
                  <c:pt idx="60">
                    <c:v>2025</c:v>
                  </c:pt>
                  <c:pt idx="61">
                    <c:v/>
                  </c:pt>
                  <c:pt idx="62">
                    <c:v/>
                  </c:pt>
                  <c:pt idx="63">
                    <c:v/>
                  </c:pt>
                  <c:pt idx="64">
                    <c:v/>
                  </c:pt>
                  <c:pt idx="65">
                    <c:v/>
                  </c:pt>
                  <c:pt idx="66">
                    <c:v>2026</c:v>
                  </c:pt>
                  <c:pt idx="67">
                    <c:v/>
                  </c:pt>
                  <c:pt idx="68">
                    <c:v/>
                  </c:pt>
                  <c:pt idx="69">
                    <c:v/>
                  </c:pt>
                  <c:pt idx="70">
                    <c:v/>
                  </c:pt>
                </c:lvl>
              </c:multiLvlStrCache>
            </c:multiLvlStrRef>
          </c:cat>
          <c:val>
            <c:numRef>
              <c:f>Sheet1!$B$2:$B$72</c:f>
              <c:numCache>
                <c:formatCode>General</c:formatCode>
                <c:ptCount val="71"/>
                <c:pt idx="0">
                  <c:v>-1190</c:v>
                </c:pt>
                <c:pt idx="1">
                  <c:v>385</c:v>
                </c:pt>
                <c:pt idx="2">
                  <c:v>1653</c:v>
                </c:pt>
                <c:pt idx="3">
                  <c:v>1371</c:v>
                </c:pt>
                <c:pt idx="4">
                  <c:v>1638</c:v>
                </c:pt>
                <c:pt idx="5">
                  <c:v>1015</c:v>
                </c:pt>
                <c:pt idx="6">
                  <c:v>2443</c:v>
                </c:pt>
                <c:pt idx="7">
                  <c:v>2013</c:v>
                </c:pt>
                <c:pt idx="8">
                  <c:v>1054</c:v>
                </c:pt>
                <c:pt idx="9">
                  <c:v>660</c:v>
                </c:pt>
                <c:pt idx="10">
                  <c:v>1270</c:v>
                </c:pt>
                <c:pt idx="11">
                  <c:v>1915</c:v>
                </c:pt>
                <c:pt idx="12">
                  <c:v>2269</c:v>
                </c:pt>
                <c:pt idx="13">
                  <c:v>4194</c:v>
                </c:pt>
                <c:pt idx="14">
                  <c:v>5083</c:v>
                </c:pt>
                <c:pt idx="15">
                  <c:v>5435</c:v>
                </c:pt>
                <c:pt idx="16">
                  <c:v>5602</c:v>
                </c:pt>
                <c:pt idx="17">
                  <c:v>5151</c:v>
                </c:pt>
                <c:pt idx="18">
                  <c:v>5481</c:v>
                </c:pt>
                <c:pt idx="19">
                  <c:v>6450</c:v>
                </c:pt>
                <c:pt idx="20">
                  <c:v>4120</c:v>
                </c:pt>
                <c:pt idx="21">
                  <c:v>5783</c:v>
                </c:pt>
                <c:pt idx="22">
                  <c:v>3574</c:v>
                </c:pt>
                <c:pt idx="23">
                  <c:v>4816</c:v>
                </c:pt>
                <c:pt idx="24">
                  <c:v>4999</c:v>
                </c:pt>
                <c:pt idx="25">
                  <c:v>5465</c:v>
                </c:pt>
                <c:pt idx="26">
                  <c:v>5320</c:v>
                </c:pt>
                <c:pt idx="27">
                  <c:v>6506</c:v>
                </c:pt>
                <c:pt idx="28">
                  <c:v>6802</c:v>
                </c:pt>
                <c:pt idx="29">
                  <c:v>7290</c:v>
                </c:pt>
                <c:pt idx="30">
                  <c:v>7997</c:v>
                </c:pt>
                <c:pt idx="31">
                  <c:v>9809</c:v>
                </c:pt>
                <c:pt idx="32">
                  <c:v>14846</c:v>
                </c:pt>
                <c:pt idx="33">
                  <c:v>16909</c:v>
                </c:pt>
                <c:pt idx="34">
                  <c:v>19933</c:v>
                </c:pt>
                <c:pt idx="35">
                  <c:v>20844</c:v>
                </c:pt>
                <c:pt idx="36">
                  <c:v>22299</c:v>
                </c:pt>
                <c:pt idx="37">
                  <c:v>23555</c:v>
                </c:pt>
                <c:pt idx="38">
                  <c:v>25200</c:v>
                </c:pt>
                <c:pt idx="39">
                  <c:v>28135</c:v>
                </c:pt>
                <c:pt idx="40">
                  <c:v>29089</c:v>
                </c:pt>
                <c:pt idx="41">
                  <c:v>31485</c:v>
                </c:pt>
                <c:pt idx="42">
                  <c:v>33863</c:v>
                </c:pt>
                <c:pt idx="43">
                  <c:v>37035</c:v>
                </c:pt>
                <c:pt idx="44">
                  <c:v>37009</c:v>
                </c:pt>
                <c:pt idx="45">
                  <c:v>36531</c:v>
                </c:pt>
                <c:pt idx="46">
                  <c:v>37129</c:v>
                </c:pt>
                <c:pt idx="47">
                  <c:v>36587</c:v>
                </c:pt>
                <c:pt idx="48">
                  <c:v>39461</c:v>
                </c:pt>
                <c:pt idx="49">
                  <c:v>39788</c:v>
                </c:pt>
                <c:pt idx="50">
                  <c:v>40334</c:v>
                </c:pt>
                <c:pt idx="51">
                  <c:v>40791</c:v>
                </c:pt>
                <c:pt idx="52">
                  <c:v>42669</c:v>
                </c:pt>
                <c:pt idx="53">
                  <c:v>44916</c:v>
                </c:pt>
                <c:pt idx="54">
                  <c:v>50213</c:v>
                </c:pt>
                <c:pt idx="55">
                  <c:v>52856</c:v>
                </c:pt>
                <c:pt idx="56">
                  <c:v>54911</c:v>
                </c:pt>
                <c:pt idx="57">
                  <c:v>56910</c:v>
                </c:pt>
                <c:pt idx="58">
                  <c:v>58061</c:v>
                </c:pt>
                <c:pt idx="59">
                  <c:v>62754</c:v>
                </c:pt>
                <c:pt idx="60">
                  <c:v>64869</c:v>
                </c:pt>
                <c:pt idx="61">
                  <c:v>64781</c:v>
                </c:pt>
                <c:pt idx="62">
                  <c:v>68743</c:v>
                </c:pt>
                <c:pt idx="63">
                  <c:v>71131</c:v>
                </c:pt>
                <c:pt idx="64">
                  <c:v>74552</c:v>
                </c:pt>
                <c:pt idx="65">
                  <c:v>80536</c:v>
                </c:pt>
                <c:pt idx="66">
                  <c:v>79259</c:v>
                </c:pt>
                <c:pt idx="67">
                  <c:v>77738</c:v>
                </c:pt>
                <c:pt idx="68">
                  <c:v>80726</c:v>
                </c:pt>
                <c:pt idx="69">
                  <c:v>87943</c:v>
                </c:pt>
                <c:pt idx="70">
                  <c:v>89341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9DB2C4"/>
                </a:solidFill>
                <a:latin typeface="Consola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405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8299"/>
                </a:solidFill>
                <a:latin typeface="Arial"/>
              </a:defRPr>
            </a:pPr>
            <a:endParaRPr lang="en-US"/>
          </a:p>
        </c:txPr>
        <c:crossAx val="2094734554"/>
        <c:crosses val="autoZero"/>
        <c:crossBetween val="between"/>
      </c:valAx>
      <c:spPr>
        <a:solidFill>
          <a:srgbClr val="0C1E2C"/>
        </a:solidFill>
        <a:ln>
          <a:noFill/>
        </a:ln>
        <a:effectLst/>
      </c:spPr>
    </c:plotArea>
    <c:plotVisOnly val="1"/>
    <c:dispBlanksAs val="span"/>
  </c:chart>
  <c:spPr>
    <a:solidFill>
      <a:srgbClr val="0C1E2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522"/>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3D66"/>
          </a:solidFill>
          <a:ln w="12700">
            <a:solidFill>
              <a:srgbClr val="003D66"/>
            </a:solidFill>
            <a:prstDash val="solid"/>
          </a:ln>
        </p:spPr>
      </p:sp>
      <p:sp>
        <p:nvSpPr>
          <p:cNvPr id="3" name="Shape 1"/>
          <p:cNvSpPr/>
          <p:nvPr/>
        </p:nvSpPr>
        <p:spPr>
          <a:xfrm>
            <a:off x="146304" y="0"/>
            <a:ext cx="36576" cy="6858000"/>
          </a:xfrm>
          <a:prstGeom prst="rect">
            <a:avLst/>
          </a:prstGeom>
          <a:solidFill>
            <a:srgbClr val="4D95D0"/>
          </a:solidFill>
          <a:ln w="12700">
            <a:solidFill>
              <a:srgbClr val="4D95D0"/>
            </a:solidFill>
            <a:prstDash val="solid"/>
          </a:ln>
        </p:spPr>
      </p:sp>
      <p:sp>
        <p:nvSpPr>
          <p:cNvPr id="4" name="Text 2"/>
          <p:cNvSpPr/>
          <p:nvPr/>
        </p:nvSpPr>
        <p:spPr>
          <a:xfrm>
            <a:off x="960120" y="1170432"/>
            <a:ext cx="7315200" cy="237744"/>
          </a:xfrm>
          <a:prstGeom prst="rect">
            <a:avLst/>
          </a:prstGeom>
          <a:noFill/>
          <a:ln/>
        </p:spPr>
        <p:txBody>
          <a:bodyPr wrap="square" lIns="0" tIns="0" rIns="0" bIns="0" rtlCol="0" anchor="ctr"/>
          <a:lstStyle/>
          <a:p>
            <a:pPr indent="0" marL="0">
              <a:buNone/>
            </a:pPr>
            <a:r>
              <a:rPr lang="en-US" sz="1200" spc="160" kern="0" dirty="0">
                <a:solidFill>
                  <a:srgbClr val="4D95D0"/>
                </a:solidFill>
                <a:latin typeface="Consolas" pitchFamily="34" charset="0"/>
                <a:ea typeface="Consolas" pitchFamily="34" charset="-122"/>
                <a:cs typeface="Consolas" pitchFamily="34" charset="-120"/>
              </a:rPr>
              <a:t>EMPORIUM QUALITY FUNDS</a:t>
            </a:r>
            <a:endParaRPr lang="en-US" sz="1200" dirty="0"/>
          </a:p>
        </p:txBody>
      </p:sp>
      <p:sp>
        <p:nvSpPr>
          <p:cNvPr id="5" name="Text 3"/>
          <p:cNvSpPr/>
          <p:nvPr/>
        </p:nvSpPr>
        <p:spPr>
          <a:xfrm>
            <a:off x="914400" y="1572768"/>
            <a:ext cx="10424160" cy="1188720"/>
          </a:xfrm>
          <a:prstGeom prst="rect">
            <a:avLst/>
          </a:prstGeom>
          <a:noFill/>
          <a:ln/>
        </p:spPr>
        <p:txBody>
          <a:bodyPr wrap="square" lIns="0" tIns="0" rIns="0" bIns="0" rtlCol="0" anchor="ctr"/>
          <a:lstStyle/>
          <a:p>
            <a:pPr indent="0" marL="0">
              <a:buNone/>
            </a:pPr>
            <a:r>
              <a:rPr lang="en-US" sz="5800" b="1" dirty="0">
                <a:solidFill>
                  <a:srgbClr val="F2F6FA"/>
                </a:solidFill>
                <a:latin typeface="Georgia" pitchFamily="34" charset="0"/>
                <a:ea typeface="Georgia" pitchFamily="34" charset="-122"/>
                <a:cs typeface="Georgia" pitchFamily="34" charset="-120"/>
              </a:rPr>
              <a:t>Emporium Quant Desk</a:t>
            </a:r>
            <a:endParaRPr lang="en-US" sz="5800" dirty="0"/>
          </a:p>
        </p:txBody>
      </p:sp>
      <p:sp>
        <p:nvSpPr>
          <p:cNvPr id="6" name="Text 4"/>
          <p:cNvSpPr/>
          <p:nvPr/>
        </p:nvSpPr>
        <p:spPr>
          <a:xfrm>
            <a:off x="960120" y="2761488"/>
            <a:ext cx="10424160" cy="548640"/>
          </a:xfrm>
          <a:prstGeom prst="rect">
            <a:avLst/>
          </a:prstGeom>
          <a:noFill/>
          <a:ln/>
        </p:spPr>
        <p:txBody>
          <a:bodyPr wrap="square" lIns="0" tIns="0" rIns="0" bIns="0" rtlCol="0" anchor="ctr"/>
          <a:lstStyle/>
          <a:p>
            <a:pPr indent="0" marL="0">
              <a:buNone/>
            </a:pPr>
            <a:r>
              <a:rPr lang="en-US" sz="2500" i="1" dirty="0">
                <a:solidFill>
                  <a:srgbClr val="4D95D0"/>
                </a:solidFill>
                <a:latin typeface="Georgia" pitchFamily="34" charset="0"/>
                <a:ea typeface="Georgia" pitchFamily="34" charset="-122"/>
                <a:cs typeface="Georgia" pitchFamily="34" charset="-120"/>
              </a:rPr>
              <a:t>De la idea al capital gestionado</a:t>
            </a:r>
            <a:endParaRPr lang="en-US" sz="2500" dirty="0"/>
          </a:p>
        </p:txBody>
      </p:sp>
      <p:sp>
        <p:nvSpPr>
          <p:cNvPr id="7" name="Shape 5"/>
          <p:cNvSpPr/>
          <p:nvPr/>
        </p:nvSpPr>
        <p:spPr>
          <a:xfrm>
            <a:off x="960120" y="3611880"/>
            <a:ext cx="1234440" cy="310896"/>
          </a:xfrm>
          <a:prstGeom prst="roundRect">
            <a:avLst>
              <a:gd name="adj" fmla="val 50000"/>
            </a:avLst>
          </a:prstGeom>
          <a:solidFill>
            <a:srgbClr val="12293B"/>
          </a:solidFill>
          <a:ln w="12700">
            <a:solidFill>
              <a:srgbClr val="10B981"/>
            </a:solidFill>
            <a:prstDash val="solid"/>
          </a:ln>
        </p:spPr>
      </p:sp>
      <p:sp>
        <p:nvSpPr>
          <p:cNvPr id="8" name="Text 6"/>
          <p:cNvSpPr/>
          <p:nvPr/>
        </p:nvSpPr>
        <p:spPr>
          <a:xfrm>
            <a:off x="960120" y="3611880"/>
            <a:ext cx="1234440" cy="310896"/>
          </a:xfrm>
          <a:prstGeom prst="rect">
            <a:avLst/>
          </a:prstGeom>
          <a:noFill/>
          <a:ln/>
        </p:spPr>
        <p:txBody>
          <a:bodyPr wrap="square" lIns="0" tIns="0" rIns="0" bIns="0" rtlCol="0" anchor="ctr"/>
          <a:lstStyle/>
          <a:p>
            <a:pPr algn="ctr" indent="0" marL="0">
              <a:buNone/>
            </a:pPr>
            <a:r>
              <a:rPr lang="en-US" sz="1050" dirty="0">
                <a:solidFill>
                  <a:srgbClr val="10B981"/>
                </a:solidFill>
                <a:latin typeface="Consolas" pitchFamily="34" charset="0"/>
                <a:ea typeface="Consolas" pitchFamily="34" charset="-122"/>
                <a:cs typeface="Consolas" pitchFamily="34" charset="-120"/>
              </a:rPr>
              <a:t>Peter</a:t>
            </a:r>
            <a:endParaRPr lang="en-US" sz="1050" dirty="0"/>
          </a:p>
        </p:txBody>
      </p:sp>
      <p:sp>
        <p:nvSpPr>
          <p:cNvPr id="9" name="Shape 7"/>
          <p:cNvSpPr/>
          <p:nvPr/>
        </p:nvSpPr>
        <p:spPr>
          <a:xfrm>
            <a:off x="2340864" y="3611880"/>
            <a:ext cx="1234440" cy="310896"/>
          </a:xfrm>
          <a:prstGeom prst="roundRect">
            <a:avLst>
              <a:gd name="adj" fmla="val 50000"/>
            </a:avLst>
          </a:prstGeom>
          <a:solidFill>
            <a:srgbClr val="12293B"/>
          </a:solidFill>
          <a:ln w="12700">
            <a:solidFill>
              <a:srgbClr val="38BDF8"/>
            </a:solidFill>
            <a:prstDash val="solid"/>
          </a:ln>
        </p:spPr>
      </p:sp>
      <p:sp>
        <p:nvSpPr>
          <p:cNvPr id="10" name="Text 8"/>
          <p:cNvSpPr/>
          <p:nvPr/>
        </p:nvSpPr>
        <p:spPr>
          <a:xfrm>
            <a:off x="2340864" y="3611880"/>
            <a:ext cx="1234440" cy="310896"/>
          </a:xfrm>
          <a:prstGeom prst="rect">
            <a:avLst/>
          </a:prstGeom>
          <a:noFill/>
          <a:ln/>
        </p:spPr>
        <p:txBody>
          <a:bodyPr wrap="square" lIns="0" tIns="0" rIns="0" bIns="0" rtlCol="0" anchor="ctr"/>
          <a:lstStyle/>
          <a:p>
            <a:pPr algn="ctr" indent="0" marL="0">
              <a:buNone/>
            </a:pPr>
            <a:r>
              <a:rPr lang="en-US" sz="1050" dirty="0">
                <a:solidFill>
                  <a:srgbClr val="38BDF8"/>
                </a:solidFill>
                <a:latin typeface="Consolas" pitchFamily="34" charset="0"/>
                <a:ea typeface="Consolas" pitchFamily="34" charset="-122"/>
                <a:cs typeface="Consolas" pitchFamily="34" charset="-120"/>
              </a:rPr>
              <a:t>Small</a:t>
            </a:r>
            <a:endParaRPr lang="en-US" sz="1050" dirty="0"/>
          </a:p>
        </p:txBody>
      </p:sp>
      <p:sp>
        <p:nvSpPr>
          <p:cNvPr id="11" name="Shape 9"/>
          <p:cNvSpPr/>
          <p:nvPr/>
        </p:nvSpPr>
        <p:spPr>
          <a:xfrm>
            <a:off x="3721608" y="3611880"/>
            <a:ext cx="1234440" cy="310896"/>
          </a:xfrm>
          <a:prstGeom prst="roundRect">
            <a:avLst>
              <a:gd name="adj" fmla="val 50000"/>
            </a:avLst>
          </a:prstGeom>
          <a:solidFill>
            <a:srgbClr val="12293B"/>
          </a:solidFill>
          <a:ln w="12700">
            <a:solidFill>
              <a:srgbClr val="8B8FF0"/>
            </a:solidFill>
            <a:prstDash val="solid"/>
          </a:ln>
        </p:spPr>
      </p:sp>
      <p:sp>
        <p:nvSpPr>
          <p:cNvPr id="12" name="Text 10"/>
          <p:cNvSpPr/>
          <p:nvPr/>
        </p:nvSpPr>
        <p:spPr>
          <a:xfrm>
            <a:off x="3721608" y="3611880"/>
            <a:ext cx="1234440" cy="310896"/>
          </a:xfrm>
          <a:prstGeom prst="rect">
            <a:avLst/>
          </a:prstGeom>
          <a:noFill/>
          <a:ln/>
        </p:spPr>
        <p:txBody>
          <a:bodyPr wrap="square" lIns="0" tIns="0" rIns="0" bIns="0" rtlCol="0" anchor="ctr"/>
          <a:lstStyle/>
          <a:p>
            <a:pPr algn="ctr" indent="0" marL="0">
              <a:buNone/>
            </a:pPr>
            <a:r>
              <a:rPr lang="en-US" sz="1050" dirty="0">
                <a:solidFill>
                  <a:srgbClr val="8B8FF0"/>
                </a:solidFill>
                <a:latin typeface="Consolas" pitchFamily="34" charset="0"/>
                <a:ea typeface="Consolas" pitchFamily="34" charset="-122"/>
                <a:cs typeface="Consolas" pitchFamily="34" charset="-120"/>
              </a:rPr>
              <a:t>Gamma</a:t>
            </a:r>
            <a:endParaRPr lang="en-US" sz="1050" dirty="0"/>
          </a:p>
        </p:txBody>
      </p:sp>
      <p:sp>
        <p:nvSpPr>
          <p:cNvPr id="13" name="Shape 11"/>
          <p:cNvSpPr/>
          <p:nvPr/>
        </p:nvSpPr>
        <p:spPr>
          <a:xfrm>
            <a:off x="5102352" y="3611880"/>
            <a:ext cx="1234440" cy="310896"/>
          </a:xfrm>
          <a:prstGeom prst="roundRect">
            <a:avLst>
              <a:gd name="adj" fmla="val 50000"/>
            </a:avLst>
          </a:prstGeom>
          <a:solidFill>
            <a:srgbClr val="12293B"/>
          </a:solidFill>
          <a:ln w="12700">
            <a:solidFill>
              <a:srgbClr val="E0A458"/>
            </a:solidFill>
            <a:prstDash val="solid"/>
          </a:ln>
        </p:spPr>
      </p:sp>
      <p:sp>
        <p:nvSpPr>
          <p:cNvPr id="14" name="Text 12"/>
          <p:cNvSpPr/>
          <p:nvPr/>
        </p:nvSpPr>
        <p:spPr>
          <a:xfrm>
            <a:off x="5102352" y="3611880"/>
            <a:ext cx="1234440" cy="310896"/>
          </a:xfrm>
          <a:prstGeom prst="rect">
            <a:avLst/>
          </a:prstGeom>
          <a:noFill/>
          <a:ln/>
        </p:spPr>
        <p:txBody>
          <a:bodyPr wrap="square" lIns="0" tIns="0" rIns="0" bIns="0" rtlCol="0" anchor="ctr"/>
          <a:lstStyle/>
          <a:p>
            <a:pPr algn="ctr" indent="0" marL="0">
              <a:buNone/>
            </a:pPr>
            <a:r>
              <a:rPr lang="en-US" sz="1050" dirty="0">
                <a:solidFill>
                  <a:srgbClr val="E0A458"/>
                </a:solidFill>
                <a:latin typeface="Consolas" pitchFamily="34" charset="0"/>
                <a:ea typeface="Consolas" pitchFamily="34" charset="-122"/>
                <a:cs typeface="Consolas" pitchFamily="34" charset="-120"/>
              </a:rPr>
              <a:t>Theta</a:t>
            </a:r>
            <a:endParaRPr lang="en-US" sz="1050" dirty="0"/>
          </a:p>
        </p:txBody>
      </p:sp>
      <p:sp>
        <p:nvSpPr>
          <p:cNvPr id="15" name="Shape 13"/>
          <p:cNvSpPr/>
          <p:nvPr/>
        </p:nvSpPr>
        <p:spPr>
          <a:xfrm>
            <a:off x="6483096" y="3611880"/>
            <a:ext cx="2057400" cy="310896"/>
          </a:xfrm>
          <a:prstGeom prst="roundRect">
            <a:avLst>
              <a:gd name="adj" fmla="val 50000"/>
            </a:avLst>
          </a:prstGeom>
          <a:solidFill>
            <a:srgbClr val="12293B"/>
          </a:solidFill>
          <a:ln w="12700">
            <a:solidFill>
              <a:srgbClr val="4D95D0"/>
            </a:solidFill>
            <a:prstDash val="solid"/>
          </a:ln>
        </p:spPr>
      </p:sp>
      <p:sp>
        <p:nvSpPr>
          <p:cNvPr id="16" name="Text 14"/>
          <p:cNvSpPr/>
          <p:nvPr/>
        </p:nvSpPr>
        <p:spPr>
          <a:xfrm>
            <a:off x="6483096" y="3611880"/>
            <a:ext cx="2057400" cy="310896"/>
          </a:xfrm>
          <a:prstGeom prst="rect">
            <a:avLst/>
          </a:prstGeom>
          <a:noFill/>
          <a:ln/>
        </p:spPr>
        <p:txBody>
          <a:bodyPr wrap="square" lIns="0" tIns="0" rIns="0" bIns="0" rtlCol="0" anchor="ctr"/>
          <a:lstStyle/>
          <a:p>
            <a:pPr algn="ctr" indent="0" marL="0">
              <a:buNone/>
            </a:pPr>
            <a:r>
              <a:rPr lang="en-US" sz="1050" dirty="0">
                <a:solidFill>
                  <a:srgbClr val="4D95D0"/>
                </a:solidFill>
                <a:latin typeface="Consolas" pitchFamily="34" charset="0"/>
                <a:ea typeface="Consolas" pitchFamily="34" charset="-122"/>
                <a:cs typeface="Consolas" pitchFamily="34" charset="-120"/>
              </a:rPr>
              <a:t>Portafolio de Futuros</a:t>
            </a:r>
            <a:endParaRPr lang="en-US" sz="1050" dirty="0"/>
          </a:p>
        </p:txBody>
      </p:sp>
      <p:sp>
        <p:nvSpPr>
          <p:cNvPr id="17" name="Text 15"/>
          <p:cNvSpPr/>
          <p:nvPr/>
        </p:nvSpPr>
        <p:spPr>
          <a:xfrm>
            <a:off x="960120" y="4407408"/>
            <a:ext cx="8229600" cy="329184"/>
          </a:xfrm>
          <a:prstGeom prst="rect">
            <a:avLst/>
          </a:prstGeom>
          <a:noFill/>
          <a:ln/>
        </p:spPr>
        <p:txBody>
          <a:bodyPr wrap="square" lIns="0" tIns="0" rIns="0" bIns="0" rtlCol="0" anchor="ctr"/>
          <a:lstStyle/>
          <a:p>
            <a:pPr indent="0" marL="0">
              <a:buNone/>
            </a:pPr>
            <a:r>
              <a:rPr lang="en-US" sz="1400" dirty="0">
                <a:solidFill>
                  <a:srgbClr val="9DB2C4"/>
                </a:solidFill>
                <a:latin typeface="Calibri" pitchFamily="34" charset="0"/>
                <a:ea typeface="Calibri" pitchFamily="34" charset="-122"/>
                <a:cs typeface="Calibri" pitchFamily="34" charset="-120"/>
              </a:rPr>
              <a:t>Luis Riofrío  ·  Trader cuantitativo  ·  agosto de 2026</a:t>
            </a:r>
            <a:endParaRPr lang="en-US" sz="1400" dirty="0"/>
          </a:p>
        </p:txBody>
      </p:sp>
      <p:sp>
        <p:nvSpPr>
          <p:cNvPr id="18" name="Shape 16"/>
          <p:cNvSpPr/>
          <p:nvPr/>
        </p:nvSpPr>
        <p:spPr>
          <a:xfrm>
            <a:off x="960120" y="4983480"/>
            <a:ext cx="7680960" cy="566928"/>
          </a:xfrm>
          <a:prstGeom prst="rect">
            <a:avLst/>
          </a:prstGeom>
          <a:solidFill>
            <a:srgbClr val="12293B"/>
          </a:solidFill>
          <a:ln w="9525">
            <a:solidFill>
              <a:srgbClr val="24405A"/>
            </a:solidFill>
            <a:prstDash val="solid"/>
          </a:ln>
        </p:spPr>
      </p:sp>
      <p:sp>
        <p:nvSpPr>
          <p:cNvPr id="19" name="Text 17"/>
          <p:cNvSpPr/>
          <p:nvPr/>
        </p:nvSpPr>
        <p:spPr>
          <a:xfrm>
            <a:off x="1115568" y="4983480"/>
            <a:ext cx="7406640" cy="566928"/>
          </a:xfrm>
          <a:prstGeom prst="rect">
            <a:avLst/>
          </a:prstGeom>
          <a:noFill/>
          <a:ln/>
        </p:spPr>
        <p:txBody>
          <a:bodyPr wrap="square" lIns="0" tIns="0" rIns="0" bIns="0" rtlCol="0" anchor="ctr"/>
          <a:lstStyle/>
          <a:p>
            <a:pPr indent="0" marL="0">
              <a:buNone/>
            </a:pPr>
            <a:r>
              <a:rPr lang="en-US" sz="1150" i="1" dirty="0">
                <a:solidFill>
                  <a:srgbClr val="9DB2C4"/>
                </a:solidFill>
                <a:latin typeface="Calibri" pitchFamily="34" charset="0"/>
                <a:ea typeface="Calibri" pitchFamily="34" charset="-122"/>
                <a:cs typeface="Calibri" pitchFamily="34" charset="-120"/>
              </a:rPr>
              <a:t>Documento interno. Resultados de simulación histórica; no constituyen asesoramiento financiero.</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LA IDEA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02</a:t>
            </a:r>
            <a:endParaRPr lang="en-US" sz="900" dirty="0"/>
          </a:p>
        </p:txBody>
      </p:sp>
      <p:sp>
        <p:nvSpPr>
          <p:cNvPr id="4" name="Text 2"/>
          <p:cNvSpPr/>
          <p:nvPr/>
        </p:nvSpPr>
        <p:spPr>
          <a:xfrm>
            <a:off x="566928" y="914400"/>
            <a:ext cx="10607040" cy="1737360"/>
          </a:xfrm>
          <a:prstGeom prst="rect">
            <a:avLst/>
          </a:prstGeom>
          <a:noFill/>
          <a:ln/>
        </p:spPr>
        <p:txBody>
          <a:bodyPr wrap="square" lIns="0" tIns="0" rIns="0" bIns="0" rtlCol="0" anchor="ctr"/>
          <a:lstStyle/>
          <a:p>
            <a:pPr indent="0" marL="0">
              <a:lnSpc>
                <a:spcPct val="110000"/>
              </a:lnSpc>
              <a:buNone/>
            </a:pPr>
            <a:r>
              <a:rPr lang="en-US" sz="4000" b="1" dirty="0">
                <a:solidFill>
                  <a:srgbClr val="F2F6FA"/>
                </a:solidFill>
                <a:latin typeface="Georgia" pitchFamily="34" charset="0"/>
                <a:ea typeface="Georgia" pitchFamily="34" charset="-122"/>
                <a:cs typeface="Georgia" pitchFamily="34" charset="-120"/>
              </a:rPr>
              <a:t>He contratado a cinco operadores</a:t>
            </a:r>
            <a:endParaRPr lang="en-US" sz="4000" dirty="0"/>
          </a:p>
          <a:p>
            <a:pPr indent="0" marL="0">
              <a:lnSpc>
                <a:spcPct val="110000"/>
              </a:lnSpc>
              <a:buNone/>
            </a:pPr>
            <a:r>
              <a:rPr lang="en-US" sz="4000" b="1" dirty="0">
                <a:solidFill>
                  <a:srgbClr val="F2F6FA"/>
                </a:solidFill>
                <a:latin typeface="Georgia" pitchFamily="34" charset="0"/>
                <a:ea typeface="Georgia" pitchFamily="34" charset="-122"/>
                <a:cs typeface="Georgia" pitchFamily="34" charset="-120"/>
              </a:rPr>
              <a:t>que nunca improvisan.</a:t>
            </a:r>
            <a:endParaRPr lang="en-US" sz="4000" dirty="0"/>
          </a:p>
        </p:txBody>
      </p:sp>
      <p:sp>
        <p:nvSpPr>
          <p:cNvPr id="5" name="Text 3"/>
          <p:cNvSpPr/>
          <p:nvPr/>
        </p:nvSpPr>
        <p:spPr>
          <a:xfrm>
            <a:off x="566928" y="2743200"/>
            <a:ext cx="9509760" cy="914400"/>
          </a:xfrm>
          <a:prstGeom prst="rect">
            <a:avLst/>
          </a:prstGeom>
          <a:noFill/>
          <a:ln/>
        </p:spPr>
        <p:txBody>
          <a:bodyPr wrap="square" lIns="0" tIns="0" rIns="0" bIns="0" rtlCol="0" anchor="t"/>
          <a:lstStyle/>
          <a:p>
            <a:pPr algn="l" indent="0" marL="0">
              <a:lnSpc>
                <a:spcPct val="118000"/>
              </a:lnSpc>
              <a:buNone/>
            </a:pPr>
            <a:r>
              <a:rPr lang="en-US" sz="1600" dirty="0">
                <a:solidFill>
                  <a:srgbClr val="9DB2C4"/>
                </a:solidFill>
                <a:latin typeface="Calibri" pitchFamily="34" charset="0"/>
                <a:ea typeface="Calibri" pitchFamily="34" charset="-122"/>
                <a:cs typeface="Calibri" pitchFamily="34" charset="-120"/>
              </a:rPr>
              <a:t>Hacen el trabajo de un analista y de un operador: rastrean el universo, aplican criterios fijados de antemano, deciden, registran y revisan lo que tienen abierto. Cada decisión queda escrita, con su precio y su hora.</a:t>
            </a:r>
            <a:endParaRPr lang="en-US" sz="1600" dirty="0"/>
          </a:p>
        </p:txBody>
      </p:sp>
      <p:sp>
        <p:nvSpPr>
          <p:cNvPr id="6" name="Shape 4"/>
          <p:cNvSpPr/>
          <p:nvPr/>
        </p:nvSpPr>
        <p:spPr>
          <a:xfrm>
            <a:off x="566928" y="3950208"/>
            <a:ext cx="2606040" cy="13716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3950208"/>
            <a:ext cx="64008" cy="1371600"/>
          </a:xfrm>
          <a:prstGeom prst="rect">
            <a:avLst/>
          </a:prstGeom>
          <a:solidFill>
            <a:srgbClr val="4D95D0"/>
          </a:solidFill>
          <a:ln w="12700">
            <a:solidFill>
              <a:srgbClr val="4D95D0"/>
            </a:solidFill>
            <a:prstDash val="solid"/>
          </a:ln>
        </p:spPr>
      </p:sp>
      <p:sp>
        <p:nvSpPr>
          <p:cNvPr id="8" name="Text 6"/>
          <p:cNvSpPr/>
          <p:nvPr/>
        </p:nvSpPr>
        <p:spPr>
          <a:xfrm>
            <a:off x="822960" y="4114800"/>
            <a:ext cx="2194560" cy="658368"/>
          </a:xfrm>
          <a:prstGeom prst="rect">
            <a:avLst/>
          </a:prstGeom>
          <a:noFill/>
          <a:ln/>
        </p:spPr>
        <p:txBody>
          <a:bodyPr wrap="square" lIns="0" tIns="0" rIns="0" bIns="0" rtlCol="0" anchor="ctr"/>
          <a:lstStyle/>
          <a:p>
            <a:pPr algn="l" indent="0" marL="0">
              <a:buNone/>
            </a:pPr>
            <a:r>
              <a:rPr lang="en-US" sz="3400" b="1" dirty="0">
                <a:solidFill>
                  <a:srgbClr val="4D95D0"/>
                </a:solidFill>
                <a:latin typeface="Consolas" pitchFamily="34" charset="0"/>
                <a:ea typeface="Consolas" pitchFamily="34" charset="-122"/>
                <a:cs typeface="Consolas" pitchFamily="34" charset="-120"/>
              </a:rPr>
              <a:t>5</a:t>
            </a:r>
            <a:endParaRPr lang="en-US" sz="3400" dirty="0"/>
          </a:p>
        </p:txBody>
      </p:sp>
      <p:sp>
        <p:nvSpPr>
          <p:cNvPr id="9" name="Text 7"/>
          <p:cNvSpPr/>
          <p:nvPr/>
        </p:nvSpPr>
        <p:spPr>
          <a:xfrm>
            <a:off x="822960" y="4754880"/>
            <a:ext cx="2194560" cy="457200"/>
          </a:xfrm>
          <a:prstGeom prst="rect">
            <a:avLst/>
          </a:prstGeom>
          <a:noFill/>
          <a:ln/>
        </p:spPr>
        <p:txBody>
          <a:bodyPr wrap="square" lIns="0" tIns="0" rIns="0" bIns="0" rtlCol="0" anchor="t"/>
          <a:lstStyle/>
          <a:p>
            <a:pPr algn="l" indent="0" marL="0">
              <a:buNone/>
            </a:pPr>
            <a:r>
              <a:rPr lang="en-US" sz="1150" dirty="0">
                <a:solidFill>
                  <a:srgbClr val="9DB2C4"/>
                </a:solidFill>
                <a:latin typeface="Calibri" pitchFamily="34" charset="0"/>
                <a:ea typeface="Calibri" pitchFamily="34" charset="-122"/>
                <a:cs typeface="Calibri" pitchFamily="34" charset="-120"/>
              </a:rPr>
              <a:t>operadores en tres mesas</a:t>
            </a:r>
            <a:endParaRPr lang="en-US" sz="1150" dirty="0"/>
          </a:p>
        </p:txBody>
      </p:sp>
      <p:sp>
        <p:nvSpPr>
          <p:cNvPr id="10" name="Shape 8"/>
          <p:cNvSpPr/>
          <p:nvPr/>
        </p:nvSpPr>
        <p:spPr>
          <a:xfrm>
            <a:off x="3355848" y="3950208"/>
            <a:ext cx="2606040" cy="13716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1" name="Shape 9"/>
          <p:cNvSpPr/>
          <p:nvPr/>
        </p:nvSpPr>
        <p:spPr>
          <a:xfrm>
            <a:off x="3355848" y="3950208"/>
            <a:ext cx="64008" cy="1371600"/>
          </a:xfrm>
          <a:prstGeom prst="rect">
            <a:avLst/>
          </a:prstGeom>
          <a:solidFill>
            <a:srgbClr val="10B981"/>
          </a:solidFill>
          <a:ln w="12700">
            <a:solidFill>
              <a:srgbClr val="10B981"/>
            </a:solidFill>
            <a:prstDash val="solid"/>
          </a:ln>
        </p:spPr>
      </p:sp>
      <p:sp>
        <p:nvSpPr>
          <p:cNvPr id="12" name="Text 10"/>
          <p:cNvSpPr/>
          <p:nvPr/>
        </p:nvSpPr>
        <p:spPr>
          <a:xfrm>
            <a:off x="3611880" y="4114800"/>
            <a:ext cx="2194560" cy="658368"/>
          </a:xfrm>
          <a:prstGeom prst="rect">
            <a:avLst/>
          </a:prstGeom>
          <a:noFill/>
          <a:ln/>
        </p:spPr>
        <p:txBody>
          <a:bodyPr wrap="square" lIns="0" tIns="0" rIns="0" bIns="0" rtlCol="0" anchor="ctr"/>
          <a:lstStyle/>
          <a:p>
            <a:pPr algn="l" indent="0" marL="0">
              <a:buNone/>
            </a:pPr>
            <a:r>
              <a:rPr lang="en-US" sz="3400" b="1" dirty="0">
                <a:solidFill>
                  <a:srgbClr val="10B981"/>
                </a:solidFill>
                <a:latin typeface="Consolas" pitchFamily="34" charset="0"/>
                <a:ea typeface="Consolas" pitchFamily="34" charset="-122"/>
                <a:cs typeface="Consolas" pitchFamily="34" charset="-120"/>
              </a:rPr>
              <a:t>419</a:t>
            </a:r>
            <a:endParaRPr lang="en-US" sz="3400" dirty="0"/>
          </a:p>
        </p:txBody>
      </p:sp>
      <p:sp>
        <p:nvSpPr>
          <p:cNvPr id="13" name="Text 11"/>
          <p:cNvSpPr/>
          <p:nvPr/>
        </p:nvSpPr>
        <p:spPr>
          <a:xfrm>
            <a:off x="3611880" y="4754880"/>
            <a:ext cx="2194560" cy="457200"/>
          </a:xfrm>
          <a:prstGeom prst="rect">
            <a:avLst/>
          </a:prstGeom>
          <a:noFill/>
          <a:ln/>
        </p:spPr>
        <p:txBody>
          <a:bodyPr wrap="square" lIns="0" tIns="0" rIns="0" bIns="0" rtlCol="0" anchor="t"/>
          <a:lstStyle/>
          <a:p>
            <a:pPr algn="l" indent="0" marL="0">
              <a:buNone/>
            </a:pPr>
            <a:r>
              <a:rPr lang="en-US" sz="1150" dirty="0">
                <a:solidFill>
                  <a:srgbClr val="9DB2C4"/>
                </a:solidFill>
                <a:latin typeface="Calibri" pitchFamily="34" charset="0"/>
                <a:ea typeface="Calibri" pitchFamily="34" charset="-122"/>
                <a:cs typeface="Calibri" pitchFamily="34" charset="-120"/>
              </a:rPr>
              <a:t>pruebas automáticas sobre la lógica</a:t>
            </a:r>
            <a:endParaRPr lang="en-US" sz="1150" dirty="0"/>
          </a:p>
        </p:txBody>
      </p:sp>
      <p:sp>
        <p:nvSpPr>
          <p:cNvPr id="14" name="Shape 12"/>
          <p:cNvSpPr/>
          <p:nvPr/>
        </p:nvSpPr>
        <p:spPr>
          <a:xfrm>
            <a:off x="6144768" y="3950208"/>
            <a:ext cx="2606040" cy="13716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5" name="Shape 13"/>
          <p:cNvSpPr/>
          <p:nvPr/>
        </p:nvSpPr>
        <p:spPr>
          <a:xfrm>
            <a:off x="6144768" y="3950208"/>
            <a:ext cx="64008" cy="1371600"/>
          </a:xfrm>
          <a:prstGeom prst="rect">
            <a:avLst/>
          </a:prstGeom>
          <a:solidFill>
            <a:srgbClr val="E0A458"/>
          </a:solidFill>
          <a:ln w="12700">
            <a:solidFill>
              <a:srgbClr val="E0A458"/>
            </a:solidFill>
            <a:prstDash val="solid"/>
          </a:ln>
        </p:spPr>
      </p:sp>
      <p:sp>
        <p:nvSpPr>
          <p:cNvPr id="16" name="Text 14"/>
          <p:cNvSpPr/>
          <p:nvPr/>
        </p:nvSpPr>
        <p:spPr>
          <a:xfrm>
            <a:off x="6400800" y="4114800"/>
            <a:ext cx="2194560" cy="658368"/>
          </a:xfrm>
          <a:prstGeom prst="rect">
            <a:avLst/>
          </a:prstGeom>
          <a:noFill/>
          <a:ln/>
        </p:spPr>
        <p:txBody>
          <a:bodyPr wrap="square" lIns="0" tIns="0" rIns="0" bIns="0" rtlCol="0" anchor="ctr"/>
          <a:lstStyle/>
          <a:p>
            <a:pPr algn="l" indent="0" marL="0">
              <a:buNone/>
            </a:pPr>
            <a:r>
              <a:rPr lang="en-US" sz="3400" b="1" dirty="0">
                <a:solidFill>
                  <a:srgbClr val="E0A458"/>
                </a:solidFill>
                <a:latin typeface="Consolas" pitchFamily="34" charset="0"/>
                <a:ea typeface="Consolas" pitchFamily="34" charset="-122"/>
                <a:cs typeface="Consolas" pitchFamily="34" charset="-120"/>
              </a:rPr>
              <a:t>3.838</a:t>
            </a:r>
            <a:endParaRPr lang="en-US" sz="3400" dirty="0"/>
          </a:p>
        </p:txBody>
      </p:sp>
      <p:sp>
        <p:nvSpPr>
          <p:cNvPr id="17" name="Text 15"/>
          <p:cNvSpPr/>
          <p:nvPr/>
        </p:nvSpPr>
        <p:spPr>
          <a:xfrm>
            <a:off x="6400800" y="4754880"/>
            <a:ext cx="2194560" cy="457200"/>
          </a:xfrm>
          <a:prstGeom prst="rect">
            <a:avLst/>
          </a:prstGeom>
          <a:noFill/>
          <a:ln/>
        </p:spPr>
        <p:txBody>
          <a:bodyPr wrap="square" lIns="0" tIns="0" rIns="0" bIns="0" rtlCol="0" anchor="t"/>
          <a:lstStyle/>
          <a:p>
            <a:pPr algn="l" indent="0" marL="0">
              <a:buNone/>
            </a:pPr>
            <a:r>
              <a:rPr lang="en-US" sz="1150" dirty="0">
                <a:solidFill>
                  <a:srgbClr val="9DB2C4"/>
                </a:solidFill>
                <a:latin typeface="Calibri" pitchFamily="34" charset="0"/>
                <a:ea typeface="Calibri" pitchFamily="34" charset="-122"/>
                <a:cs typeface="Calibri" pitchFamily="34" charset="-120"/>
              </a:rPr>
              <a:t>operaciones simuladas en 11,6 años</a:t>
            </a:r>
            <a:endParaRPr lang="en-US" sz="1150" dirty="0"/>
          </a:p>
        </p:txBody>
      </p:sp>
      <p:sp>
        <p:nvSpPr>
          <p:cNvPr id="18" name="Shape 16"/>
          <p:cNvSpPr/>
          <p:nvPr/>
        </p:nvSpPr>
        <p:spPr>
          <a:xfrm>
            <a:off x="8933688" y="3950208"/>
            <a:ext cx="2606040" cy="13716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9" name="Shape 17"/>
          <p:cNvSpPr/>
          <p:nvPr/>
        </p:nvSpPr>
        <p:spPr>
          <a:xfrm>
            <a:off x="8933688" y="3950208"/>
            <a:ext cx="64008" cy="1371600"/>
          </a:xfrm>
          <a:prstGeom prst="rect">
            <a:avLst/>
          </a:prstGeom>
          <a:solidFill>
            <a:srgbClr val="8B8FF0"/>
          </a:solidFill>
          <a:ln w="12700">
            <a:solidFill>
              <a:srgbClr val="8B8FF0"/>
            </a:solidFill>
            <a:prstDash val="solid"/>
          </a:ln>
        </p:spPr>
      </p:sp>
      <p:sp>
        <p:nvSpPr>
          <p:cNvPr id="20" name="Text 18"/>
          <p:cNvSpPr/>
          <p:nvPr/>
        </p:nvSpPr>
        <p:spPr>
          <a:xfrm>
            <a:off x="9189720" y="4114800"/>
            <a:ext cx="2194560" cy="658368"/>
          </a:xfrm>
          <a:prstGeom prst="rect">
            <a:avLst/>
          </a:prstGeom>
          <a:noFill/>
          <a:ln/>
        </p:spPr>
        <p:txBody>
          <a:bodyPr wrap="square" lIns="0" tIns="0" rIns="0" bIns="0" rtlCol="0" anchor="ctr"/>
          <a:lstStyle/>
          <a:p>
            <a:pPr algn="l" indent="0" marL="0">
              <a:buNone/>
            </a:pPr>
            <a:r>
              <a:rPr lang="en-US" sz="3400" b="1" dirty="0">
                <a:solidFill>
                  <a:srgbClr val="8B8FF0"/>
                </a:solidFill>
                <a:latin typeface="Consolas" pitchFamily="34" charset="0"/>
                <a:ea typeface="Consolas" pitchFamily="34" charset="-122"/>
                <a:cs typeface="Consolas" pitchFamily="34" charset="-120"/>
              </a:rPr>
              <a:t>0</a:t>
            </a:r>
            <a:endParaRPr lang="en-US" sz="3400" dirty="0"/>
          </a:p>
        </p:txBody>
      </p:sp>
      <p:sp>
        <p:nvSpPr>
          <p:cNvPr id="21" name="Text 19"/>
          <p:cNvSpPr/>
          <p:nvPr/>
        </p:nvSpPr>
        <p:spPr>
          <a:xfrm>
            <a:off x="9189720" y="4754880"/>
            <a:ext cx="2194560" cy="457200"/>
          </a:xfrm>
          <a:prstGeom prst="rect">
            <a:avLst/>
          </a:prstGeom>
          <a:noFill/>
          <a:ln/>
        </p:spPr>
        <p:txBody>
          <a:bodyPr wrap="square" lIns="0" tIns="0" rIns="0" bIns="0" rtlCol="0" anchor="t"/>
          <a:lstStyle/>
          <a:p>
            <a:pPr algn="l" indent="0" marL="0">
              <a:buNone/>
            </a:pPr>
            <a:r>
              <a:rPr lang="en-US" sz="1150" dirty="0">
                <a:solidFill>
                  <a:srgbClr val="9DB2C4"/>
                </a:solidFill>
                <a:latin typeface="Calibri" pitchFamily="34" charset="0"/>
                <a:ea typeface="Calibri" pitchFamily="34" charset="-122"/>
                <a:cs typeface="Calibri" pitchFamily="34" charset="-120"/>
              </a:rPr>
              <a:t>decisiones discrecionales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LA PLANTILLA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03</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Tres mesas, cinco operadores</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Cada mesa tiene su capital, su universo y su horizonte. No comparten bolsillo.</a:t>
            </a:r>
            <a:endParaRPr lang="en-US" sz="1450" dirty="0"/>
          </a:p>
        </p:txBody>
      </p:sp>
      <p:sp>
        <p:nvSpPr>
          <p:cNvPr id="6" name="Shape 4"/>
          <p:cNvSpPr/>
          <p:nvPr/>
        </p:nvSpPr>
        <p:spPr>
          <a:xfrm>
            <a:off x="566928" y="1874520"/>
            <a:ext cx="3529584" cy="329184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874520"/>
            <a:ext cx="64008" cy="3291840"/>
          </a:xfrm>
          <a:prstGeom prst="rect">
            <a:avLst/>
          </a:prstGeom>
          <a:solidFill>
            <a:srgbClr val="10B981"/>
          </a:solidFill>
          <a:ln w="12700">
            <a:solidFill>
              <a:srgbClr val="10B981"/>
            </a:solidFill>
            <a:prstDash val="solid"/>
          </a:ln>
        </p:spPr>
      </p:sp>
      <p:sp>
        <p:nvSpPr>
          <p:cNvPr id="8" name="Text 6"/>
          <p:cNvSpPr/>
          <p:nvPr/>
        </p:nvSpPr>
        <p:spPr>
          <a:xfrm>
            <a:off x="822960" y="2084832"/>
            <a:ext cx="3072384" cy="237744"/>
          </a:xfrm>
          <a:prstGeom prst="rect">
            <a:avLst/>
          </a:prstGeom>
          <a:noFill/>
          <a:ln/>
        </p:spPr>
        <p:txBody>
          <a:bodyPr wrap="square" lIns="0" tIns="0" rIns="0" bIns="0" rtlCol="0" anchor="ctr"/>
          <a:lstStyle/>
          <a:p>
            <a:pPr indent="0" marL="0">
              <a:buNone/>
            </a:pPr>
            <a:r>
              <a:rPr lang="en-US" sz="1100" spc="160" kern="0" dirty="0">
                <a:solidFill>
                  <a:srgbClr val="10B981"/>
                </a:solidFill>
                <a:latin typeface="Consolas" pitchFamily="34" charset="0"/>
                <a:ea typeface="Consolas" pitchFamily="34" charset="-122"/>
                <a:cs typeface="Consolas" pitchFamily="34" charset="-120"/>
              </a:rPr>
              <a:t>MESA DE ACCIONES</a:t>
            </a:r>
            <a:endParaRPr lang="en-US" sz="1100" dirty="0"/>
          </a:p>
        </p:txBody>
      </p:sp>
      <p:sp>
        <p:nvSpPr>
          <p:cNvPr id="9" name="Text 7"/>
          <p:cNvSpPr/>
          <p:nvPr/>
        </p:nvSpPr>
        <p:spPr>
          <a:xfrm>
            <a:off x="804672" y="2377440"/>
            <a:ext cx="3072384" cy="457200"/>
          </a:xfrm>
          <a:prstGeom prst="rect">
            <a:avLst/>
          </a:prstGeom>
          <a:noFill/>
          <a:ln/>
        </p:spPr>
        <p:txBody>
          <a:bodyPr wrap="square" lIns="0" tIns="0" rIns="0" bIns="0" rtlCol="0" anchor="ctr"/>
          <a:lstStyle/>
          <a:p>
            <a:pPr indent="0" marL="0">
              <a:buNone/>
            </a:pPr>
            <a:r>
              <a:rPr lang="en-US" sz="2100" b="1" dirty="0">
                <a:solidFill>
                  <a:srgbClr val="F2F6FA"/>
                </a:solidFill>
                <a:latin typeface="Consolas" pitchFamily="34" charset="0"/>
                <a:ea typeface="Consolas" pitchFamily="34" charset="-122"/>
                <a:cs typeface="Consolas" pitchFamily="34" charset="-120"/>
              </a:rPr>
              <a:t>$100.000</a:t>
            </a:r>
            <a:endParaRPr lang="en-US" sz="2100" dirty="0"/>
          </a:p>
        </p:txBody>
      </p:sp>
      <p:sp>
        <p:nvSpPr>
          <p:cNvPr id="10" name="Text 8"/>
          <p:cNvSpPr/>
          <p:nvPr/>
        </p:nvSpPr>
        <p:spPr>
          <a:xfrm>
            <a:off x="804672" y="2798064"/>
            <a:ext cx="3072384" cy="237744"/>
          </a:xfrm>
          <a:prstGeom prst="rect">
            <a:avLst/>
          </a:prstGeom>
          <a:noFill/>
          <a:ln/>
        </p:spPr>
        <p:txBody>
          <a:bodyPr wrap="square" lIns="0" tIns="0" rIns="0" bIns="0" rtlCol="0" anchor="ctr"/>
          <a:lstStyle/>
          <a:p>
            <a:pPr indent="0" marL="0">
              <a:buNone/>
            </a:pPr>
            <a:r>
              <a:rPr lang="en-US" sz="1050" dirty="0">
                <a:solidFill>
                  <a:srgbClr val="6B8299"/>
                </a:solidFill>
                <a:latin typeface="Calibri" pitchFamily="34" charset="0"/>
                <a:ea typeface="Calibri" pitchFamily="34" charset="-122"/>
                <a:cs typeface="Calibri" pitchFamily="34" charset="-120"/>
              </a:rPr>
              <a:t>capital asignado</a:t>
            </a:r>
            <a:endParaRPr lang="en-US" sz="1050" dirty="0"/>
          </a:p>
        </p:txBody>
      </p:sp>
      <p:sp>
        <p:nvSpPr>
          <p:cNvPr id="11" name="Shape 9"/>
          <p:cNvSpPr/>
          <p:nvPr/>
        </p:nvSpPr>
        <p:spPr>
          <a:xfrm>
            <a:off x="804672" y="3182112"/>
            <a:ext cx="3054096" cy="786384"/>
          </a:xfrm>
          <a:prstGeom prst="rect">
            <a:avLst/>
          </a:prstGeom>
          <a:solidFill>
            <a:srgbClr val="0C1E2C"/>
          </a:solidFill>
          <a:ln w="9525">
            <a:solidFill>
              <a:srgbClr val="24405A"/>
            </a:solidFill>
            <a:prstDash val="solid"/>
          </a:ln>
        </p:spPr>
      </p:sp>
      <p:sp>
        <p:nvSpPr>
          <p:cNvPr id="12" name="Shape 10"/>
          <p:cNvSpPr/>
          <p:nvPr/>
        </p:nvSpPr>
        <p:spPr>
          <a:xfrm>
            <a:off x="950976" y="3456432"/>
            <a:ext cx="201168" cy="201168"/>
          </a:xfrm>
          <a:prstGeom prst="ellipse">
            <a:avLst/>
          </a:prstGeom>
          <a:solidFill>
            <a:srgbClr val="10B981"/>
          </a:solidFill>
          <a:ln w="12700">
            <a:solidFill>
              <a:srgbClr val="10B981"/>
            </a:solidFill>
            <a:prstDash val="solid"/>
          </a:ln>
        </p:spPr>
      </p:sp>
      <p:sp>
        <p:nvSpPr>
          <p:cNvPr id="13" name="Text 11"/>
          <p:cNvSpPr/>
          <p:nvPr/>
        </p:nvSpPr>
        <p:spPr>
          <a:xfrm>
            <a:off x="1261872" y="3255264"/>
            <a:ext cx="2523744" cy="274320"/>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Agente Peter</a:t>
            </a:r>
            <a:endParaRPr lang="en-US" sz="1250" dirty="0"/>
          </a:p>
        </p:txBody>
      </p:sp>
      <p:sp>
        <p:nvSpPr>
          <p:cNvPr id="14" name="Text 12"/>
          <p:cNvSpPr/>
          <p:nvPr/>
        </p:nvSpPr>
        <p:spPr>
          <a:xfrm>
            <a:off x="1261872" y="3529584"/>
            <a:ext cx="2569464" cy="384048"/>
          </a:xfrm>
          <a:prstGeom prst="rect">
            <a:avLst/>
          </a:prstGeom>
          <a:noFill/>
          <a:ln/>
        </p:spPr>
        <p:txBody>
          <a:bodyPr wrap="square" lIns="0" tIns="0" rIns="0" bIns="0" rtlCol="0" anchor="t"/>
          <a:lstStyle/>
          <a:p>
            <a:pPr indent="0" marL="0">
              <a:buNone/>
            </a:pPr>
            <a:r>
              <a:rPr lang="en-US" sz="1050" dirty="0">
                <a:solidFill>
                  <a:srgbClr val="9DB2C4"/>
                </a:solidFill>
                <a:latin typeface="Calibri" pitchFamily="34" charset="0"/>
                <a:ea typeface="Calibri" pitchFamily="34" charset="-122"/>
                <a:cs typeface="Calibri" pitchFamily="34" charset="-120"/>
              </a:rPr>
              <a:t>Grandes compañías al estilo Lynch</a:t>
            </a:r>
            <a:endParaRPr lang="en-US" sz="1050" dirty="0"/>
          </a:p>
        </p:txBody>
      </p:sp>
      <p:sp>
        <p:nvSpPr>
          <p:cNvPr id="15" name="Shape 13"/>
          <p:cNvSpPr/>
          <p:nvPr/>
        </p:nvSpPr>
        <p:spPr>
          <a:xfrm>
            <a:off x="804672" y="4114800"/>
            <a:ext cx="3054096" cy="786384"/>
          </a:xfrm>
          <a:prstGeom prst="rect">
            <a:avLst/>
          </a:prstGeom>
          <a:solidFill>
            <a:srgbClr val="0C1E2C"/>
          </a:solidFill>
          <a:ln w="9525">
            <a:solidFill>
              <a:srgbClr val="24405A"/>
            </a:solidFill>
            <a:prstDash val="solid"/>
          </a:ln>
        </p:spPr>
      </p:sp>
      <p:sp>
        <p:nvSpPr>
          <p:cNvPr id="16" name="Shape 14"/>
          <p:cNvSpPr/>
          <p:nvPr/>
        </p:nvSpPr>
        <p:spPr>
          <a:xfrm>
            <a:off x="950976" y="4389120"/>
            <a:ext cx="201168" cy="201168"/>
          </a:xfrm>
          <a:prstGeom prst="ellipse">
            <a:avLst/>
          </a:prstGeom>
          <a:solidFill>
            <a:srgbClr val="38BDF8"/>
          </a:solidFill>
          <a:ln w="12700">
            <a:solidFill>
              <a:srgbClr val="38BDF8"/>
            </a:solidFill>
            <a:prstDash val="solid"/>
          </a:ln>
        </p:spPr>
      </p:sp>
      <p:sp>
        <p:nvSpPr>
          <p:cNvPr id="17" name="Text 15"/>
          <p:cNvSpPr/>
          <p:nvPr/>
        </p:nvSpPr>
        <p:spPr>
          <a:xfrm>
            <a:off x="1261872" y="4187952"/>
            <a:ext cx="2523744" cy="274320"/>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Agente Small</a:t>
            </a:r>
            <a:endParaRPr lang="en-US" sz="1250" dirty="0"/>
          </a:p>
        </p:txBody>
      </p:sp>
      <p:sp>
        <p:nvSpPr>
          <p:cNvPr id="18" name="Text 16"/>
          <p:cNvSpPr/>
          <p:nvPr/>
        </p:nvSpPr>
        <p:spPr>
          <a:xfrm>
            <a:off x="1261872" y="4462272"/>
            <a:ext cx="2569464" cy="384048"/>
          </a:xfrm>
          <a:prstGeom prst="rect">
            <a:avLst/>
          </a:prstGeom>
          <a:noFill/>
          <a:ln/>
        </p:spPr>
        <p:txBody>
          <a:bodyPr wrap="square" lIns="0" tIns="0" rIns="0" bIns="0" rtlCol="0" anchor="t"/>
          <a:lstStyle/>
          <a:p>
            <a:pPr indent="0" marL="0">
              <a:buNone/>
            </a:pPr>
            <a:r>
              <a:rPr lang="en-US" sz="1050" dirty="0">
                <a:solidFill>
                  <a:srgbClr val="9DB2C4"/>
                </a:solidFill>
                <a:latin typeface="Calibri" pitchFamily="34" charset="0"/>
                <a:ea typeface="Calibri" pitchFamily="34" charset="-122"/>
                <a:cs typeface="Calibri" pitchFamily="34" charset="-120"/>
              </a:rPr>
              <a:t>Pequeña capitalización</a:t>
            </a:r>
            <a:endParaRPr lang="en-US" sz="1050" dirty="0"/>
          </a:p>
        </p:txBody>
      </p:sp>
      <p:sp>
        <p:nvSpPr>
          <p:cNvPr id="19" name="Shape 17"/>
          <p:cNvSpPr/>
          <p:nvPr/>
        </p:nvSpPr>
        <p:spPr>
          <a:xfrm>
            <a:off x="4297680" y="1874520"/>
            <a:ext cx="3529584" cy="329184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0" name="Shape 18"/>
          <p:cNvSpPr/>
          <p:nvPr/>
        </p:nvSpPr>
        <p:spPr>
          <a:xfrm>
            <a:off x="4297680" y="1874520"/>
            <a:ext cx="64008" cy="3291840"/>
          </a:xfrm>
          <a:prstGeom prst="rect">
            <a:avLst/>
          </a:prstGeom>
          <a:solidFill>
            <a:srgbClr val="8B8FF0"/>
          </a:solidFill>
          <a:ln w="12700">
            <a:solidFill>
              <a:srgbClr val="8B8FF0"/>
            </a:solidFill>
            <a:prstDash val="solid"/>
          </a:ln>
        </p:spPr>
      </p:sp>
      <p:sp>
        <p:nvSpPr>
          <p:cNvPr id="21" name="Text 19"/>
          <p:cNvSpPr/>
          <p:nvPr/>
        </p:nvSpPr>
        <p:spPr>
          <a:xfrm>
            <a:off x="4553712" y="2084832"/>
            <a:ext cx="3072384" cy="237744"/>
          </a:xfrm>
          <a:prstGeom prst="rect">
            <a:avLst/>
          </a:prstGeom>
          <a:noFill/>
          <a:ln/>
        </p:spPr>
        <p:txBody>
          <a:bodyPr wrap="square" lIns="0" tIns="0" rIns="0" bIns="0" rtlCol="0" anchor="ctr"/>
          <a:lstStyle/>
          <a:p>
            <a:pPr indent="0" marL="0">
              <a:buNone/>
            </a:pPr>
            <a:r>
              <a:rPr lang="en-US" sz="1100" spc="160" kern="0" dirty="0">
                <a:solidFill>
                  <a:srgbClr val="8B8FF0"/>
                </a:solidFill>
                <a:latin typeface="Consolas" pitchFamily="34" charset="0"/>
                <a:ea typeface="Consolas" pitchFamily="34" charset="-122"/>
                <a:cs typeface="Consolas" pitchFamily="34" charset="-120"/>
              </a:rPr>
              <a:t>MESA DE OPCIONES</a:t>
            </a:r>
            <a:endParaRPr lang="en-US" sz="1100" dirty="0"/>
          </a:p>
        </p:txBody>
      </p:sp>
      <p:sp>
        <p:nvSpPr>
          <p:cNvPr id="22" name="Text 20"/>
          <p:cNvSpPr/>
          <p:nvPr/>
        </p:nvSpPr>
        <p:spPr>
          <a:xfrm>
            <a:off x="4535424" y="2377440"/>
            <a:ext cx="3072384" cy="457200"/>
          </a:xfrm>
          <a:prstGeom prst="rect">
            <a:avLst/>
          </a:prstGeom>
          <a:noFill/>
          <a:ln/>
        </p:spPr>
        <p:txBody>
          <a:bodyPr wrap="square" lIns="0" tIns="0" rIns="0" bIns="0" rtlCol="0" anchor="ctr"/>
          <a:lstStyle/>
          <a:p>
            <a:pPr indent="0" marL="0">
              <a:buNone/>
            </a:pPr>
            <a:r>
              <a:rPr lang="en-US" sz="2100" b="1" dirty="0">
                <a:solidFill>
                  <a:srgbClr val="F2F6FA"/>
                </a:solidFill>
                <a:latin typeface="Consolas" pitchFamily="34" charset="0"/>
                <a:ea typeface="Consolas" pitchFamily="34" charset="-122"/>
                <a:cs typeface="Consolas" pitchFamily="34" charset="-120"/>
              </a:rPr>
              <a:t>$100.000 + $300.000</a:t>
            </a:r>
            <a:endParaRPr lang="en-US" sz="2100" dirty="0"/>
          </a:p>
        </p:txBody>
      </p:sp>
      <p:sp>
        <p:nvSpPr>
          <p:cNvPr id="23" name="Text 21"/>
          <p:cNvSpPr/>
          <p:nvPr/>
        </p:nvSpPr>
        <p:spPr>
          <a:xfrm>
            <a:off x="4535424" y="2798064"/>
            <a:ext cx="3072384" cy="237744"/>
          </a:xfrm>
          <a:prstGeom prst="rect">
            <a:avLst/>
          </a:prstGeom>
          <a:noFill/>
          <a:ln/>
        </p:spPr>
        <p:txBody>
          <a:bodyPr wrap="square" lIns="0" tIns="0" rIns="0" bIns="0" rtlCol="0" anchor="ctr"/>
          <a:lstStyle/>
          <a:p>
            <a:pPr indent="0" marL="0">
              <a:buNone/>
            </a:pPr>
            <a:r>
              <a:rPr lang="en-US" sz="1050" dirty="0">
                <a:solidFill>
                  <a:srgbClr val="6B8299"/>
                </a:solidFill>
                <a:latin typeface="Calibri" pitchFamily="34" charset="0"/>
                <a:ea typeface="Calibri" pitchFamily="34" charset="-122"/>
                <a:cs typeface="Calibri" pitchFamily="34" charset="-120"/>
              </a:rPr>
              <a:t>capital asignado</a:t>
            </a:r>
            <a:endParaRPr lang="en-US" sz="1050" dirty="0"/>
          </a:p>
        </p:txBody>
      </p:sp>
      <p:sp>
        <p:nvSpPr>
          <p:cNvPr id="24" name="Shape 22"/>
          <p:cNvSpPr/>
          <p:nvPr/>
        </p:nvSpPr>
        <p:spPr>
          <a:xfrm>
            <a:off x="4535424" y="3182112"/>
            <a:ext cx="3054096" cy="786384"/>
          </a:xfrm>
          <a:prstGeom prst="rect">
            <a:avLst/>
          </a:prstGeom>
          <a:solidFill>
            <a:srgbClr val="0C1E2C"/>
          </a:solidFill>
          <a:ln w="9525">
            <a:solidFill>
              <a:srgbClr val="24405A"/>
            </a:solidFill>
            <a:prstDash val="solid"/>
          </a:ln>
        </p:spPr>
      </p:sp>
      <p:sp>
        <p:nvSpPr>
          <p:cNvPr id="25" name="Shape 23"/>
          <p:cNvSpPr/>
          <p:nvPr/>
        </p:nvSpPr>
        <p:spPr>
          <a:xfrm>
            <a:off x="4681728" y="3456432"/>
            <a:ext cx="201168" cy="201168"/>
          </a:xfrm>
          <a:prstGeom prst="ellipse">
            <a:avLst/>
          </a:prstGeom>
          <a:solidFill>
            <a:srgbClr val="8B8FF0"/>
          </a:solidFill>
          <a:ln w="12700">
            <a:solidFill>
              <a:srgbClr val="8B8FF0"/>
            </a:solidFill>
            <a:prstDash val="solid"/>
          </a:ln>
        </p:spPr>
      </p:sp>
      <p:sp>
        <p:nvSpPr>
          <p:cNvPr id="26" name="Text 24"/>
          <p:cNvSpPr/>
          <p:nvPr/>
        </p:nvSpPr>
        <p:spPr>
          <a:xfrm>
            <a:off x="4992624" y="3255264"/>
            <a:ext cx="2523744" cy="274320"/>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Agente Gamma</a:t>
            </a:r>
            <a:endParaRPr lang="en-US" sz="1250" dirty="0"/>
          </a:p>
        </p:txBody>
      </p:sp>
      <p:sp>
        <p:nvSpPr>
          <p:cNvPr id="27" name="Text 25"/>
          <p:cNvSpPr/>
          <p:nvPr/>
        </p:nvSpPr>
        <p:spPr>
          <a:xfrm>
            <a:off x="4992624" y="3529584"/>
            <a:ext cx="2569464" cy="384048"/>
          </a:xfrm>
          <a:prstGeom prst="rect">
            <a:avLst/>
          </a:prstGeom>
          <a:noFill/>
          <a:ln/>
        </p:spPr>
        <p:txBody>
          <a:bodyPr wrap="square" lIns="0" tIns="0" rIns="0" bIns="0" rtlCol="0" anchor="t"/>
          <a:lstStyle/>
          <a:p>
            <a:pPr indent="0" marL="0">
              <a:buNone/>
            </a:pPr>
            <a:r>
              <a:rPr lang="en-US" sz="1050" dirty="0">
                <a:solidFill>
                  <a:srgbClr val="9DB2C4"/>
                </a:solidFill>
                <a:latin typeface="Calibri" pitchFamily="34" charset="0"/>
                <a:ea typeface="Calibri" pitchFamily="34" charset="-122"/>
                <a:cs typeface="Calibri" pitchFamily="34" charset="-120"/>
              </a:rPr>
              <a:t>Compra direccional de opciones</a:t>
            </a:r>
            <a:endParaRPr lang="en-US" sz="1050" dirty="0"/>
          </a:p>
        </p:txBody>
      </p:sp>
      <p:sp>
        <p:nvSpPr>
          <p:cNvPr id="28" name="Shape 26"/>
          <p:cNvSpPr/>
          <p:nvPr/>
        </p:nvSpPr>
        <p:spPr>
          <a:xfrm>
            <a:off x="4535424" y="4114800"/>
            <a:ext cx="3054096" cy="786384"/>
          </a:xfrm>
          <a:prstGeom prst="rect">
            <a:avLst/>
          </a:prstGeom>
          <a:solidFill>
            <a:srgbClr val="0C1E2C"/>
          </a:solidFill>
          <a:ln w="9525">
            <a:solidFill>
              <a:srgbClr val="24405A"/>
            </a:solidFill>
            <a:prstDash val="solid"/>
          </a:ln>
        </p:spPr>
      </p:sp>
      <p:sp>
        <p:nvSpPr>
          <p:cNvPr id="29" name="Shape 27"/>
          <p:cNvSpPr/>
          <p:nvPr/>
        </p:nvSpPr>
        <p:spPr>
          <a:xfrm>
            <a:off x="4681728" y="4389120"/>
            <a:ext cx="201168" cy="201168"/>
          </a:xfrm>
          <a:prstGeom prst="ellipse">
            <a:avLst/>
          </a:prstGeom>
          <a:solidFill>
            <a:srgbClr val="E0A458"/>
          </a:solidFill>
          <a:ln w="12700">
            <a:solidFill>
              <a:srgbClr val="E0A458"/>
            </a:solidFill>
            <a:prstDash val="solid"/>
          </a:ln>
        </p:spPr>
      </p:sp>
      <p:sp>
        <p:nvSpPr>
          <p:cNvPr id="30" name="Text 28"/>
          <p:cNvSpPr/>
          <p:nvPr/>
        </p:nvSpPr>
        <p:spPr>
          <a:xfrm>
            <a:off x="4992624" y="4187952"/>
            <a:ext cx="2523744" cy="274320"/>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Agente Theta</a:t>
            </a:r>
            <a:endParaRPr lang="en-US" sz="1250" dirty="0"/>
          </a:p>
        </p:txBody>
      </p:sp>
      <p:sp>
        <p:nvSpPr>
          <p:cNvPr id="31" name="Text 29"/>
          <p:cNvSpPr/>
          <p:nvPr/>
        </p:nvSpPr>
        <p:spPr>
          <a:xfrm>
            <a:off x="4992624" y="4462272"/>
            <a:ext cx="2569464" cy="384048"/>
          </a:xfrm>
          <a:prstGeom prst="rect">
            <a:avLst/>
          </a:prstGeom>
          <a:noFill/>
          <a:ln/>
        </p:spPr>
        <p:txBody>
          <a:bodyPr wrap="square" lIns="0" tIns="0" rIns="0" bIns="0" rtlCol="0" anchor="t"/>
          <a:lstStyle/>
          <a:p>
            <a:pPr indent="0" marL="0">
              <a:buNone/>
            </a:pPr>
            <a:r>
              <a:rPr lang="en-US" sz="1050" dirty="0">
                <a:solidFill>
                  <a:srgbClr val="9DB2C4"/>
                </a:solidFill>
                <a:latin typeface="Calibri" pitchFamily="34" charset="0"/>
                <a:ea typeface="Calibri" pitchFamily="34" charset="-122"/>
                <a:cs typeface="Calibri" pitchFamily="34" charset="-120"/>
              </a:rPr>
              <a:t>Venta de prima con colateral</a:t>
            </a:r>
            <a:endParaRPr lang="en-US" sz="1050" dirty="0"/>
          </a:p>
        </p:txBody>
      </p:sp>
      <p:sp>
        <p:nvSpPr>
          <p:cNvPr id="32" name="Shape 30"/>
          <p:cNvSpPr/>
          <p:nvPr/>
        </p:nvSpPr>
        <p:spPr>
          <a:xfrm>
            <a:off x="8028432" y="1874520"/>
            <a:ext cx="3529584" cy="329184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3" name="Shape 31"/>
          <p:cNvSpPr/>
          <p:nvPr/>
        </p:nvSpPr>
        <p:spPr>
          <a:xfrm>
            <a:off x="8028432" y="1874520"/>
            <a:ext cx="64008" cy="3291840"/>
          </a:xfrm>
          <a:prstGeom prst="rect">
            <a:avLst/>
          </a:prstGeom>
          <a:solidFill>
            <a:srgbClr val="4D95D0"/>
          </a:solidFill>
          <a:ln w="12700">
            <a:solidFill>
              <a:srgbClr val="4D95D0"/>
            </a:solidFill>
            <a:prstDash val="solid"/>
          </a:ln>
        </p:spPr>
      </p:sp>
      <p:sp>
        <p:nvSpPr>
          <p:cNvPr id="34" name="Text 32"/>
          <p:cNvSpPr/>
          <p:nvPr/>
        </p:nvSpPr>
        <p:spPr>
          <a:xfrm>
            <a:off x="8284464" y="2084832"/>
            <a:ext cx="3072384" cy="237744"/>
          </a:xfrm>
          <a:prstGeom prst="rect">
            <a:avLst/>
          </a:prstGeom>
          <a:noFill/>
          <a:ln/>
        </p:spPr>
        <p:txBody>
          <a:bodyPr wrap="square" lIns="0" tIns="0" rIns="0" bIns="0" rtlCol="0" anchor="ctr"/>
          <a:lstStyle/>
          <a:p>
            <a:pPr indent="0" marL="0">
              <a:buNone/>
            </a:pPr>
            <a:r>
              <a:rPr lang="en-US" sz="1100" spc="160" kern="0" dirty="0">
                <a:solidFill>
                  <a:srgbClr val="4D95D0"/>
                </a:solidFill>
                <a:latin typeface="Consolas" pitchFamily="34" charset="0"/>
                <a:ea typeface="Consolas" pitchFamily="34" charset="-122"/>
                <a:cs typeface="Consolas" pitchFamily="34" charset="-120"/>
              </a:rPr>
              <a:t>MESA DE FUTUROS</a:t>
            </a:r>
            <a:endParaRPr lang="en-US" sz="1100" dirty="0"/>
          </a:p>
        </p:txBody>
      </p:sp>
      <p:sp>
        <p:nvSpPr>
          <p:cNvPr id="35" name="Text 33"/>
          <p:cNvSpPr/>
          <p:nvPr/>
        </p:nvSpPr>
        <p:spPr>
          <a:xfrm>
            <a:off x="8266176" y="2377440"/>
            <a:ext cx="3072384" cy="457200"/>
          </a:xfrm>
          <a:prstGeom prst="rect">
            <a:avLst/>
          </a:prstGeom>
          <a:noFill/>
          <a:ln/>
        </p:spPr>
        <p:txBody>
          <a:bodyPr wrap="square" lIns="0" tIns="0" rIns="0" bIns="0" rtlCol="0" anchor="ctr"/>
          <a:lstStyle/>
          <a:p>
            <a:pPr indent="0" marL="0">
              <a:buNone/>
            </a:pPr>
            <a:r>
              <a:rPr lang="en-US" sz="2100" b="1" dirty="0">
                <a:solidFill>
                  <a:srgbClr val="F2F6FA"/>
                </a:solidFill>
                <a:latin typeface="Consolas" pitchFamily="34" charset="0"/>
                <a:ea typeface="Consolas" pitchFamily="34" charset="-122"/>
                <a:cs typeface="Consolas" pitchFamily="34" charset="-120"/>
              </a:rPr>
              <a:t>$50.000</a:t>
            </a:r>
            <a:endParaRPr lang="en-US" sz="2100" dirty="0"/>
          </a:p>
        </p:txBody>
      </p:sp>
      <p:sp>
        <p:nvSpPr>
          <p:cNvPr id="36" name="Text 34"/>
          <p:cNvSpPr/>
          <p:nvPr/>
        </p:nvSpPr>
        <p:spPr>
          <a:xfrm>
            <a:off x="8266176" y="2798064"/>
            <a:ext cx="3072384" cy="237744"/>
          </a:xfrm>
          <a:prstGeom prst="rect">
            <a:avLst/>
          </a:prstGeom>
          <a:noFill/>
          <a:ln/>
        </p:spPr>
        <p:txBody>
          <a:bodyPr wrap="square" lIns="0" tIns="0" rIns="0" bIns="0" rtlCol="0" anchor="ctr"/>
          <a:lstStyle/>
          <a:p>
            <a:pPr indent="0" marL="0">
              <a:buNone/>
            </a:pPr>
            <a:r>
              <a:rPr lang="en-US" sz="1050" dirty="0">
                <a:solidFill>
                  <a:srgbClr val="6B8299"/>
                </a:solidFill>
                <a:latin typeface="Calibri" pitchFamily="34" charset="0"/>
                <a:ea typeface="Calibri" pitchFamily="34" charset="-122"/>
                <a:cs typeface="Calibri" pitchFamily="34" charset="-120"/>
              </a:rPr>
              <a:t>capital asignado</a:t>
            </a:r>
            <a:endParaRPr lang="en-US" sz="1050" dirty="0"/>
          </a:p>
        </p:txBody>
      </p:sp>
      <p:sp>
        <p:nvSpPr>
          <p:cNvPr id="37" name="Shape 35"/>
          <p:cNvSpPr/>
          <p:nvPr/>
        </p:nvSpPr>
        <p:spPr>
          <a:xfrm>
            <a:off x="8266176" y="3182112"/>
            <a:ext cx="3054096" cy="786384"/>
          </a:xfrm>
          <a:prstGeom prst="rect">
            <a:avLst/>
          </a:prstGeom>
          <a:solidFill>
            <a:srgbClr val="0C1E2C"/>
          </a:solidFill>
          <a:ln w="9525">
            <a:solidFill>
              <a:srgbClr val="24405A"/>
            </a:solidFill>
            <a:prstDash val="solid"/>
          </a:ln>
        </p:spPr>
      </p:sp>
      <p:sp>
        <p:nvSpPr>
          <p:cNvPr id="38" name="Shape 36"/>
          <p:cNvSpPr/>
          <p:nvPr/>
        </p:nvSpPr>
        <p:spPr>
          <a:xfrm>
            <a:off x="8412480" y="3456432"/>
            <a:ext cx="201168" cy="201168"/>
          </a:xfrm>
          <a:prstGeom prst="ellipse">
            <a:avLst/>
          </a:prstGeom>
          <a:solidFill>
            <a:srgbClr val="4D95D0"/>
          </a:solidFill>
          <a:ln w="12700">
            <a:solidFill>
              <a:srgbClr val="4D95D0"/>
            </a:solidFill>
            <a:prstDash val="solid"/>
          </a:ln>
        </p:spPr>
      </p:sp>
      <p:sp>
        <p:nvSpPr>
          <p:cNvPr id="39" name="Text 37"/>
          <p:cNvSpPr/>
          <p:nvPr/>
        </p:nvSpPr>
        <p:spPr>
          <a:xfrm>
            <a:off x="8723376" y="3255264"/>
            <a:ext cx="2523744" cy="274320"/>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Portafolio de Futuros</a:t>
            </a:r>
            <a:endParaRPr lang="en-US" sz="1250" dirty="0"/>
          </a:p>
        </p:txBody>
      </p:sp>
      <p:sp>
        <p:nvSpPr>
          <p:cNvPr id="40" name="Text 38"/>
          <p:cNvSpPr/>
          <p:nvPr/>
        </p:nvSpPr>
        <p:spPr>
          <a:xfrm>
            <a:off x="8723376" y="3529584"/>
            <a:ext cx="2569464" cy="384048"/>
          </a:xfrm>
          <a:prstGeom prst="rect">
            <a:avLst/>
          </a:prstGeom>
          <a:noFill/>
          <a:ln/>
        </p:spPr>
        <p:txBody>
          <a:bodyPr wrap="square" lIns="0" tIns="0" rIns="0" bIns="0" rtlCol="0" anchor="t"/>
          <a:lstStyle/>
          <a:p>
            <a:pPr indent="0" marL="0">
              <a:buNone/>
            </a:pPr>
            <a:r>
              <a:rPr lang="en-US" sz="1050" dirty="0">
                <a:solidFill>
                  <a:srgbClr val="9DB2C4"/>
                </a:solidFill>
                <a:latin typeface="Calibri" pitchFamily="34" charset="0"/>
                <a:ea typeface="Calibri" pitchFamily="34" charset="-122"/>
                <a:cs typeface="Calibri" pitchFamily="34" charset="-120"/>
              </a:rPr>
              <a:t>Seis estrategias sistemáticas sobre MNQ</a:t>
            </a:r>
            <a:endParaRPr lang="en-US" sz="1050" dirty="0"/>
          </a:p>
        </p:txBody>
      </p:sp>
      <p:sp>
        <p:nvSpPr>
          <p:cNvPr id="41" name="Shape 39"/>
          <p:cNvSpPr/>
          <p:nvPr/>
        </p:nvSpPr>
        <p:spPr>
          <a:xfrm>
            <a:off x="8266176" y="4114800"/>
            <a:ext cx="3054096" cy="786384"/>
          </a:xfrm>
          <a:prstGeom prst="rect">
            <a:avLst/>
          </a:prstGeom>
          <a:solidFill>
            <a:srgbClr val="0C1E2C"/>
          </a:solidFill>
          <a:ln w="9525">
            <a:solidFill>
              <a:srgbClr val="24405A"/>
            </a:solidFill>
            <a:prstDash val="solid"/>
          </a:ln>
        </p:spPr>
      </p:sp>
      <p:sp>
        <p:nvSpPr>
          <p:cNvPr id="42" name="Text 40"/>
          <p:cNvSpPr/>
          <p:nvPr/>
        </p:nvSpPr>
        <p:spPr>
          <a:xfrm>
            <a:off x="8430768" y="4187952"/>
            <a:ext cx="2724912" cy="640080"/>
          </a:xfrm>
          <a:prstGeom prst="rect">
            <a:avLst/>
          </a:prstGeom>
          <a:noFill/>
          <a:ln/>
        </p:spPr>
        <p:txBody>
          <a:bodyPr wrap="square" lIns="0" tIns="0" rIns="0" bIns="0" rtlCol="0" anchor="ctr"/>
          <a:lstStyle/>
          <a:p>
            <a:pPr indent="0" marL="0">
              <a:lnSpc>
                <a:spcPct val="110000"/>
              </a:lnSpc>
              <a:buNone/>
            </a:pPr>
            <a:r>
              <a:rPr lang="en-US" sz="1000" dirty="0">
                <a:solidFill>
                  <a:srgbClr val="9DB2C4"/>
                </a:solidFill>
                <a:latin typeface="Calibri" pitchFamily="34" charset="0"/>
                <a:ea typeface="Calibri" pitchFamily="34" charset="-122"/>
                <a:cs typeface="Calibri" pitchFamily="34" charset="-120"/>
              </a:rPr>
              <a:t>Overnight Drift · RSI2 Reversion · ZigZag Breakout · Weekend Effect · Momentum de Apertura · IBS Reversion</a:t>
            </a:r>
            <a:endParaRPr lang="en-US" sz="1000" dirty="0"/>
          </a:p>
        </p:txBody>
      </p:sp>
      <p:sp>
        <p:nvSpPr>
          <p:cNvPr id="43" name="Text 41"/>
          <p:cNvSpPr/>
          <p:nvPr/>
        </p:nvSpPr>
        <p:spPr>
          <a:xfrm>
            <a:off x="566928" y="5925312"/>
            <a:ext cx="11057839" cy="365760"/>
          </a:xfrm>
          <a:prstGeom prst="rect">
            <a:avLst/>
          </a:prstGeom>
          <a:noFill/>
          <a:ln/>
        </p:spPr>
        <p:txBody>
          <a:bodyPr wrap="square" lIns="0" tIns="0" rIns="0" bIns="0" rtlCol="0" anchor="t"/>
          <a:lstStyle/>
          <a:p>
            <a:pPr indent="0" marL="0">
              <a:buNone/>
            </a:pPr>
            <a:r>
              <a:rPr lang="en-US" sz="1050" i="1" dirty="0">
                <a:solidFill>
                  <a:srgbClr val="6B8299"/>
                </a:solidFill>
                <a:latin typeface="Calibri" pitchFamily="34" charset="0"/>
                <a:ea typeface="Calibri" pitchFamily="34" charset="-122"/>
                <a:cs typeface="Calibri" pitchFamily="34" charset="-120"/>
              </a:rPr>
              <a:t>La mesa de opciones separa dos bolsillos porque la venta de prima exige colateral: $100.000 para Gamma y $300.000 para Theta.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LA PLANTILLA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04</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La ficha de cada operador</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Mismo esqueleto de decisión, calibración distinta.</a:t>
            </a:r>
            <a:endParaRPr lang="en-US" sz="1450" dirty="0"/>
          </a:p>
        </p:txBody>
      </p:sp>
      <p:sp>
        <p:nvSpPr>
          <p:cNvPr id="6" name="Shape 4"/>
          <p:cNvSpPr/>
          <p:nvPr/>
        </p:nvSpPr>
        <p:spPr>
          <a:xfrm>
            <a:off x="566928" y="1847088"/>
            <a:ext cx="5413248" cy="201168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847088"/>
            <a:ext cx="64008" cy="2011680"/>
          </a:xfrm>
          <a:prstGeom prst="rect">
            <a:avLst/>
          </a:prstGeom>
          <a:solidFill>
            <a:srgbClr val="10B981"/>
          </a:solidFill>
          <a:ln w="12700">
            <a:solidFill>
              <a:srgbClr val="10B981"/>
            </a:solidFill>
            <a:prstDash val="solid"/>
          </a:ln>
        </p:spPr>
      </p:sp>
      <p:sp>
        <p:nvSpPr>
          <p:cNvPr id="8" name="Text 6"/>
          <p:cNvSpPr/>
          <p:nvPr/>
        </p:nvSpPr>
        <p:spPr>
          <a:xfrm>
            <a:off x="804672" y="1993392"/>
            <a:ext cx="3291840" cy="237744"/>
          </a:xfrm>
          <a:prstGeom prst="rect">
            <a:avLst/>
          </a:prstGeom>
          <a:noFill/>
          <a:ln/>
        </p:spPr>
        <p:txBody>
          <a:bodyPr wrap="square" lIns="0" tIns="0" rIns="0" bIns="0" rtlCol="0" anchor="ctr"/>
          <a:lstStyle/>
          <a:p>
            <a:pPr indent="0" marL="0">
              <a:buNone/>
            </a:pPr>
            <a:r>
              <a:rPr lang="en-US" sz="1100" spc="160" kern="0" dirty="0">
                <a:solidFill>
                  <a:srgbClr val="10B981"/>
                </a:solidFill>
                <a:latin typeface="Consolas" pitchFamily="34" charset="0"/>
                <a:ea typeface="Consolas" pitchFamily="34" charset="-122"/>
                <a:cs typeface="Consolas" pitchFamily="34" charset="-120"/>
              </a:rPr>
              <a:t>AGENTE PETER</a:t>
            </a:r>
            <a:endParaRPr lang="en-US" sz="1100" dirty="0"/>
          </a:p>
        </p:txBody>
      </p:sp>
      <p:sp>
        <p:nvSpPr>
          <p:cNvPr id="9" name="Text 7"/>
          <p:cNvSpPr/>
          <p:nvPr/>
        </p:nvSpPr>
        <p:spPr>
          <a:xfrm>
            <a:off x="804672" y="2231136"/>
            <a:ext cx="4937760" cy="256032"/>
          </a:xfrm>
          <a:prstGeom prst="rect">
            <a:avLst/>
          </a:prstGeom>
          <a:noFill/>
          <a:ln/>
        </p:spPr>
        <p:txBody>
          <a:bodyPr wrap="square" lIns="0" tIns="0" rIns="0" bIns="0" rtlCol="0" anchor="ctr"/>
          <a:lstStyle/>
          <a:p>
            <a:pPr indent="0" marL="0">
              <a:buNone/>
            </a:pPr>
            <a:r>
              <a:rPr lang="en-US" sz="1200" i="1" dirty="0">
                <a:solidFill>
                  <a:srgbClr val="F2F6FA"/>
                </a:solidFill>
                <a:latin typeface="Calibri" pitchFamily="34" charset="0"/>
                <a:ea typeface="Calibri" pitchFamily="34" charset="-122"/>
                <a:cs typeface="Calibri" pitchFamily="34" charset="-120"/>
              </a:rPr>
              <a:t>Acciones de gran capitalización</a:t>
            </a:r>
            <a:endParaRPr lang="en-US" sz="1200" dirty="0"/>
          </a:p>
        </p:txBody>
      </p:sp>
      <p:sp>
        <p:nvSpPr>
          <p:cNvPr id="10" name="Text 8"/>
          <p:cNvSpPr/>
          <p:nvPr/>
        </p:nvSpPr>
        <p:spPr>
          <a:xfrm>
            <a:off x="804672" y="2560320"/>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Universo</a:t>
            </a:r>
            <a:endParaRPr lang="en-US" sz="900" dirty="0"/>
          </a:p>
        </p:txBody>
      </p:sp>
      <p:sp>
        <p:nvSpPr>
          <p:cNvPr id="11" name="Text 9"/>
          <p:cNvSpPr/>
          <p:nvPr/>
        </p:nvSpPr>
        <p:spPr>
          <a:xfrm>
            <a:off x="1755648" y="2560320"/>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443 valores del S&amp;P 500 y el NASDAQ 100</a:t>
            </a:r>
            <a:endParaRPr lang="en-US" sz="1100" dirty="0"/>
          </a:p>
        </p:txBody>
      </p:sp>
      <p:sp>
        <p:nvSpPr>
          <p:cNvPr id="12" name="Text 10"/>
          <p:cNvSpPr/>
          <p:nvPr/>
        </p:nvSpPr>
        <p:spPr>
          <a:xfrm>
            <a:off x="804672" y="2871216"/>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Busca</a:t>
            </a:r>
            <a:endParaRPr lang="en-US" sz="900" dirty="0"/>
          </a:p>
        </p:txBody>
      </p:sp>
      <p:sp>
        <p:nvSpPr>
          <p:cNvPr id="13" name="Text 11"/>
          <p:cNvSpPr/>
          <p:nvPr/>
        </p:nvSpPr>
        <p:spPr>
          <a:xfrm>
            <a:off x="1755648" y="2871216"/>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Compañías buenas y baratas al estilo Peter Lynch</a:t>
            </a:r>
            <a:endParaRPr lang="en-US" sz="1100" dirty="0"/>
          </a:p>
        </p:txBody>
      </p:sp>
      <p:sp>
        <p:nvSpPr>
          <p:cNvPr id="14" name="Text 12"/>
          <p:cNvSpPr/>
          <p:nvPr/>
        </p:nvSpPr>
        <p:spPr>
          <a:xfrm>
            <a:off x="804672" y="3182112"/>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Entrega</a:t>
            </a:r>
            <a:endParaRPr lang="en-US" sz="900" dirty="0"/>
          </a:p>
        </p:txBody>
      </p:sp>
      <p:sp>
        <p:nvSpPr>
          <p:cNvPr id="15" name="Text 13"/>
          <p:cNvSpPr/>
          <p:nvPr/>
        </p:nvSpPr>
        <p:spPr>
          <a:xfrm>
            <a:off x="1755648" y="3182112"/>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Compra con precio de entrada, objetivo y stop</a:t>
            </a:r>
            <a:endParaRPr lang="en-US" sz="1100" dirty="0"/>
          </a:p>
        </p:txBody>
      </p:sp>
      <p:sp>
        <p:nvSpPr>
          <p:cNvPr id="16" name="Text 14"/>
          <p:cNvSpPr/>
          <p:nvPr/>
        </p:nvSpPr>
        <p:spPr>
          <a:xfrm>
            <a:off x="804672" y="3493008"/>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Exigencia</a:t>
            </a:r>
            <a:endParaRPr lang="en-US" sz="900" dirty="0"/>
          </a:p>
        </p:txBody>
      </p:sp>
      <p:sp>
        <p:nvSpPr>
          <p:cNvPr id="17" name="Text 15"/>
          <p:cNvSpPr/>
          <p:nvPr/>
        </p:nvSpPr>
        <p:spPr>
          <a:xfrm>
            <a:off x="1755648" y="3493008"/>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Los 6 criterios fundamentales, sin excepción</a:t>
            </a:r>
            <a:endParaRPr lang="en-US" sz="1100" dirty="0"/>
          </a:p>
        </p:txBody>
      </p:sp>
      <p:sp>
        <p:nvSpPr>
          <p:cNvPr id="18" name="Shape 16"/>
          <p:cNvSpPr/>
          <p:nvPr/>
        </p:nvSpPr>
        <p:spPr>
          <a:xfrm>
            <a:off x="6181344" y="1847088"/>
            <a:ext cx="5413248" cy="201168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9" name="Shape 17"/>
          <p:cNvSpPr/>
          <p:nvPr/>
        </p:nvSpPr>
        <p:spPr>
          <a:xfrm>
            <a:off x="6181344" y="1847088"/>
            <a:ext cx="64008" cy="2011680"/>
          </a:xfrm>
          <a:prstGeom prst="rect">
            <a:avLst/>
          </a:prstGeom>
          <a:solidFill>
            <a:srgbClr val="38BDF8"/>
          </a:solidFill>
          <a:ln w="12700">
            <a:solidFill>
              <a:srgbClr val="38BDF8"/>
            </a:solidFill>
            <a:prstDash val="solid"/>
          </a:ln>
        </p:spPr>
      </p:sp>
      <p:sp>
        <p:nvSpPr>
          <p:cNvPr id="20" name="Text 18"/>
          <p:cNvSpPr/>
          <p:nvPr/>
        </p:nvSpPr>
        <p:spPr>
          <a:xfrm>
            <a:off x="6419088" y="1993392"/>
            <a:ext cx="3291840" cy="237744"/>
          </a:xfrm>
          <a:prstGeom prst="rect">
            <a:avLst/>
          </a:prstGeom>
          <a:noFill/>
          <a:ln/>
        </p:spPr>
        <p:txBody>
          <a:bodyPr wrap="square" lIns="0" tIns="0" rIns="0" bIns="0" rtlCol="0" anchor="ctr"/>
          <a:lstStyle/>
          <a:p>
            <a:pPr indent="0" marL="0">
              <a:buNone/>
            </a:pPr>
            <a:r>
              <a:rPr lang="en-US" sz="1100" spc="160" kern="0" dirty="0">
                <a:solidFill>
                  <a:srgbClr val="38BDF8"/>
                </a:solidFill>
                <a:latin typeface="Consolas" pitchFamily="34" charset="0"/>
                <a:ea typeface="Consolas" pitchFamily="34" charset="-122"/>
                <a:cs typeface="Consolas" pitchFamily="34" charset="-120"/>
              </a:rPr>
              <a:t>AGENTE SMALL</a:t>
            </a:r>
            <a:endParaRPr lang="en-US" sz="1100" dirty="0"/>
          </a:p>
        </p:txBody>
      </p:sp>
      <p:sp>
        <p:nvSpPr>
          <p:cNvPr id="21" name="Text 19"/>
          <p:cNvSpPr/>
          <p:nvPr/>
        </p:nvSpPr>
        <p:spPr>
          <a:xfrm>
            <a:off x="6419088" y="2231136"/>
            <a:ext cx="4937760" cy="256032"/>
          </a:xfrm>
          <a:prstGeom prst="rect">
            <a:avLst/>
          </a:prstGeom>
          <a:noFill/>
          <a:ln/>
        </p:spPr>
        <p:txBody>
          <a:bodyPr wrap="square" lIns="0" tIns="0" rIns="0" bIns="0" rtlCol="0" anchor="ctr"/>
          <a:lstStyle/>
          <a:p>
            <a:pPr indent="0" marL="0">
              <a:buNone/>
            </a:pPr>
            <a:r>
              <a:rPr lang="en-US" sz="1200" i="1" dirty="0">
                <a:solidFill>
                  <a:srgbClr val="F2F6FA"/>
                </a:solidFill>
                <a:latin typeface="Calibri" pitchFamily="34" charset="0"/>
                <a:ea typeface="Calibri" pitchFamily="34" charset="-122"/>
                <a:cs typeface="Calibri" pitchFamily="34" charset="-120"/>
              </a:rPr>
              <a:t>Pequeña capitalización</a:t>
            </a:r>
            <a:endParaRPr lang="en-US" sz="1200" dirty="0"/>
          </a:p>
        </p:txBody>
      </p:sp>
      <p:sp>
        <p:nvSpPr>
          <p:cNvPr id="22" name="Text 20"/>
          <p:cNvSpPr/>
          <p:nvPr/>
        </p:nvSpPr>
        <p:spPr>
          <a:xfrm>
            <a:off x="6419088" y="2560320"/>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Universo</a:t>
            </a:r>
            <a:endParaRPr lang="en-US" sz="900" dirty="0"/>
          </a:p>
        </p:txBody>
      </p:sp>
      <p:sp>
        <p:nvSpPr>
          <p:cNvPr id="23" name="Text 21"/>
          <p:cNvSpPr/>
          <p:nvPr/>
        </p:nvSpPr>
        <p:spPr>
          <a:xfrm>
            <a:off x="7370064" y="2560320"/>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307 valores del S&amp;P 600 y el Russell 2000</a:t>
            </a:r>
            <a:endParaRPr lang="en-US" sz="1100" dirty="0"/>
          </a:p>
        </p:txBody>
      </p:sp>
      <p:sp>
        <p:nvSpPr>
          <p:cNvPr id="24" name="Text 22"/>
          <p:cNvSpPr/>
          <p:nvPr/>
        </p:nvSpPr>
        <p:spPr>
          <a:xfrm>
            <a:off x="6419088" y="2871216"/>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Busca</a:t>
            </a:r>
            <a:endParaRPr lang="en-US" sz="900" dirty="0"/>
          </a:p>
        </p:txBody>
      </p:sp>
      <p:sp>
        <p:nvSpPr>
          <p:cNvPr id="25" name="Text 23"/>
          <p:cNvSpPr/>
          <p:nvPr/>
        </p:nvSpPr>
        <p:spPr>
          <a:xfrm>
            <a:off x="7370064" y="2871216"/>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Lo mismo, con la vara calibrada para small caps</a:t>
            </a:r>
            <a:endParaRPr lang="en-US" sz="1100" dirty="0"/>
          </a:p>
        </p:txBody>
      </p:sp>
      <p:sp>
        <p:nvSpPr>
          <p:cNvPr id="26" name="Text 24"/>
          <p:cNvSpPr/>
          <p:nvPr/>
        </p:nvSpPr>
        <p:spPr>
          <a:xfrm>
            <a:off x="6419088" y="3182112"/>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Entrega</a:t>
            </a:r>
            <a:endParaRPr lang="en-US" sz="900" dirty="0"/>
          </a:p>
        </p:txBody>
      </p:sp>
      <p:sp>
        <p:nvSpPr>
          <p:cNvPr id="27" name="Text 25"/>
          <p:cNvSpPr/>
          <p:nvPr/>
        </p:nvSpPr>
        <p:spPr>
          <a:xfrm>
            <a:off x="7370064" y="3182112"/>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Compra con su capitalización registrada</a:t>
            </a:r>
            <a:endParaRPr lang="en-US" sz="1100" dirty="0"/>
          </a:p>
        </p:txBody>
      </p:sp>
      <p:sp>
        <p:nvSpPr>
          <p:cNvPr id="28" name="Text 26"/>
          <p:cNvSpPr/>
          <p:nvPr/>
        </p:nvSpPr>
        <p:spPr>
          <a:xfrm>
            <a:off x="6419088" y="3493008"/>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Exigencia</a:t>
            </a:r>
            <a:endParaRPr lang="en-US" sz="900" dirty="0"/>
          </a:p>
        </p:txBody>
      </p:sp>
      <p:sp>
        <p:nvSpPr>
          <p:cNvPr id="29" name="Text 27"/>
          <p:cNvSpPr/>
          <p:nvPr/>
        </p:nvSpPr>
        <p:spPr>
          <a:xfrm>
            <a:off x="7370064" y="3493008"/>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4 de 6 criterios</a:t>
            </a:r>
            <a:endParaRPr lang="en-US" sz="1100" dirty="0"/>
          </a:p>
        </p:txBody>
      </p:sp>
      <p:sp>
        <p:nvSpPr>
          <p:cNvPr id="30" name="Shape 28"/>
          <p:cNvSpPr/>
          <p:nvPr/>
        </p:nvSpPr>
        <p:spPr>
          <a:xfrm>
            <a:off x="566928" y="4023360"/>
            <a:ext cx="5413248" cy="201168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1" name="Shape 29"/>
          <p:cNvSpPr/>
          <p:nvPr/>
        </p:nvSpPr>
        <p:spPr>
          <a:xfrm>
            <a:off x="566928" y="4023360"/>
            <a:ext cx="64008" cy="2011680"/>
          </a:xfrm>
          <a:prstGeom prst="rect">
            <a:avLst/>
          </a:prstGeom>
          <a:solidFill>
            <a:srgbClr val="8B8FF0"/>
          </a:solidFill>
          <a:ln w="12700">
            <a:solidFill>
              <a:srgbClr val="8B8FF0"/>
            </a:solidFill>
            <a:prstDash val="solid"/>
          </a:ln>
        </p:spPr>
      </p:sp>
      <p:sp>
        <p:nvSpPr>
          <p:cNvPr id="32" name="Text 30"/>
          <p:cNvSpPr/>
          <p:nvPr/>
        </p:nvSpPr>
        <p:spPr>
          <a:xfrm>
            <a:off x="804672" y="4169664"/>
            <a:ext cx="3291840" cy="237744"/>
          </a:xfrm>
          <a:prstGeom prst="rect">
            <a:avLst/>
          </a:prstGeom>
          <a:noFill/>
          <a:ln/>
        </p:spPr>
        <p:txBody>
          <a:bodyPr wrap="square" lIns="0" tIns="0" rIns="0" bIns="0" rtlCol="0" anchor="ctr"/>
          <a:lstStyle/>
          <a:p>
            <a:pPr indent="0" marL="0">
              <a:buNone/>
            </a:pPr>
            <a:r>
              <a:rPr lang="en-US" sz="1100" spc="160" kern="0" dirty="0">
                <a:solidFill>
                  <a:srgbClr val="8B8FF0"/>
                </a:solidFill>
                <a:latin typeface="Consolas" pitchFamily="34" charset="0"/>
                <a:ea typeface="Consolas" pitchFamily="34" charset="-122"/>
                <a:cs typeface="Consolas" pitchFamily="34" charset="-120"/>
              </a:rPr>
              <a:t>AGENTE GAMMA</a:t>
            </a:r>
            <a:endParaRPr lang="en-US" sz="1100" dirty="0"/>
          </a:p>
        </p:txBody>
      </p:sp>
      <p:sp>
        <p:nvSpPr>
          <p:cNvPr id="33" name="Text 31"/>
          <p:cNvSpPr/>
          <p:nvPr/>
        </p:nvSpPr>
        <p:spPr>
          <a:xfrm>
            <a:off x="804672" y="4407408"/>
            <a:ext cx="4937760" cy="256032"/>
          </a:xfrm>
          <a:prstGeom prst="rect">
            <a:avLst/>
          </a:prstGeom>
          <a:noFill/>
          <a:ln/>
        </p:spPr>
        <p:txBody>
          <a:bodyPr wrap="square" lIns="0" tIns="0" rIns="0" bIns="0" rtlCol="0" anchor="ctr"/>
          <a:lstStyle/>
          <a:p>
            <a:pPr indent="0" marL="0">
              <a:buNone/>
            </a:pPr>
            <a:r>
              <a:rPr lang="en-US" sz="1200" i="1" dirty="0">
                <a:solidFill>
                  <a:srgbClr val="F2F6FA"/>
                </a:solidFill>
                <a:latin typeface="Calibri" pitchFamily="34" charset="0"/>
                <a:ea typeface="Calibri" pitchFamily="34" charset="-122"/>
                <a:cs typeface="Calibri" pitchFamily="34" charset="-120"/>
              </a:rPr>
              <a:t>Opciones largas, direccional</a:t>
            </a:r>
            <a:endParaRPr lang="en-US" sz="1200" dirty="0"/>
          </a:p>
        </p:txBody>
      </p:sp>
      <p:sp>
        <p:nvSpPr>
          <p:cNvPr id="34" name="Text 32"/>
          <p:cNvSpPr/>
          <p:nvPr/>
        </p:nvSpPr>
        <p:spPr>
          <a:xfrm>
            <a:off x="804672" y="4736592"/>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Universo</a:t>
            </a:r>
            <a:endParaRPr lang="en-US" sz="900" dirty="0"/>
          </a:p>
        </p:txBody>
      </p:sp>
      <p:sp>
        <p:nvSpPr>
          <p:cNvPr id="35" name="Text 33"/>
          <p:cNvSpPr/>
          <p:nvPr/>
        </p:nvSpPr>
        <p:spPr>
          <a:xfrm>
            <a:off x="1755648" y="4736592"/>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Las posiciones vivas de Peter y Small</a:t>
            </a:r>
            <a:endParaRPr lang="en-US" sz="1100" dirty="0"/>
          </a:p>
        </p:txBody>
      </p:sp>
      <p:sp>
        <p:nvSpPr>
          <p:cNvPr id="36" name="Text 34"/>
          <p:cNvSpPr/>
          <p:nvPr/>
        </p:nvSpPr>
        <p:spPr>
          <a:xfrm>
            <a:off x="804672" y="5047488"/>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Busca</a:t>
            </a:r>
            <a:endParaRPr lang="en-US" sz="900" dirty="0"/>
          </a:p>
        </p:txBody>
      </p:sp>
      <p:sp>
        <p:nvSpPr>
          <p:cNvPr id="37" name="Text 35"/>
          <p:cNvSpPr/>
          <p:nvPr/>
        </p:nvSpPr>
        <p:spPr>
          <a:xfrm>
            <a:off x="1755648" y="5047488"/>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Traducir una convicción en acciones a una opción</a:t>
            </a:r>
            <a:endParaRPr lang="en-US" sz="1100" dirty="0"/>
          </a:p>
        </p:txBody>
      </p:sp>
      <p:sp>
        <p:nvSpPr>
          <p:cNvPr id="38" name="Text 36"/>
          <p:cNvSpPr/>
          <p:nvPr/>
        </p:nvSpPr>
        <p:spPr>
          <a:xfrm>
            <a:off x="804672" y="5358384"/>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Entrega</a:t>
            </a:r>
            <a:endParaRPr lang="en-US" sz="900" dirty="0"/>
          </a:p>
        </p:txBody>
      </p:sp>
      <p:sp>
        <p:nvSpPr>
          <p:cNvPr id="39" name="Text 37"/>
          <p:cNvSpPr/>
          <p:nvPr/>
        </p:nvSpPr>
        <p:spPr>
          <a:xfrm>
            <a:off x="1755648" y="5358384"/>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Contrato concreto: strike, vencimiento y prima</a:t>
            </a:r>
            <a:endParaRPr lang="en-US" sz="1100" dirty="0"/>
          </a:p>
        </p:txBody>
      </p:sp>
      <p:sp>
        <p:nvSpPr>
          <p:cNvPr id="40" name="Text 38"/>
          <p:cNvSpPr/>
          <p:nvPr/>
        </p:nvSpPr>
        <p:spPr>
          <a:xfrm>
            <a:off x="804672" y="5669280"/>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Exigencia</a:t>
            </a:r>
            <a:endParaRPr lang="en-US" sz="900" dirty="0"/>
          </a:p>
        </p:txBody>
      </p:sp>
      <p:sp>
        <p:nvSpPr>
          <p:cNvPr id="41" name="Text 39"/>
          <p:cNvSpPr/>
          <p:nvPr/>
        </p:nvSpPr>
        <p:spPr>
          <a:xfrm>
            <a:off x="1755648" y="5669280"/>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Delta 0,30-0,65 · 21-90 días · puntuación ≥ 50</a:t>
            </a:r>
            <a:endParaRPr lang="en-US" sz="1100" dirty="0"/>
          </a:p>
        </p:txBody>
      </p:sp>
      <p:sp>
        <p:nvSpPr>
          <p:cNvPr id="42" name="Shape 40"/>
          <p:cNvSpPr/>
          <p:nvPr/>
        </p:nvSpPr>
        <p:spPr>
          <a:xfrm>
            <a:off x="6181344" y="4023360"/>
            <a:ext cx="5413248" cy="201168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43" name="Shape 41"/>
          <p:cNvSpPr/>
          <p:nvPr/>
        </p:nvSpPr>
        <p:spPr>
          <a:xfrm>
            <a:off x="6181344" y="4023360"/>
            <a:ext cx="64008" cy="2011680"/>
          </a:xfrm>
          <a:prstGeom prst="rect">
            <a:avLst/>
          </a:prstGeom>
          <a:solidFill>
            <a:srgbClr val="E0A458"/>
          </a:solidFill>
          <a:ln w="12700">
            <a:solidFill>
              <a:srgbClr val="E0A458"/>
            </a:solidFill>
            <a:prstDash val="solid"/>
          </a:ln>
        </p:spPr>
      </p:sp>
      <p:sp>
        <p:nvSpPr>
          <p:cNvPr id="44" name="Text 42"/>
          <p:cNvSpPr/>
          <p:nvPr/>
        </p:nvSpPr>
        <p:spPr>
          <a:xfrm>
            <a:off x="6419088" y="4169664"/>
            <a:ext cx="3291840" cy="237744"/>
          </a:xfrm>
          <a:prstGeom prst="rect">
            <a:avLst/>
          </a:prstGeom>
          <a:noFill/>
          <a:ln/>
        </p:spPr>
        <p:txBody>
          <a:bodyPr wrap="square" lIns="0" tIns="0" rIns="0" bIns="0" rtlCol="0" anchor="ctr"/>
          <a:lstStyle/>
          <a:p>
            <a:pPr indent="0" marL="0">
              <a:buNone/>
            </a:pPr>
            <a:r>
              <a:rPr lang="en-US" sz="1100" spc="160" kern="0" dirty="0">
                <a:solidFill>
                  <a:srgbClr val="E0A458"/>
                </a:solidFill>
                <a:latin typeface="Consolas" pitchFamily="34" charset="0"/>
                <a:ea typeface="Consolas" pitchFamily="34" charset="-122"/>
                <a:cs typeface="Consolas" pitchFamily="34" charset="-120"/>
              </a:rPr>
              <a:t>AGENTE THETA</a:t>
            </a:r>
            <a:endParaRPr lang="en-US" sz="1100" dirty="0"/>
          </a:p>
        </p:txBody>
      </p:sp>
      <p:sp>
        <p:nvSpPr>
          <p:cNvPr id="45" name="Text 43"/>
          <p:cNvSpPr/>
          <p:nvPr/>
        </p:nvSpPr>
        <p:spPr>
          <a:xfrm>
            <a:off x="6419088" y="4407408"/>
            <a:ext cx="4937760" cy="256032"/>
          </a:xfrm>
          <a:prstGeom prst="rect">
            <a:avLst/>
          </a:prstGeom>
          <a:noFill/>
          <a:ln/>
        </p:spPr>
        <p:txBody>
          <a:bodyPr wrap="square" lIns="0" tIns="0" rIns="0" bIns="0" rtlCol="0" anchor="ctr"/>
          <a:lstStyle/>
          <a:p>
            <a:pPr indent="0" marL="0">
              <a:buNone/>
            </a:pPr>
            <a:r>
              <a:rPr lang="en-US" sz="1200" i="1" dirty="0">
                <a:solidFill>
                  <a:srgbClr val="F2F6FA"/>
                </a:solidFill>
                <a:latin typeface="Calibri" pitchFamily="34" charset="0"/>
                <a:ea typeface="Calibri" pitchFamily="34" charset="-122"/>
                <a:cs typeface="Calibri" pitchFamily="34" charset="-120"/>
              </a:rPr>
              <a:t>Opciones cortas, venta de prima</a:t>
            </a:r>
            <a:endParaRPr lang="en-US" sz="1200" dirty="0"/>
          </a:p>
        </p:txBody>
      </p:sp>
      <p:sp>
        <p:nvSpPr>
          <p:cNvPr id="46" name="Text 44"/>
          <p:cNvSpPr/>
          <p:nvPr/>
        </p:nvSpPr>
        <p:spPr>
          <a:xfrm>
            <a:off x="6419088" y="4736592"/>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Universo</a:t>
            </a:r>
            <a:endParaRPr lang="en-US" sz="900" dirty="0"/>
          </a:p>
        </p:txBody>
      </p:sp>
      <p:sp>
        <p:nvSpPr>
          <p:cNvPr id="47" name="Text 45"/>
          <p:cNvSpPr/>
          <p:nvPr/>
        </p:nvSpPr>
        <p:spPr>
          <a:xfrm>
            <a:off x="7370064" y="4736592"/>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36 subyacentes líquidos, lista fija</a:t>
            </a:r>
            <a:endParaRPr lang="en-US" sz="1100" dirty="0"/>
          </a:p>
        </p:txBody>
      </p:sp>
      <p:sp>
        <p:nvSpPr>
          <p:cNvPr id="48" name="Text 46"/>
          <p:cNvSpPr/>
          <p:nvPr/>
        </p:nvSpPr>
        <p:spPr>
          <a:xfrm>
            <a:off x="6419088" y="5047488"/>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Busca</a:t>
            </a:r>
            <a:endParaRPr lang="en-US" sz="900" dirty="0"/>
          </a:p>
        </p:txBody>
      </p:sp>
      <p:sp>
        <p:nvSpPr>
          <p:cNvPr id="49" name="Text 47"/>
          <p:cNvSpPr/>
          <p:nvPr/>
        </p:nvSpPr>
        <p:spPr>
          <a:xfrm>
            <a:off x="7370064" y="5047488"/>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Cobrar prima cara sin asumir dirección</a:t>
            </a:r>
            <a:endParaRPr lang="en-US" sz="1100" dirty="0"/>
          </a:p>
        </p:txBody>
      </p:sp>
      <p:sp>
        <p:nvSpPr>
          <p:cNvPr id="50" name="Text 48"/>
          <p:cNvSpPr/>
          <p:nvPr/>
        </p:nvSpPr>
        <p:spPr>
          <a:xfrm>
            <a:off x="6419088" y="5358384"/>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Entrega</a:t>
            </a:r>
            <a:endParaRPr lang="en-US" sz="900" dirty="0"/>
          </a:p>
        </p:txBody>
      </p:sp>
      <p:sp>
        <p:nvSpPr>
          <p:cNvPr id="51" name="Text 49"/>
          <p:cNvSpPr/>
          <p:nvPr/>
        </p:nvSpPr>
        <p:spPr>
          <a:xfrm>
            <a:off x="7370064" y="5358384"/>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Put vendida o call cubierta, con su colateral</a:t>
            </a:r>
            <a:endParaRPr lang="en-US" sz="1100" dirty="0"/>
          </a:p>
        </p:txBody>
      </p:sp>
      <p:sp>
        <p:nvSpPr>
          <p:cNvPr id="52" name="Text 50"/>
          <p:cNvSpPr/>
          <p:nvPr/>
        </p:nvSpPr>
        <p:spPr>
          <a:xfrm>
            <a:off x="6419088" y="5669280"/>
            <a:ext cx="914400" cy="274320"/>
          </a:xfrm>
          <a:prstGeom prst="rect">
            <a:avLst/>
          </a:prstGeom>
          <a:noFill/>
          <a:ln/>
        </p:spPr>
        <p:txBody>
          <a:bodyPr wrap="square" lIns="0" tIns="0" rIns="0" bIns="0" rtlCol="0" anchor="ctr"/>
          <a:lstStyle/>
          <a:p>
            <a:pPr indent="0" marL="0">
              <a:buNone/>
            </a:pPr>
            <a:r>
              <a:rPr lang="en-US" sz="900" dirty="0">
                <a:solidFill>
                  <a:srgbClr val="6B8299"/>
                </a:solidFill>
                <a:latin typeface="Consolas" pitchFamily="34" charset="0"/>
                <a:ea typeface="Consolas" pitchFamily="34" charset="-122"/>
                <a:cs typeface="Consolas" pitchFamily="34" charset="-120"/>
              </a:rPr>
              <a:t>Exigencia</a:t>
            </a:r>
            <a:endParaRPr lang="en-US" sz="900" dirty="0"/>
          </a:p>
        </p:txBody>
      </p:sp>
      <p:sp>
        <p:nvSpPr>
          <p:cNvPr id="53" name="Text 51"/>
          <p:cNvSpPr/>
          <p:nvPr/>
        </p:nvSpPr>
        <p:spPr>
          <a:xfrm>
            <a:off x="7370064" y="5669280"/>
            <a:ext cx="4023360" cy="274320"/>
          </a:xfrm>
          <a:prstGeom prst="rect">
            <a:avLst/>
          </a:prstGeom>
          <a:noFill/>
          <a:ln/>
        </p:spPr>
        <p:txBody>
          <a:bodyPr wrap="square" lIns="0" tIns="0" rIns="0" bIns="0" rtlCol="0" anchor="ctr"/>
          <a:lstStyle/>
          <a:p>
            <a:pPr indent="0" marL="0">
              <a:buNone/>
            </a:pPr>
            <a:r>
              <a:rPr lang="en-US" sz="1100" dirty="0">
                <a:solidFill>
                  <a:srgbClr val="9DB2C4"/>
                </a:solidFill>
                <a:latin typeface="Calibri" pitchFamily="34" charset="0"/>
                <a:ea typeface="Calibri" pitchFamily="34" charset="-122"/>
                <a:cs typeface="Calibri" pitchFamily="34" charset="-120"/>
              </a:rPr>
              <a:t>Volatilidad &gt; 30 % · delta 0,15-0,35 · puntuación ≥ 60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LA PLANTILLA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05</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Lo que estos agentes no hacen</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Fijar el límite es parte del diseño, no una carencia.</a:t>
            </a:r>
            <a:endParaRPr lang="en-US" sz="1450" dirty="0"/>
          </a:p>
        </p:txBody>
      </p:sp>
      <p:sp>
        <p:nvSpPr>
          <p:cNvPr id="6" name="Shape 4"/>
          <p:cNvSpPr/>
          <p:nvPr/>
        </p:nvSpPr>
        <p:spPr>
          <a:xfrm>
            <a:off x="566928" y="1847088"/>
            <a:ext cx="5413248" cy="118872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847088"/>
            <a:ext cx="64008" cy="1188720"/>
          </a:xfrm>
          <a:prstGeom prst="rect">
            <a:avLst/>
          </a:prstGeom>
          <a:solidFill>
            <a:srgbClr val="F04438"/>
          </a:solidFill>
          <a:ln w="12700">
            <a:solidFill>
              <a:srgbClr val="F04438"/>
            </a:solidFill>
            <a:prstDash val="solid"/>
          </a:ln>
        </p:spPr>
      </p:sp>
      <p:sp>
        <p:nvSpPr>
          <p:cNvPr id="8" name="Text 6"/>
          <p:cNvSpPr/>
          <p:nvPr/>
        </p:nvSpPr>
        <p:spPr>
          <a:xfrm>
            <a:off x="841248" y="1993392"/>
            <a:ext cx="4846320" cy="292608"/>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No ejecutan órdenes</a:t>
            </a:r>
            <a:endParaRPr lang="en-US" sz="1350" dirty="0"/>
          </a:p>
        </p:txBody>
      </p:sp>
      <p:sp>
        <p:nvSpPr>
          <p:cNvPr id="9" name="Text 7"/>
          <p:cNvSpPr/>
          <p:nvPr/>
        </p:nvSpPr>
        <p:spPr>
          <a:xfrm>
            <a:off x="841248" y="2304288"/>
            <a:ext cx="4882896" cy="621792"/>
          </a:xfrm>
          <a:prstGeom prst="rect">
            <a:avLst/>
          </a:prstGeom>
          <a:noFill/>
          <a:ln/>
        </p:spPr>
        <p:txBody>
          <a:bodyPr wrap="square" lIns="0" tIns="0" rIns="0" bIns="0" rtlCol="0" anchor="t"/>
          <a:lstStyle/>
          <a:p>
            <a:pPr indent="0" marL="0">
              <a:lnSpc>
                <a:spcPct val="112000"/>
              </a:lnSpc>
              <a:buNone/>
            </a:pPr>
            <a:r>
              <a:rPr lang="en-US" sz="1100" dirty="0">
                <a:solidFill>
                  <a:srgbClr val="9DB2C4"/>
                </a:solidFill>
                <a:latin typeface="Calibri" pitchFamily="34" charset="0"/>
                <a:ea typeface="Calibri" pitchFamily="34" charset="-122"/>
                <a:cs typeface="Calibri" pitchFamily="34" charset="-120"/>
              </a:rPr>
              <a:t>Producen recomendaciones trazables. La orden la manda una persona.</a:t>
            </a:r>
            <a:endParaRPr lang="en-US" sz="1100" dirty="0"/>
          </a:p>
        </p:txBody>
      </p:sp>
      <p:sp>
        <p:nvSpPr>
          <p:cNvPr id="10" name="Shape 8"/>
          <p:cNvSpPr/>
          <p:nvPr/>
        </p:nvSpPr>
        <p:spPr>
          <a:xfrm>
            <a:off x="6181344" y="1847088"/>
            <a:ext cx="5413248" cy="118872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1" name="Shape 9"/>
          <p:cNvSpPr/>
          <p:nvPr/>
        </p:nvSpPr>
        <p:spPr>
          <a:xfrm>
            <a:off x="6181344" y="1847088"/>
            <a:ext cx="64008" cy="1188720"/>
          </a:xfrm>
          <a:prstGeom prst="rect">
            <a:avLst/>
          </a:prstGeom>
          <a:solidFill>
            <a:srgbClr val="F04438"/>
          </a:solidFill>
          <a:ln w="12700">
            <a:solidFill>
              <a:srgbClr val="F04438"/>
            </a:solidFill>
            <a:prstDash val="solid"/>
          </a:ln>
        </p:spPr>
      </p:sp>
      <p:sp>
        <p:nvSpPr>
          <p:cNvPr id="12" name="Text 10"/>
          <p:cNvSpPr/>
          <p:nvPr/>
        </p:nvSpPr>
        <p:spPr>
          <a:xfrm>
            <a:off x="6455664" y="1993392"/>
            <a:ext cx="4846320" cy="292608"/>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No deciden el tamaño</a:t>
            </a:r>
            <a:endParaRPr lang="en-US" sz="1350" dirty="0"/>
          </a:p>
        </p:txBody>
      </p:sp>
      <p:sp>
        <p:nvSpPr>
          <p:cNvPr id="13" name="Text 11"/>
          <p:cNvSpPr/>
          <p:nvPr/>
        </p:nvSpPr>
        <p:spPr>
          <a:xfrm>
            <a:off x="6455664" y="2304288"/>
            <a:ext cx="4882896" cy="621792"/>
          </a:xfrm>
          <a:prstGeom prst="rect">
            <a:avLst/>
          </a:prstGeom>
          <a:noFill/>
          <a:ln/>
        </p:spPr>
        <p:txBody>
          <a:bodyPr wrap="square" lIns="0" tIns="0" rIns="0" bIns="0" rtlCol="0" anchor="t"/>
          <a:lstStyle/>
          <a:p>
            <a:pPr indent="0" marL="0">
              <a:lnSpc>
                <a:spcPct val="112000"/>
              </a:lnSpc>
              <a:buNone/>
            </a:pPr>
            <a:r>
              <a:rPr lang="en-US" sz="1100" dirty="0">
                <a:solidFill>
                  <a:srgbClr val="9DB2C4"/>
                </a:solidFill>
                <a:latin typeface="Calibri" pitchFamily="34" charset="0"/>
                <a:ea typeface="Calibri" pitchFamily="34" charset="-122"/>
                <a:cs typeface="Calibri" pitchFamily="34" charset="-120"/>
              </a:rPr>
              <a:t>El importe por operación está fijado en configuración: ticket de $1.000 en acciones, un contrato por señal en opciones.</a:t>
            </a:r>
            <a:endParaRPr lang="en-US" sz="1100" dirty="0"/>
          </a:p>
        </p:txBody>
      </p:sp>
      <p:sp>
        <p:nvSpPr>
          <p:cNvPr id="14" name="Shape 12"/>
          <p:cNvSpPr/>
          <p:nvPr/>
        </p:nvSpPr>
        <p:spPr>
          <a:xfrm>
            <a:off x="566928" y="3200400"/>
            <a:ext cx="5413248" cy="118872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5" name="Shape 13"/>
          <p:cNvSpPr/>
          <p:nvPr/>
        </p:nvSpPr>
        <p:spPr>
          <a:xfrm>
            <a:off x="566928" y="3200400"/>
            <a:ext cx="64008" cy="1188720"/>
          </a:xfrm>
          <a:prstGeom prst="rect">
            <a:avLst/>
          </a:prstGeom>
          <a:solidFill>
            <a:srgbClr val="F04438"/>
          </a:solidFill>
          <a:ln w="12700">
            <a:solidFill>
              <a:srgbClr val="F04438"/>
            </a:solidFill>
            <a:prstDash val="solid"/>
          </a:ln>
        </p:spPr>
      </p:sp>
      <p:sp>
        <p:nvSpPr>
          <p:cNvPr id="16" name="Text 14"/>
          <p:cNvSpPr/>
          <p:nvPr/>
        </p:nvSpPr>
        <p:spPr>
          <a:xfrm>
            <a:off x="841248" y="3346704"/>
            <a:ext cx="4846320" cy="292608"/>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No tienen acceso a la cuenta</a:t>
            </a:r>
            <a:endParaRPr lang="en-US" sz="1350" dirty="0"/>
          </a:p>
        </p:txBody>
      </p:sp>
      <p:sp>
        <p:nvSpPr>
          <p:cNvPr id="17" name="Text 15"/>
          <p:cNvSpPr/>
          <p:nvPr/>
        </p:nvSpPr>
        <p:spPr>
          <a:xfrm>
            <a:off x="841248" y="3657600"/>
            <a:ext cx="4882896" cy="621792"/>
          </a:xfrm>
          <a:prstGeom prst="rect">
            <a:avLst/>
          </a:prstGeom>
          <a:noFill/>
          <a:ln/>
        </p:spPr>
        <p:txBody>
          <a:bodyPr wrap="square" lIns="0" tIns="0" rIns="0" bIns="0" rtlCol="0" anchor="t"/>
          <a:lstStyle/>
          <a:p>
            <a:pPr indent="0" marL="0">
              <a:lnSpc>
                <a:spcPct val="112000"/>
              </a:lnSpc>
              <a:buNone/>
            </a:pPr>
            <a:r>
              <a:rPr lang="en-US" sz="1100" dirty="0">
                <a:solidFill>
                  <a:srgbClr val="9DB2C4"/>
                </a:solidFill>
                <a:latin typeface="Calibri" pitchFamily="34" charset="0"/>
                <a:ea typeface="Calibri" pitchFamily="34" charset="-122"/>
                <a:cs typeface="Calibri" pitchFamily="34" charset="-120"/>
              </a:rPr>
              <a:t>Ningún agente posee credenciales del bróker. La separación es física, no una promesa.</a:t>
            </a:r>
            <a:endParaRPr lang="en-US" sz="1100" dirty="0"/>
          </a:p>
        </p:txBody>
      </p:sp>
      <p:sp>
        <p:nvSpPr>
          <p:cNvPr id="18" name="Shape 16"/>
          <p:cNvSpPr/>
          <p:nvPr/>
        </p:nvSpPr>
        <p:spPr>
          <a:xfrm>
            <a:off x="6181344" y="3200400"/>
            <a:ext cx="5413248" cy="118872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9" name="Shape 17"/>
          <p:cNvSpPr/>
          <p:nvPr/>
        </p:nvSpPr>
        <p:spPr>
          <a:xfrm>
            <a:off x="6181344" y="3200400"/>
            <a:ext cx="64008" cy="1188720"/>
          </a:xfrm>
          <a:prstGeom prst="rect">
            <a:avLst/>
          </a:prstGeom>
          <a:solidFill>
            <a:srgbClr val="F04438"/>
          </a:solidFill>
          <a:ln w="12700">
            <a:solidFill>
              <a:srgbClr val="F04438"/>
            </a:solidFill>
            <a:prstDash val="solid"/>
          </a:ln>
        </p:spPr>
      </p:sp>
      <p:sp>
        <p:nvSpPr>
          <p:cNvPr id="20" name="Text 18"/>
          <p:cNvSpPr/>
          <p:nvPr/>
        </p:nvSpPr>
        <p:spPr>
          <a:xfrm>
            <a:off x="6455664" y="3346704"/>
            <a:ext cx="4846320" cy="292608"/>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No operan a la baja en futuros</a:t>
            </a:r>
            <a:endParaRPr lang="en-US" sz="1350" dirty="0"/>
          </a:p>
        </p:txBody>
      </p:sp>
      <p:sp>
        <p:nvSpPr>
          <p:cNvPr id="21" name="Text 19"/>
          <p:cNvSpPr/>
          <p:nvPr/>
        </p:nvSpPr>
        <p:spPr>
          <a:xfrm>
            <a:off x="6455664" y="3657600"/>
            <a:ext cx="4882896" cy="621792"/>
          </a:xfrm>
          <a:prstGeom prst="rect">
            <a:avLst/>
          </a:prstGeom>
          <a:noFill/>
          <a:ln/>
        </p:spPr>
        <p:txBody>
          <a:bodyPr wrap="square" lIns="0" tIns="0" rIns="0" bIns="0" rtlCol="0" anchor="t"/>
          <a:lstStyle/>
          <a:p>
            <a:pPr indent="0" marL="0">
              <a:lnSpc>
                <a:spcPct val="112000"/>
              </a:lnSpc>
              <a:buNone/>
            </a:pPr>
            <a:r>
              <a:rPr lang="en-US" sz="1100" dirty="0">
                <a:solidFill>
                  <a:srgbClr val="9DB2C4"/>
                </a:solidFill>
                <a:latin typeface="Calibri" pitchFamily="34" charset="0"/>
                <a:ea typeface="Calibri" pitchFamily="34" charset="-122"/>
                <a:cs typeface="Calibri" pitchFamily="34" charset="-120"/>
              </a:rPr>
              <a:t>En las seis estrategias se probó el lado corto, no tenía ventaja y se eliminó del código.</a:t>
            </a:r>
            <a:endParaRPr lang="en-US" sz="1100" dirty="0"/>
          </a:p>
        </p:txBody>
      </p:sp>
      <p:sp>
        <p:nvSpPr>
          <p:cNvPr id="22" name="Shape 20"/>
          <p:cNvSpPr/>
          <p:nvPr/>
        </p:nvSpPr>
        <p:spPr>
          <a:xfrm>
            <a:off x="566928" y="4553712"/>
            <a:ext cx="5413248" cy="118872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3" name="Shape 21"/>
          <p:cNvSpPr/>
          <p:nvPr/>
        </p:nvSpPr>
        <p:spPr>
          <a:xfrm>
            <a:off x="566928" y="4553712"/>
            <a:ext cx="64008" cy="1188720"/>
          </a:xfrm>
          <a:prstGeom prst="rect">
            <a:avLst/>
          </a:prstGeom>
          <a:solidFill>
            <a:srgbClr val="F04438"/>
          </a:solidFill>
          <a:ln w="12700">
            <a:solidFill>
              <a:srgbClr val="F04438"/>
            </a:solidFill>
            <a:prstDash val="solid"/>
          </a:ln>
        </p:spPr>
      </p:sp>
      <p:sp>
        <p:nvSpPr>
          <p:cNvPr id="24" name="Text 22"/>
          <p:cNvSpPr/>
          <p:nvPr/>
        </p:nvSpPr>
        <p:spPr>
          <a:xfrm>
            <a:off x="841248" y="4700016"/>
            <a:ext cx="4846320" cy="292608"/>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No se saltan su propio filtro</a:t>
            </a:r>
            <a:endParaRPr lang="en-US" sz="1350" dirty="0"/>
          </a:p>
        </p:txBody>
      </p:sp>
      <p:sp>
        <p:nvSpPr>
          <p:cNvPr id="25" name="Text 23"/>
          <p:cNvSpPr/>
          <p:nvPr/>
        </p:nvSpPr>
        <p:spPr>
          <a:xfrm>
            <a:off x="841248" y="5010912"/>
            <a:ext cx="4882896" cy="621792"/>
          </a:xfrm>
          <a:prstGeom prst="rect">
            <a:avLst/>
          </a:prstGeom>
          <a:noFill/>
          <a:ln/>
        </p:spPr>
        <p:txBody>
          <a:bodyPr wrap="square" lIns="0" tIns="0" rIns="0" bIns="0" rtlCol="0" anchor="t"/>
          <a:lstStyle/>
          <a:p>
            <a:pPr indent="0" marL="0">
              <a:lnSpc>
                <a:spcPct val="112000"/>
              </a:lnSpc>
              <a:buNone/>
            </a:pPr>
            <a:r>
              <a:rPr lang="en-US" sz="1100" dirty="0">
                <a:solidFill>
                  <a:srgbClr val="9DB2C4"/>
                </a:solidFill>
                <a:latin typeface="Calibri" pitchFamily="34" charset="0"/>
                <a:ea typeface="Calibri" pitchFamily="34" charset="-122"/>
                <a:cs typeface="Calibri" pitchFamily="34" charset="-120"/>
              </a:rPr>
              <a:t>Ningún paso rescata a un candidato descartado por el paso anterior.</a:t>
            </a:r>
            <a:endParaRPr lang="en-US" sz="1100" dirty="0"/>
          </a:p>
        </p:txBody>
      </p:sp>
      <p:sp>
        <p:nvSpPr>
          <p:cNvPr id="26" name="Shape 24"/>
          <p:cNvSpPr/>
          <p:nvPr/>
        </p:nvSpPr>
        <p:spPr>
          <a:xfrm>
            <a:off x="6181344" y="4553712"/>
            <a:ext cx="5413248" cy="118872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7" name="Shape 25"/>
          <p:cNvSpPr/>
          <p:nvPr/>
        </p:nvSpPr>
        <p:spPr>
          <a:xfrm>
            <a:off x="6181344" y="4553712"/>
            <a:ext cx="64008" cy="1188720"/>
          </a:xfrm>
          <a:prstGeom prst="rect">
            <a:avLst/>
          </a:prstGeom>
          <a:solidFill>
            <a:srgbClr val="F04438"/>
          </a:solidFill>
          <a:ln w="12700">
            <a:solidFill>
              <a:srgbClr val="F04438"/>
            </a:solidFill>
            <a:prstDash val="solid"/>
          </a:ln>
        </p:spPr>
      </p:sp>
      <p:sp>
        <p:nvSpPr>
          <p:cNvPr id="28" name="Text 26"/>
          <p:cNvSpPr/>
          <p:nvPr/>
        </p:nvSpPr>
        <p:spPr>
          <a:xfrm>
            <a:off x="6455664" y="4700016"/>
            <a:ext cx="4846320" cy="292608"/>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No inventan un precio</a:t>
            </a:r>
            <a:endParaRPr lang="en-US" sz="1350" dirty="0"/>
          </a:p>
        </p:txBody>
      </p:sp>
      <p:sp>
        <p:nvSpPr>
          <p:cNvPr id="29" name="Text 27"/>
          <p:cNvSpPr/>
          <p:nvPr/>
        </p:nvSpPr>
        <p:spPr>
          <a:xfrm>
            <a:off x="6455664" y="5010912"/>
            <a:ext cx="4882896" cy="621792"/>
          </a:xfrm>
          <a:prstGeom prst="rect">
            <a:avLst/>
          </a:prstGeom>
          <a:noFill/>
          <a:ln/>
        </p:spPr>
        <p:txBody>
          <a:bodyPr wrap="square" lIns="0" tIns="0" rIns="0" bIns="0" rtlCol="0" anchor="t"/>
          <a:lstStyle/>
          <a:p>
            <a:pPr indent="0" marL="0">
              <a:lnSpc>
                <a:spcPct val="112000"/>
              </a:lnSpc>
              <a:buNone/>
            </a:pPr>
            <a:r>
              <a:rPr lang="en-US" sz="1100" dirty="0">
                <a:solidFill>
                  <a:srgbClr val="9DB2C4"/>
                </a:solidFill>
                <a:latin typeface="Calibri" pitchFamily="34" charset="0"/>
                <a:ea typeface="Calibri" pitchFamily="34" charset="-122"/>
                <a:cs typeface="Calibri" pitchFamily="34" charset="-120"/>
              </a:rPr>
              <a:t>Si el mercado no da precio real de entrada, la recomendación se descarta entera.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ARQUITECTURA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06</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¿Monolito o microservicios?</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La respuesta honesta: un monolito modular, más un único servicio aparte.</a:t>
            </a:r>
            <a:endParaRPr lang="en-US" sz="1450" dirty="0"/>
          </a:p>
        </p:txBody>
      </p:sp>
      <p:sp>
        <p:nvSpPr>
          <p:cNvPr id="6" name="Shape 4"/>
          <p:cNvSpPr/>
          <p:nvPr/>
        </p:nvSpPr>
        <p:spPr>
          <a:xfrm>
            <a:off x="566928" y="1847088"/>
            <a:ext cx="5413248" cy="2395728"/>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847088"/>
            <a:ext cx="64008" cy="2395728"/>
          </a:xfrm>
          <a:prstGeom prst="rect">
            <a:avLst/>
          </a:prstGeom>
          <a:solidFill>
            <a:srgbClr val="4D95D0"/>
          </a:solidFill>
          <a:ln w="12700">
            <a:solidFill>
              <a:srgbClr val="4D95D0"/>
            </a:solidFill>
            <a:prstDash val="solid"/>
          </a:ln>
        </p:spPr>
      </p:sp>
      <p:sp>
        <p:nvSpPr>
          <p:cNvPr id="8" name="Text 6"/>
          <p:cNvSpPr/>
          <p:nvPr/>
        </p:nvSpPr>
        <p:spPr>
          <a:xfrm>
            <a:off x="841248" y="2029968"/>
            <a:ext cx="4572000" cy="237744"/>
          </a:xfrm>
          <a:prstGeom prst="rect">
            <a:avLst/>
          </a:prstGeom>
          <a:noFill/>
          <a:ln/>
        </p:spPr>
        <p:txBody>
          <a:bodyPr wrap="square" lIns="0" tIns="0" rIns="0" bIns="0" rtlCol="0" anchor="ctr"/>
          <a:lstStyle/>
          <a:p>
            <a:pPr indent="0" marL="0">
              <a:buNone/>
            </a:pPr>
            <a:r>
              <a:rPr lang="en-US" sz="1100" spc="160" kern="0" dirty="0">
                <a:solidFill>
                  <a:srgbClr val="4D95D0"/>
                </a:solidFill>
                <a:latin typeface="Consolas" pitchFamily="34" charset="0"/>
                <a:ea typeface="Consolas" pitchFamily="34" charset="-122"/>
                <a:cs typeface="Consolas" pitchFamily="34" charset="-120"/>
              </a:rPr>
              <a:t>SERVICIO 1 · EL MONOLITO</a:t>
            </a:r>
            <a:endParaRPr lang="en-US" sz="1100" dirty="0"/>
          </a:p>
        </p:txBody>
      </p:sp>
      <p:sp>
        <p:nvSpPr>
          <p:cNvPr id="9" name="Text 7"/>
          <p:cNvSpPr/>
          <p:nvPr/>
        </p:nvSpPr>
        <p:spPr>
          <a:xfrm>
            <a:off x="822960" y="2304288"/>
            <a:ext cx="4846320" cy="365760"/>
          </a:xfrm>
          <a:prstGeom prst="rect">
            <a:avLst/>
          </a:prstGeom>
          <a:noFill/>
          <a:ln/>
        </p:spPr>
        <p:txBody>
          <a:bodyPr wrap="square" lIns="0" tIns="0" rIns="0" bIns="0" rtlCol="0" anchor="ctr"/>
          <a:lstStyle/>
          <a:p>
            <a:pPr indent="0" marL="0">
              <a:buNone/>
            </a:pPr>
            <a:r>
              <a:rPr lang="en-US" sz="1900" b="1" dirty="0">
                <a:solidFill>
                  <a:srgbClr val="F2F6FA"/>
                </a:solidFill>
                <a:latin typeface="Georgia" pitchFamily="34" charset="0"/>
                <a:ea typeface="Georgia" pitchFamily="34" charset="-122"/>
                <a:cs typeface="Georgia" pitchFamily="34" charset="-120"/>
              </a:rPr>
              <a:t>Next.js 16.2.1 · App Router</a:t>
            </a:r>
            <a:endParaRPr lang="en-US" sz="1900" dirty="0"/>
          </a:p>
        </p:txBody>
      </p:sp>
      <p:sp>
        <p:nvSpPr>
          <p:cNvPr id="10" name="Text 8"/>
          <p:cNvSpPr/>
          <p:nvPr/>
        </p:nvSpPr>
        <p:spPr>
          <a:xfrm>
            <a:off x="841248" y="2743200"/>
            <a:ext cx="4882896" cy="13716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9DB2C4"/>
                </a:solidFill>
                <a:latin typeface="Calibri" pitchFamily="34" charset="0"/>
                <a:ea typeface="Calibri" pitchFamily="34" charset="-122"/>
                <a:cs typeface="Calibri" pitchFamily="34" charset="-120"/>
              </a:rPr>
              <a:t>Interfaz, API y lógica de negocio en un mismo despliegue</a:t>
            </a:r>
            <a:endParaRPr lang="en-US" sz="1150" dirty="0"/>
          </a:p>
          <a:p>
            <a:pPr marL="177800" indent="-177800">
              <a:spcAft>
                <a:spcPts val="600"/>
              </a:spcAft>
              <a:buSzPct val="100000"/>
              <a:buChar char="•"/>
            </a:pPr>
            <a:r>
              <a:rPr lang="en-US" sz="1150" dirty="0">
                <a:solidFill>
                  <a:srgbClr val="9DB2C4"/>
                </a:solidFill>
                <a:latin typeface="Calibri" pitchFamily="34" charset="0"/>
                <a:ea typeface="Calibri" pitchFamily="34" charset="-122"/>
                <a:cs typeface="Calibri" pitchFamily="34" charset="-120"/>
              </a:rPr>
              <a:t>38 rutas de API, todas en runtime Node</a:t>
            </a:r>
            <a:endParaRPr lang="en-US" sz="1150" dirty="0"/>
          </a:p>
          <a:p>
            <a:pPr marL="177800" indent="-177800">
              <a:spcAft>
                <a:spcPts val="600"/>
              </a:spcAft>
              <a:buSzPct val="100000"/>
              <a:buChar char="•"/>
            </a:pPr>
            <a:r>
              <a:rPr lang="en-US" sz="1150" dirty="0">
                <a:solidFill>
                  <a:srgbClr val="9DB2C4"/>
                </a:solidFill>
                <a:latin typeface="Calibri" pitchFamily="34" charset="0"/>
                <a:ea typeface="Calibri" pitchFamily="34" charset="-122"/>
                <a:cs typeface="Calibri" pitchFamily="34" charset="-120"/>
              </a:rPr>
              <a:t>Sin colas, sin workers, sin funciones en el borde</a:t>
            </a:r>
            <a:endParaRPr lang="en-US" sz="1150" dirty="0"/>
          </a:p>
          <a:p>
            <a:pPr marL="177800" indent="-177800">
              <a:spcAft>
                <a:spcPts val="600"/>
              </a:spcAft>
              <a:buSzPct val="100000"/>
              <a:buChar char="•"/>
            </a:pPr>
            <a:r>
              <a:rPr lang="en-US" sz="1150" dirty="0">
                <a:solidFill>
                  <a:srgbClr val="9DB2C4"/>
                </a:solidFill>
                <a:latin typeface="Calibri" pitchFamily="34" charset="0"/>
                <a:ea typeface="Calibri" pitchFamily="34" charset="-122"/>
                <a:cs typeface="Calibri" pitchFamily="34" charset="-120"/>
              </a:rPr>
              <a:t>Un solo despliegue que subir y una sola versión que auditar</a:t>
            </a:r>
            <a:endParaRPr lang="en-US" sz="1150" dirty="0"/>
          </a:p>
        </p:txBody>
      </p:sp>
      <p:sp>
        <p:nvSpPr>
          <p:cNvPr id="11" name="Shape 9"/>
          <p:cNvSpPr/>
          <p:nvPr/>
        </p:nvSpPr>
        <p:spPr>
          <a:xfrm>
            <a:off x="6181344" y="1847088"/>
            <a:ext cx="5413248" cy="239572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2" name="Shape 10"/>
          <p:cNvSpPr/>
          <p:nvPr/>
        </p:nvSpPr>
        <p:spPr>
          <a:xfrm>
            <a:off x="6181344" y="1847088"/>
            <a:ext cx="64008" cy="2395728"/>
          </a:xfrm>
          <a:prstGeom prst="rect">
            <a:avLst/>
          </a:prstGeom>
          <a:solidFill>
            <a:srgbClr val="8B8FF0"/>
          </a:solidFill>
          <a:ln w="12700">
            <a:solidFill>
              <a:srgbClr val="8B8FF0"/>
            </a:solidFill>
            <a:prstDash val="solid"/>
          </a:ln>
        </p:spPr>
      </p:sp>
      <p:sp>
        <p:nvSpPr>
          <p:cNvPr id="13" name="Text 11"/>
          <p:cNvSpPr/>
          <p:nvPr/>
        </p:nvSpPr>
        <p:spPr>
          <a:xfrm>
            <a:off x="6455664" y="2029968"/>
            <a:ext cx="4572000" cy="237744"/>
          </a:xfrm>
          <a:prstGeom prst="rect">
            <a:avLst/>
          </a:prstGeom>
          <a:noFill/>
          <a:ln/>
        </p:spPr>
        <p:txBody>
          <a:bodyPr wrap="square" lIns="0" tIns="0" rIns="0" bIns="0" rtlCol="0" anchor="ctr"/>
          <a:lstStyle/>
          <a:p>
            <a:pPr indent="0" marL="0">
              <a:buNone/>
            </a:pPr>
            <a:r>
              <a:rPr lang="en-US" sz="1100" spc="160" kern="0" dirty="0">
                <a:solidFill>
                  <a:srgbClr val="8B8FF0"/>
                </a:solidFill>
                <a:latin typeface="Consolas" pitchFamily="34" charset="0"/>
                <a:ea typeface="Consolas" pitchFamily="34" charset="-122"/>
                <a:cs typeface="Consolas" pitchFamily="34" charset="-120"/>
              </a:rPr>
              <a:t>SERVICIO 2 · EL ESPECIALISTA</a:t>
            </a:r>
            <a:endParaRPr lang="en-US" sz="1100" dirty="0"/>
          </a:p>
        </p:txBody>
      </p:sp>
      <p:sp>
        <p:nvSpPr>
          <p:cNvPr id="14" name="Text 12"/>
          <p:cNvSpPr/>
          <p:nvPr/>
        </p:nvSpPr>
        <p:spPr>
          <a:xfrm>
            <a:off x="6437376" y="2304288"/>
            <a:ext cx="4846320" cy="365760"/>
          </a:xfrm>
          <a:prstGeom prst="rect">
            <a:avLst/>
          </a:prstGeom>
          <a:noFill/>
          <a:ln/>
        </p:spPr>
        <p:txBody>
          <a:bodyPr wrap="square" lIns="0" tIns="0" rIns="0" bIns="0" rtlCol="0" anchor="ctr"/>
          <a:lstStyle/>
          <a:p>
            <a:pPr indent="0" marL="0">
              <a:buNone/>
            </a:pPr>
            <a:r>
              <a:rPr lang="en-US" sz="1900" b="1" dirty="0">
                <a:solidFill>
                  <a:srgbClr val="F2F6FA"/>
                </a:solidFill>
                <a:latin typeface="Georgia" pitchFamily="34" charset="0"/>
                <a:ea typeface="Georgia" pitchFamily="34" charset="-122"/>
                <a:cs typeface="Georgia" pitchFamily="34" charset="-120"/>
              </a:rPr>
              <a:t>FastAPI · Python 3.11</a:t>
            </a:r>
            <a:endParaRPr lang="en-US" sz="1900" dirty="0"/>
          </a:p>
        </p:txBody>
      </p:sp>
      <p:sp>
        <p:nvSpPr>
          <p:cNvPr id="15" name="Text 13"/>
          <p:cNvSpPr/>
          <p:nvPr/>
        </p:nvSpPr>
        <p:spPr>
          <a:xfrm>
            <a:off x="6455664" y="2743200"/>
            <a:ext cx="4882896" cy="13716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9DB2C4"/>
                </a:solidFill>
                <a:latin typeface="Calibri" pitchFamily="34" charset="0"/>
                <a:ea typeface="Calibri" pitchFamily="34" charset="-122"/>
                <a:cs typeface="Calibri" pitchFamily="34" charset="-120"/>
              </a:rPr>
              <a:t>Solo el módulo de inferencia causal, que necesita el ecosistema científico de Python</a:t>
            </a:r>
            <a:endParaRPr lang="en-US" sz="1150" dirty="0"/>
          </a:p>
          <a:p>
            <a:pPr marL="177800" indent="-177800">
              <a:spcAft>
                <a:spcPts val="600"/>
              </a:spcAft>
              <a:buSzPct val="100000"/>
              <a:buChar char="•"/>
            </a:pPr>
            <a:r>
              <a:rPr lang="en-US" sz="1150" dirty="0">
                <a:solidFill>
                  <a:srgbClr val="9DB2C4"/>
                </a:solidFill>
                <a:latin typeface="Calibri" pitchFamily="34" charset="0"/>
                <a:ea typeface="Calibri" pitchFamily="34" charset="-122"/>
                <a:cs typeface="Calibri" pitchFamily="34" charset="-120"/>
              </a:rPr>
              <a:t>Servicio privado: no se expone a internet</a:t>
            </a:r>
            <a:endParaRPr lang="en-US" sz="1150" dirty="0"/>
          </a:p>
          <a:p>
            <a:pPr marL="177800" indent="-177800">
              <a:spcAft>
                <a:spcPts val="600"/>
              </a:spcAft>
              <a:buSzPct val="100000"/>
              <a:buChar char="•"/>
            </a:pPr>
            <a:r>
              <a:rPr lang="en-US" sz="1150" dirty="0">
                <a:solidFill>
                  <a:srgbClr val="9DB2C4"/>
                </a:solidFill>
                <a:latin typeface="Calibri" pitchFamily="34" charset="0"/>
                <a:ea typeface="Calibri" pitchFamily="34" charset="-122"/>
                <a:cs typeface="Calibri" pitchFamily="34" charset="-120"/>
              </a:rPr>
              <a:t>Se habla con el monolito por una puerta única y con clave</a:t>
            </a:r>
            <a:endParaRPr lang="en-US" sz="1150" dirty="0"/>
          </a:p>
        </p:txBody>
      </p:sp>
      <p:sp>
        <p:nvSpPr>
          <p:cNvPr id="16" name="Shape 14"/>
          <p:cNvSpPr/>
          <p:nvPr/>
        </p:nvSpPr>
        <p:spPr>
          <a:xfrm>
            <a:off x="566928" y="4443984"/>
            <a:ext cx="11027664" cy="1042416"/>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7" name="Shape 15"/>
          <p:cNvSpPr/>
          <p:nvPr/>
        </p:nvSpPr>
        <p:spPr>
          <a:xfrm>
            <a:off x="566928" y="4443984"/>
            <a:ext cx="64008" cy="1042416"/>
          </a:xfrm>
          <a:prstGeom prst="rect">
            <a:avLst/>
          </a:prstGeom>
          <a:solidFill>
            <a:srgbClr val="E0A458"/>
          </a:solidFill>
          <a:ln w="12700">
            <a:solidFill>
              <a:srgbClr val="E0A458"/>
            </a:solidFill>
            <a:prstDash val="solid"/>
          </a:ln>
        </p:spPr>
      </p:sp>
      <p:sp>
        <p:nvSpPr>
          <p:cNvPr id="18" name="Text 16"/>
          <p:cNvSpPr/>
          <p:nvPr/>
        </p:nvSpPr>
        <p:spPr>
          <a:xfrm>
            <a:off x="841248" y="4443984"/>
            <a:ext cx="10515600" cy="1042416"/>
          </a:xfrm>
          <a:prstGeom prst="rect">
            <a:avLst/>
          </a:prstGeom>
          <a:noFill/>
          <a:ln/>
        </p:spPr>
        <p:txBody>
          <a:bodyPr wrap="square" lIns="0" tIns="0" rIns="0" bIns="0" rtlCol="0" anchor="ctr"/>
          <a:lstStyle/>
          <a:p>
            <a:pPr indent="0" marL="0">
              <a:lnSpc>
                <a:spcPct val="114000"/>
              </a:lnSpc>
              <a:buNone/>
            </a:pPr>
            <a:r>
              <a:rPr lang="en-US" sz="1250" b="1" dirty="0">
                <a:solidFill>
                  <a:srgbClr val="E0A458"/>
                </a:solidFill>
                <a:latin typeface="Calibri" pitchFamily="34" charset="0"/>
                <a:ea typeface="Calibri" pitchFamily="34" charset="-122"/>
                <a:cs typeface="Calibri" pitchFamily="34" charset="-120"/>
              </a:rPr>
              <a:t>Veredicto:  </a:t>
            </a:r>
            <a:pPr indent="0" marL="0">
              <a:lnSpc>
                <a:spcPct val="114000"/>
              </a:lnSpc>
              <a:buNone/>
            </a:pPr>
            <a:r>
              <a:rPr lang="en-US" sz="1250" dirty="0">
                <a:solidFill>
                  <a:srgbClr val="9DB2C4"/>
                </a:solidFill>
                <a:latin typeface="Calibri" pitchFamily="34" charset="0"/>
                <a:ea typeface="Calibri" pitchFamily="34" charset="-122"/>
                <a:cs typeface="Calibri" pitchFamily="34" charset="-120"/>
              </a:rPr>
              <a:t>no son microservicios. Son dos servicios con un contrato explícito. Se eligió así porque un equipo de una persona paga el coste de los microservicios (despliegues, versiones, trazas) sin recibir su beneficio; el único trozo que de verdad necesitaba salir fue el que no podía escribirse en TypeScript.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ARQUITECTURA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07</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El recorrido de una decisión</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De la pulsación del navegador al registro en base de datos.</a:t>
            </a:r>
            <a:endParaRPr lang="en-US" sz="1450" dirty="0"/>
          </a:p>
        </p:txBody>
      </p:sp>
      <p:sp>
        <p:nvSpPr>
          <p:cNvPr id="6" name="Shape 4"/>
          <p:cNvSpPr/>
          <p:nvPr/>
        </p:nvSpPr>
        <p:spPr>
          <a:xfrm>
            <a:off x="566928" y="1965960"/>
            <a:ext cx="1828800" cy="841248"/>
          </a:xfrm>
          <a:prstGeom prst="rect">
            <a:avLst/>
          </a:prstGeom>
          <a:solidFill>
            <a:srgbClr val="12293B"/>
          </a:solidFill>
          <a:ln w="13970">
            <a:solidFill>
              <a:srgbClr val="9DB2C4"/>
            </a:solidFill>
            <a:prstDash val="solid"/>
          </a:ln>
        </p:spPr>
      </p:sp>
      <p:sp>
        <p:nvSpPr>
          <p:cNvPr id="7" name="Text 5"/>
          <p:cNvSpPr/>
          <p:nvPr/>
        </p:nvSpPr>
        <p:spPr>
          <a:xfrm>
            <a:off x="694944" y="2057400"/>
            <a:ext cx="157276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Navegador</a:t>
            </a:r>
            <a:endParaRPr lang="en-US" sz="1200" dirty="0"/>
          </a:p>
        </p:txBody>
      </p:sp>
      <p:sp>
        <p:nvSpPr>
          <p:cNvPr id="8" name="Text 6"/>
          <p:cNvSpPr/>
          <p:nvPr/>
        </p:nvSpPr>
        <p:spPr>
          <a:xfrm>
            <a:off x="694944" y="2350008"/>
            <a:ext cx="1572768" cy="365760"/>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Panel del gestor</a:t>
            </a:r>
            <a:endParaRPr lang="en-US" sz="950" dirty="0"/>
          </a:p>
        </p:txBody>
      </p:sp>
      <p:sp>
        <p:nvSpPr>
          <p:cNvPr id="9" name="Shape 7"/>
          <p:cNvSpPr/>
          <p:nvPr/>
        </p:nvSpPr>
        <p:spPr>
          <a:xfrm>
            <a:off x="2468880" y="2286000"/>
            <a:ext cx="274320" cy="201168"/>
          </a:xfrm>
          <a:prstGeom prst="rightArrow">
            <a:avLst/>
          </a:prstGeom>
          <a:solidFill>
            <a:srgbClr val="6B8299"/>
          </a:solidFill>
          <a:ln w="12700">
            <a:solidFill>
              <a:srgbClr val="6B8299"/>
            </a:solidFill>
            <a:prstDash val="solid"/>
          </a:ln>
        </p:spPr>
      </p:sp>
      <p:sp>
        <p:nvSpPr>
          <p:cNvPr id="10" name="Shape 8"/>
          <p:cNvSpPr/>
          <p:nvPr/>
        </p:nvSpPr>
        <p:spPr>
          <a:xfrm>
            <a:off x="2834640" y="1965960"/>
            <a:ext cx="1920240" cy="841248"/>
          </a:xfrm>
          <a:prstGeom prst="rect">
            <a:avLst/>
          </a:prstGeom>
          <a:solidFill>
            <a:srgbClr val="12293B"/>
          </a:solidFill>
          <a:ln w="13970">
            <a:solidFill>
              <a:srgbClr val="F04438"/>
            </a:solidFill>
            <a:prstDash val="solid"/>
          </a:ln>
        </p:spPr>
      </p:sp>
      <p:sp>
        <p:nvSpPr>
          <p:cNvPr id="11" name="Text 9"/>
          <p:cNvSpPr/>
          <p:nvPr/>
        </p:nvSpPr>
        <p:spPr>
          <a:xfrm>
            <a:off x="2962656" y="2057400"/>
            <a:ext cx="166420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Proxy de sesión</a:t>
            </a:r>
            <a:endParaRPr lang="en-US" sz="1200" dirty="0"/>
          </a:p>
        </p:txBody>
      </p:sp>
      <p:sp>
        <p:nvSpPr>
          <p:cNvPr id="12" name="Text 10"/>
          <p:cNvSpPr/>
          <p:nvPr/>
        </p:nvSpPr>
        <p:spPr>
          <a:xfrm>
            <a:off x="2962656" y="2350008"/>
            <a:ext cx="1664208" cy="365760"/>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src/proxy.ts</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refresca y protege</a:t>
            </a:r>
            <a:endParaRPr lang="en-US" sz="950" dirty="0"/>
          </a:p>
        </p:txBody>
      </p:sp>
      <p:sp>
        <p:nvSpPr>
          <p:cNvPr id="13" name="Shape 11"/>
          <p:cNvSpPr/>
          <p:nvPr/>
        </p:nvSpPr>
        <p:spPr>
          <a:xfrm>
            <a:off x="4828032" y="2286000"/>
            <a:ext cx="274320" cy="201168"/>
          </a:xfrm>
          <a:prstGeom prst="rightArrow">
            <a:avLst/>
          </a:prstGeom>
          <a:solidFill>
            <a:srgbClr val="6B8299"/>
          </a:solidFill>
          <a:ln w="12700">
            <a:solidFill>
              <a:srgbClr val="6B8299"/>
            </a:solidFill>
            <a:prstDash val="solid"/>
          </a:ln>
        </p:spPr>
      </p:sp>
      <p:sp>
        <p:nvSpPr>
          <p:cNvPr id="14" name="Shape 12"/>
          <p:cNvSpPr/>
          <p:nvPr/>
        </p:nvSpPr>
        <p:spPr>
          <a:xfrm>
            <a:off x="5193792" y="1965960"/>
            <a:ext cx="2103120" cy="841248"/>
          </a:xfrm>
          <a:prstGeom prst="rect">
            <a:avLst/>
          </a:prstGeom>
          <a:solidFill>
            <a:srgbClr val="12293B"/>
          </a:solidFill>
          <a:ln w="13970">
            <a:solidFill>
              <a:srgbClr val="4D95D0"/>
            </a:solidFill>
            <a:prstDash val="solid"/>
          </a:ln>
        </p:spPr>
      </p:sp>
      <p:sp>
        <p:nvSpPr>
          <p:cNvPr id="15" name="Text 13"/>
          <p:cNvSpPr/>
          <p:nvPr/>
        </p:nvSpPr>
        <p:spPr>
          <a:xfrm>
            <a:off x="5321808" y="2057400"/>
            <a:ext cx="184708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Rutas de API</a:t>
            </a:r>
            <a:endParaRPr lang="en-US" sz="1200" dirty="0"/>
          </a:p>
        </p:txBody>
      </p:sp>
      <p:sp>
        <p:nvSpPr>
          <p:cNvPr id="16" name="Text 14"/>
          <p:cNvSpPr/>
          <p:nvPr/>
        </p:nvSpPr>
        <p:spPr>
          <a:xfrm>
            <a:off x="5321808" y="2350008"/>
            <a:ext cx="1847088" cy="365760"/>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38 handlers Node</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orquestan, no calculan</a:t>
            </a:r>
            <a:endParaRPr lang="en-US" sz="950" dirty="0"/>
          </a:p>
        </p:txBody>
      </p:sp>
      <p:sp>
        <p:nvSpPr>
          <p:cNvPr id="17" name="Shape 15"/>
          <p:cNvSpPr/>
          <p:nvPr/>
        </p:nvSpPr>
        <p:spPr>
          <a:xfrm>
            <a:off x="7370064" y="2286000"/>
            <a:ext cx="274320" cy="201168"/>
          </a:xfrm>
          <a:prstGeom prst="rightArrow">
            <a:avLst/>
          </a:prstGeom>
          <a:solidFill>
            <a:srgbClr val="6B8299"/>
          </a:solidFill>
          <a:ln w="12700">
            <a:solidFill>
              <a:srgbClr val="6B8299"/>
            </a:solidFill>
            <a:prstDash val="solid"/>
          </a:ln>
        </p:spPr>
      </p:sp>
      <p:sp>
        <p:nvSpPr>
          <p:cNvPr id="18" name="Shape 16"/>
          <p:cNvSpPr/>
          <p:nvPr/>
        </p:nvSpPr>
        <p:spPr>
          <a:xfrm>
            <a:off x="7735824" y="1965960"/>
            <a:ext cx="2103120" cy="841248"/>
          </a:xfrm>
          <a:prstGeom prst="rect">
            <a:avLst/>
          </a:prstGeom>
          <a:solidFill>
            <a:srgbClr val="12293B"/>
          </a:solidFill>
          <a:ln w="13970">
            <a:solidFill>
              <a:srgbClr val="10B981"/>
            </a:solidFill>
            <a:prstDash val="solid"/>
          </a:ln>
        </p:spPr>
      </p:sp>
      <p:sp>
        <p:nvSpPr>
          <p:cNvPr id="19" name="Text 17"/>
          <p:cNvSpPr/>
          <p:nvPr/>
        </p:nvSpPr>
        <p:spPr>
          <a:xfrm>
            <a:off x="7863840" y="2057400"/>
            <a:ext cx="184708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Núcleo src/lib</a:t>
            </a:r>
            <a:endParaRPr lang="en-US" sz="1200" dirty="0"/>
          </a:p>
        </p:txBody>
      </p:sp>
      <p:sp>
        <p:nvSpPr>
          <p:cNvPr id="20" name="Text 18"/>
          <p:cNvSpPr/>
          <p:nvPr/>
        </p:nvSpPr>
        <p:spPr>
          <a:xfrm>
            <a:off x="7863840" y="2350008"/>
            <a:ext cx="1847088" cy="365760"/>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~80 módulos puros</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aquí vive el criterio</a:t>
            </a:r>
            <a:endParaRPr lang="en-US" sz="950" dirty="0"/>
          </a:p>
        </p:txBody>
      </p:sp>
      <p:sp>
        <p:nvSpPr>
          <p:cNvPr id="21" name="Text 19"/>
          <p:cNvSpPr/>
          <p:nvPr/>
        </p:nvSpPr>
        <p:spPr>
          <a:xfrm>
            <a:off x="566928" y="3017520"/>
            <a:ext cx="5486400" cy="237744"/>
          </a:xfrm>
          <a:prstGeom prst="rect">
            <a:avLst/>
          </a:prstGeom>
          <a:noFill/>
          <a:ln/>
        </p:spPr>
        <p:txBody>
          <a:bodyPr wrap="square" lIns="0" tIns="0" rIns="0" bIns="0" rtlCol="0" anchor="ctr"/>
          <a:lstStyle/>
          <a:p>
            <a:pPr indent="0" marL="0">
              <a:buNone/>
            </a:pPr>
            <a:r>
              <a:rPr lang="en-US" sz="1000" spc="160" kern="0" dirty="0">
                <a:solidFill>
                  <a:srgbClr val="6B8299"/>
                </a:solidFill>
                <a:latin typeface="Consolas" pitchFamily="34" charset="0"/>
                <a:ea typeface="Consolas" pitchFamily="34" charset="-122"/>
                <a:cs typeface="Consolas" pitchFamily="34" charset="-120"/>
              </a:rPr>
              <a:t>FUENTES DE DATOS EXTERNAS</a:t>
            </a:r>
            <a:endParaRPr lang="en-US" sz="1000" dirty="0"/>
          </a:p>
        </p:txBody>
      </p:sp>
      <p:sp>
        <p:nvSpPr>
          <p:cNvPr id="22" name="Shape 20"/>
          <p:cNvSpPr/>
          <p:nvPr/>
        </p:nvSpPr>
        <p:spPr>
          <a:xfrm>
            <a:off x="566928" y="3310128"/>
            <a:ext cx="3529584" cy="84124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3" name="Shape 21"/>
          <p:cNvSpPr/>
          <p:nvPr/>
        </p:nvSpPr>
        <p:spPr>
          <a:xfrm>
            <a:off x="566928" y="3310128"/>
            <a:ext cx="64008" cy="841248"/>
          </a:xfrm>
          <a:prstGeom prst="rect">
            <a:avLst/>
          </a:prstGeom>
          <a:solidFill>
            <a:srgbClr val="E0A458"/>
          </a:solidFill>
          <a:ln w="12700">
            <a:solidFill>
              <a:srgbClr val="E0A458"/>
            </a:solidFill>
            <a:prstDash val="solid"/>
          </a:ln>
        </p:spPr>
      </p:sp>
      <p:sp>
        <p:nvSpPr>
          <p:cNvPr id="24" name="Text 22"/>
          <p:cNvSpPr/>
          <p:nvPr/>
        </p:nvSpPr>
        <p:spPr>
          <a:xfrm>
            <a:off x="786384" y="3401568"/>
            <a:ext cx="3108960" cy="27432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Yahoo Finance</a:t>
            </a:r>
            <a:endParaRPr lang="en-US" sz="1200" dirty="0"/>
          </a:p>
        </p:txBody>
      </p:sp>
      <p:sp>
        <p:nvSpPr>
          <p:cNvPr id="25" name="Text 23"/>
          <p:cNvSpPr/>
          <p:nvPr/>
        </p:nvSpPr>
        <p:spPr>
          <a:xfrm>
            <a:off x="786384" y="3675888"/>
            <a:ext cx="3145536" cy="402336"/>
          </a:xfrm>
          <a:prstGeom prst="rect">
            <a:avLst/>
          </a:prstGeom>
          <a:noFill/>
          <a:ln/>
        </p:spPr>
        <p:txBody>
          <a:bodyPr wrap="square" lIns="0" tIns="0" rIns="0" bIns="0" rtlCol="0" anchor="t"/>
          <a:lstStyle/>
          <a:p>
            <a:pPr indent="0" marL="0">
              <a:buNone/>
            </a:pPr>
            <a:r>
              <a:rPr lang="en-US" sz="1000" dirty="0">
                <a:solidFill>
                  <a:srgbClr val="9DB2C4"/>
                </a:solidFill>
                <a:latin typeface="Calibri" pitchFamily="34" charset="0"/>
                <a:ea typeface="Calibri" pitchFamily="34" charset="-122"/>
                <a:cs typeface="Calibri" pitchFamily="34" charset="-120"/>
              </a:rPr>
              <a:t>precios, cadenas de opciones y fundamentales</a:t>
            </a:r>
            <a:endParaRPr lang="en-US" sz="1000" dirty="0"/>
          </a:p>
        </p:txBody>
      </p:sp>
      <p:sp>
        <p:nvSpPr>
          <p:cNvPr id="26" name="Shape 24"/>
          <p:cNvSpPr/>
          <p:nvPr/>
        </p:nvSpPr>
        <p:spPr>
          <a:xfrm>
            <a:off x="4297680" y="3310128"/>
            <a:ext cx="3529584" cy="84124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7" name="Shape 25"/>
          <p:cNvSpPr/>
          <p:nvPr/>
        </p:nvSpPr>
        <p:spPr>
          <a:xfrm>
            <a:off x="4297680" y="3310128"/>
            <a:ext cx="64008" cy="841248"/>
          </a:xfrm>
          <a:prstGeom prst="rect">
            <a:avLst/>
          </a:prstGeom>
          <a:solidFill>
            <a:srgbClr val="E0A458"/>
          </a:solidFill>
          <a:ln w="12700">
            <a:solidFill>
              <a:srgbClr val="E0A458"/>
            </a:solidFill>
            <a:prstDash val="solid"/>
          </a:ln>
        </p:spPr>
      </p:sp>
      <p:sp>
        <p:nvSpPr>
          <p:cNvPr id="28" name="Text 26"/>
          <p:cNvSpPr/>
          <p:nvPr/>
        </p:nvSpPr>
        <p:spPr>
          <a:xfrm>
            <a:off x="4517136" y="3401568"/>
            <a:ext cx="3108960" cy="27432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FRED</a:t>
            </a:r>
            <a:endParaRPr lang="en-US" sz="1200" dirty="0"/>
          </a:p>
        </p:txBody>
      </p:sp>
      <p:sp>
        <p:nvSpPr>
          <p:cNvPr id="29" name="Text 27"/>
          <p:cNvSpPr/>
          <p:nvPr/>
        </p:nvSpPr>
        <p:spPr>
          <a:xfrm>
            <a:off x="4517136" y="3675888"/>
            <a:ext cx="3145536" cy="402336"/>
          </a:xfrm>
          <a:prstGeom prst="rect">
            <a:avLst/>
          </a:prstGeom>
          <a:noFill/>
          <a:ln/>
        </p:spPr>
        <p:txBody>
          <a:bodyPr wrap="square" lIns="0" tIns="0" rIns="0" bIns="0" rtlCol="0" anchor="t"/>
          <a:lstStyle/>
          <a:p>
            <a:pPr indent="0" marL="0">
              <a:buNone/>
            </a:pPr>
            <a:r>
              <a:rPr lang="en-US" sz="1000" dirty="0">
                <a:solidFill>
                  <a:srgbClr val="9DB2C4"/>
                </a:solidFill>
                <a:latin typeface="Calibri" pitchFamily="34" charset="0"/>
                <a:ea typeface="Calibri" pitchFamily="34" charset="-122"/>
                <a:cs typeface="Calibri" pitchFamily="34" charset="-120"/>
              </a:rPr>
              <a:t>series macro de la Reserva Federal</a:t>
            </a:r>
            <a:endParaRPr lang="en-US" sz="1000" dirty="0"/>
          </a:p>
        </p:txBody>
      </p:sp>
      <p:sp>
        <p:nvSpPr>
          <p:cNvPr id="30" name="Shape 28"/>
          <p:cNvSpPr/>
          <p:nvPr/>
        </p:nvSpPr>
        <p:spPr>
          <a:xfrm>
            <a:off x="8028432" y="3310128"/>
            <a:ext cx="3529584" cy="84124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1" name="Shape 29"/>
          <p:cNvSpPr/>
          <p:nvPr/>
        </p:nvSpPr>
        <p:spPr>
          <a:xfrm>
            <a:off x="8028432" y="3310128"/>
            <a:ext cx="64008" cy="841248"/>
          </a:xfrm>
          <a:prstGeom prst="rect">
            <a:avLst/>
          </a:prstGeom>
          <a:solidFill>
            <a:srgbClr val="E0A458"/>
          </a:solidFill>
          <a:ln w="12700">
            <a:solidFill>
              <a:srgbClr val="E0A458"/>
            </a:solidFill>
            <a:prstDash val="solid"/>
          </a:ln>
        </p:spPr>
      </p:sp>
      <p:sp>
        <p:nvSpPr>
          <p:cNvPr id="32" name="Text 30"/>
          <p:cNvSpPr/>
          <p:nvPr/>
        </p:nvSpPr>
        <p:spPr>
          <a:xfrm>
            <a:off x="8247888" y="3401568"/>
            <a:ext cx="3108960" cy="27432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OpenRouter</a:t>
            </a:r>
            <a:endParaRPr lang="en-US" sz="1200" dirty="0"/>
          </a:p>
        </p:txBody>
      </p:sp>
      <p:sp>
        <p:nvSpPr>
          <p:cNvPr id="33" name="Text 31"/>
          <p:cNvSpPr/>
          <p:nvPr/>
        </p:nvSpPr>
        <p:spPr>
          <a:xfrm>
            <a:off x="8247888" y="3675888"/>
            <a:ext cx="3145536" cy="402336"/>
          </a:xfrm>
          <a:prstGeom prst="rect">
            <a:avLst/>
          </a:prstGeom>
          <a:noFill/>
          <a:ln/>
        </p:spPr>
        <p:txBody>
          <a:bodyPr wrap="square" lIns="0" tIns="0" rIns="0" bIns="0" rtlCol="0" anchor="t"/>
          <a:lstStyle/>
          <a:p>
            <a:pPr indent="0" marL="0">
              <a:buNone/>
            </a:pPr>
            <a:r>
              <a:rPr lang="en-US" sz="1000" dirty="0">
                <a:solidFill>
                  <a:srgbClr val="9DB2C4"/>
                </a:solidFill>
                <a:latin typeface="Calibri" pitchFamily="34" charset="0"/>
                <a:ea typeface="Calibri" pitchFamily="34" charset="-122"/>
                <a:cs typeface="Calibri" pitchFamily="34" charset="-120"/>
              </a:rPr>
              <a:t>la capa de lenguaje que redacta el juicio</a:t>
            </a:r>
            <a:endParaRPr lang="en-US" sz="1000" dirty="0"/>
          </a:p>
        </p:txBody>
      </p:sp>
      <p:sp>
        <p:nvSpPr>
          <p:cNvPr id="34" name="Shape 32"/>
          <p:cNvSpPr/>
          <p:nvPr/>
        </p:nvSpPr>
        <p:spPr>
          <a:xfrm>
            <a:off x="566928" y="4462272"/>
            <a:ext cx="6035040" cy="102412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5" name="Shape 33"/>
          <p:cNvSpPr/>
          <p:nvPr/>
        </p:nvSpPr>
        <p:spPr>
          <a:xfrm>
            <a:off x="566928" y="4462272"/>
            <a:ext cx="64008" cy="1024128"/>
          </a:xfrm>
          <a:prstGeom prst="rect">
            <a:avLst/>
          </a:prstGeom>
          <a:solidFill>
            <a:srgbClr val="10B981"/>
          </a:solidFill>
          <a:ln w="12700">
            <a:solidFill>
              <a:srgbClr val="10B981"/>
            </a:solidFill>
            <a:prstDash val="solid"/>
          </a:ln>
        </p:spPr>
      </p:sp>
      <p:sp>
        <p:nvSpPr>
          <p:cNvPr id="36" name="Text 34"/>
          <p:cNvSpPr/>
          <p:nvPr/>
        </p:nvSpPr>
        <p:spPr>
          <a:xfrm>
            <a:off x="822960" y="4572000"/>
            <a:ext cx="2743200" cy="292608"/>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Supabase</a:t>
            </a:r>
            <a:endParaRPr lang="en-US" sz="1300" dirty="0"/>
          </a:p>
        </p:txBody>
      </p:sp>
      <p:sp>
        <p:nvSpPr>
          <p:cNvPr id="37" name="Text 35"/>
          <p:cNvSpPr/>
          <p:nvPr/>
        </p:nvSpPr>
        <p:spPr>
          <a:xfrm>
            <a:off x="822960" y="4864608"/>
            <a:ext cx="5577840" cy="548640"/>
          </a:xfrm>
          <a:prstGeom prst="rect">
            <a:avLst/>
          </a:prstGeom>
          <a:noFill/>
          <a:ln/>
        </p:spPr>
        <p:txBody>
          <a:bodyPr wrap="square" lIns="0" tIns="0" rIns="0" bIns="0" rtlCol="0" anchor="t"/>
          <a:lstStyle/>
          <a:p>
            <a:pPr indent="0" marL="0">
              <a:buNone/>
            </a:pPr>
            <a:r>
              <a:rPr lang="en-US" sz="1050" dirty="0">
                <a:solidFill>
                  <a:srgbClr val="9DB2C4"/>
                </a:solidFill>
                <a:latin typeface="Calibri" pitchFamily="34" charset="0"/>
                <a:ea typeface="Calibri" pitchFamily="34" charset="-122"/>
                <a:cs typeface="Calibri" pitchFamily="34" charset="-120"/>
              </a:rPr>
              <a:t>Base de datos, autenticación y almacenamiento. 18 migraciones y seguridad a nivel de fila en todas las tablas.</a:t>
            </a:r>
            <a:endParaRPr lang="en-US" sz="1050" dirty="0"/>
          </a:p>
        </p:txBody>
      </p:sp>
      <p:sp>
        <p:nvSpPr>
          <p:cNvPr id="38" name="Shape 36"/>
          <p:cNvSpPr/>
          <p:nvPr/>
        </p:nvSpPr>
        <p:spPr>
          <a:xfrm>
            <a:off x="6839712" y="4462272"/>
            <a:ext cx="4754880" cy="102412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9" name="Shape 37"/>
          <p:cNvSpPr/>
          <p:nvPr/>
        </p:nvSpPr>
        <p:spPr>
          <a:xfrm>
            <a:off x="6839712" y="4462272"/>
            <a:ext cx="64008" cy="1024128"/>
          </a:xfrm>
          <a:prstGeom prst="rect">
            <a:avLst/>
          </a:prstGeom>
          <a:solidFill>
            <a:srgbClr val="8B8FF0"/>
          </a:solidFill>
          <a:ln w="12700">
            <a:solidFill>
              <a:srgbClr val="8B8FF0"/>
            </a:solidFill>
            <a:prstDash val="solid"/>
          </a:ln>
        </p:spPr>
      </p:sp>
      <p:sp>
        <p:nvSpPr>
          <p:cNvPr id="40" name="Text 38"/>
          <p:cNvSpPr/>
          <p:nvPr/>
        </p:nvSpPr>
        <p:spPr>
          <a:xfrm>
            <a:off x="7095744" y="4572000"/>
            <a:ext cx="4206240" cy="292608"/>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Puerta al servicio Python</a:t>
            </a:r>
            <a:endParaRPr lang="en-US" sz="1300" dirty="0"/>
          </a:p>
        </p:txBody>
      </p:sp>
      <p:sp>
        <p:nvSpPr>
          <p:cNvPr id="41" name="Text 39"/>
          <p:cNvSpPr/>
          <p:nvPr/>
        </p:nvSpPr>
        <p:spPr>
          <a:xfrm>
            <a:off x="7095744" y="4864608"/>
            <a:ext cx="4315968" cy="548640"/>
          </a:xfrm>
          <a:prstGeom prst="rect">
            <a:avLst/>
          </a:prstGeom>
          <a:noFill/>
          <a:ln/>
        </p:spPr>
        <p:txBody>
          <a:bodyPr wrap="square" lIns="0" tIns="0" rIns="0" bIns="0" rtlCol="0" anchor="t"/>
          <a:lstStyle/>
          <a:p>
            <a:pPr indent="0" marL="0">
              <a:buNone/>
            </a:pPr>
            <a:r>
              <a:rPr lang="en-US" sz="1050" dirty="0">
                <a:solidFill>
                  <a:srgbClr val="9DB2C4"/>
                </a:solidFill>
                <a:latin typeface="Calibri" pitchFamily="34" charset="0"/>
                <a:ea typeface="Calibri" pitchFamily="34" charset="-122"/>
                <a:cs typeface="Calibri" pitchFamily="34" charset="-120"/>
              </a:rPr>
              <a:t>Una única ruta valida la sesión, firma con clave y reenvía al FastAPI privado.</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ARQUITECTURA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08</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Dónde corre la lógica de negocio</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La decisión de diseño que hace el sistema auditable.</a:t>
            </a:r>
            <a:endParaRPr lang="en-US" sz="1450" dirty="0"/>
          </a:p>
        </p:txBody>
      </p:sp>
      <p:sp>
        <p:nvSpPr>
          <p:cNvPr id="6" name="Shape 4"/>
          <p:cNvSpPr/>
          <p:nvPr/>
        </p:nvSpPr>
        <p:spPr>
          <a:xfrm>
            <a:off x="566928" y="1847088"/>
            <a:ext cx="2606040" cy="1316736"/>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847088"/>
            <a:ext cx="64008" cy="1316736"/>
          </a:xfrm>
          <a:prstGeom prst="rect">
            <a:avLst/>
          </a:prstGeom>
          <a:solidFill>
            <a:srgbClr val="4D95D0"/>
          </a:solidFill>
          <a:ln w="12700">
            <a:solidFill>
              <a:srgbClr val="4D95D0"/>
            </a:solidFill>
            <a:prstDash val="solid"/>
          </a:ln>
        </p:spPr>
      </p:sp>
      <p:sp>
        <p:nvSpPr>
          <p:cNvPr id="8" name="Text 6"/>
          <p:cNvSpPr/>
          <p:nvPr/>
        </p:nvSpPr>
        <p:spPr>
          <a:xfrm>
            <a:off x="822960" y="1993392"/>
            <a:ext cx="2194560" cy="658368"/>
          </a:xfrm>
          <a:prstGeom prst="rect">
            <a:avLst/>
          </a:prstGeom>
          <a:noFill/>
          <a:ln/>
        </p:spPr>
        <p:txBody>
          <a:bodyPr wrap="square" lIns="0" tIns="0" rIns="0" bIns="0" rtlCol="0" anchor="ctr"/>
          <a:lstStyle/>
          <a:p>
            <a:pPr algn="l" indent="0" marL="0">
              <a:buNone/>
            </a:pPr>
            <a:r>
              <a:rPr lang="en-US" sz="3200" b="1" dirty="0">
                <a:solidFill>
                  <a:srgbClr val="4D95D0"/>
                </a:solidFill>
                <a:latin typeface="Consolas" pitchFamily="34" charset="0"/>
                <a:ea typeface="Consolas" pitchFamily="34" charset="-122"/>
                <a:cs typeface="Consolas" pitchFamily="34" charset="-120"/>
              </a:rPr>
              <a:t>38</a:t>
            </a:r>
            <a:endParaRPr lang="en-US" sz="3200" dirty="0"/>
          </a:p>
        </p:txBody>
      </p:sp>
      <p:sp>
        <p:nvSpPr>
          <p:cNvPr id="9" name="Text 7"/>
          <p:cNvSpPr/>
          <p:nvPr/>
        </p:nvSpPr>
        <p:spPr>
          <a:xfrm>
            <a:off x="822960" y="2633472"/>
            <a:ext cx="2194560" cy="457200"/>
          </a:xfrm>
          <a:prstGeom prst="rect">
            <a:avLst/>
          </a:prstGeom>
          <a:noFill/>
          <a:ln/>
        </p:spPr>
        <p:txBody>
          <a:bodyPr wrap="square" lIns="0" tIns="0" rIns="0" bIns="0" rtlCol="0" anchor="t"/>
          <a:lstStyle/>
          <a:p>
            <a:pPr algn="l" indent="0" marL="0">
              <a:buNone/>
            </a:pPr>
            <a:r>
              <a:rPr lang="en-US" sz="1150" dirty="0">
                <a:solidFill>
                  <a:srgbClr val="9DB2C4"/>
                </a:solidFill>
                <a:latin typeface="Calibri" pitchFamily="34" charset="0"/>
                <a:ea typeface="Calibri" pitchFamily="34" charset="-122"/>
                <a:cs typeface="Calibri" pitchFamily="34" charset="-120"/>
              </a:rPr>
              <a:t>rutas de API</a:t>
            </a:r>
            <a:endParaRPr lang="en-US" sz="1150" dirty="0"/>
          </a:p>
        </p:txBody>
      </p:sp>
      <p:sp>
        <p:nvSpPr>
          <p:cNvPr id="10" name="Shape 8"/>
          <p:cNvSpPr/>
          <p:nvPr/>
        </p:nvSpPr>
        <p:spPr>
          <a:xfrm>
            <a:off x="3355848" y="1847088"/>
            <a:ext cx="2606040" cy="1316736"/>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1" name="Shape 9"/>
          <p:cNvSpPr/>
          <p:nvPr/>
        </p:nvSpPr>
        <p:spPr>
          <a:xfrm>
            <a:off x="3355848" y="1847088"/>
            <a:ext cx="64008" cy="1316736"/>
          </a:xfrm>
          <a:prstGeom prst="rect">
            <a:avLst/>
          </a:prstGeom>
          <a:solidFill>
            <a:srgbClr val="10B981"/>
          </a:solidFill>
          <a:ln w="12700">
            <a:solidFill>
              <a:srgbClr val="10B981"/>
            </a:solidFill>
            <a:prstDash val="solid"/>
          </a:ln>
        </p:spPr>
      </p:sp>
      <p:sp>
        <p:nvSpPr>
          <p:cNvPr id="12" name="Text 10"/>
          <p:cNvSpPr/>
          <p:nvPr/>
        </p:nvSpPr>
        <p:spPr>
          <a:xfrm>
            <a:off x="3611880" y="1993392"/>
            <a:ext cx="2194560" cy="658368"/>
          </a:xfrm>
          <a:prstGeom prst="rect">
            <a:avLst/>
          </a:prstGeom>
          <a:noFill/>
          <a:ln/>
        </p:spPr>
        <p:txBody>
          <a:bodyPr wrap="square" lIns="0" tIns="0" rIns="0" bIns="0" rtlCol="0" anchor="ctr"/>
          <a:lstStyle/>
          <a:p>
            <a:pPr algn="l" indent="0" marL="0">
              <a:buNone/>
            </a:pPr>
            <a:r>
              <a:rPr lang="en-US" sz="3200" b="1" dirty="0">
                <a:solidFill>
                  <a:srgbClr val="10B981"/>
                </a:solidFill>
                <a:latin typeface="Consolas" pitchFamily="34" charset="0"/>
                <a:ea typeface="Consolas" pitchFamily="34" charset="-122"/>
                <a:cs typeface="Consolas" pitchFamily="34" charset="-120"/>
              </a:rPr>
              <a:t>~80</a:t>
            </a:r>
            <a:endParaRPr lang="en-US" sz="3200" dirty="0"/>
          </a:p>
        </p:txBody>
      </p:sp>
      <p:sp>
        <p:nvSpPr>
          <p:cNvPr id="13" name="Text 11"/>
          <p:cNvSpPr/>
          <p:nvPr/>
        </p:nvSpPr>
        <p:spPr>
          <a:xfrm>
            <a:off x="3611880" y="2633472"/>
            <a:ext cx="2194560" cy="457200"/>
          </a:xfrm>
          <a:prstGeom prst="rect">
            <a:avLst/>
          </a:prstGeom>
          <a:noFill/>
          <a:ln/>
        </p:spPr>
        <p:txBody>
          <a:bodyPr wrap="square" lIns="0" tIns="0" rIns="0" bIns="0" rtlCol="0" anchor="t"/>
          <a:lstStyle/>
          <a:p>
            <a:pPr algn="l" indent="0" marL="0">
              <a:buNone/>
            </a:pPr>
            <a:r>
              <a:rPr lang="en-US" sz="1150" dirty="0">
                <a:solidFill>
                  <a:srgbClr val="9DB2C4"/>
                </a:solidFill>
                <a:latin typeface="Calibri" pitchFamily="34" charset="0"/>
                <a:ea typeface="Calibri" pitchFamily="34" charset="-122"/>
                <a:cs typeface="Calibri" pitchFamily="34" charset="-120"/>
              </a:rPr>
              <a:t>módulos de lógica pura</a:t>
            </a:r>
            <a:endParaRPr lang="en-US" sz="1150" dirty="0"/>
          </a:p>
        </p:txBody>
      </p:sp>
      <p:sp>
        <p:nvSpPr>
          <p:cNvPr id="14" name="Shape 12"/>
          <p:cNvSpPr/>
          <p:nvPr/>
        </p:nvSpPr>
        <p:spPr>
          <a:xfrm>
            <a:off x="6144768" y="1847088"/>
            <a:ext cx="2606040" cy="1316736"/>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5" name="Shape 13"/>
          <p:cNvSpPr/>
          <p:nvPr/>
        </p:nvSpPr>
        <p:spPr>
          <a:xfrm>
            <a:off x="6144768" y="1847088"/>
            <a:ext cx="64008" cy="1316736"/>
          </a:xfrm>
          <a:prstGeom prst="rect">
            <a:avLst/>
          </a:prstGeom>
          <a:solidFill>
            <a:srgbClr val="E0A458"/>
          </a:solidFill>
          <a:ln w="12700">
            <a:solidFill>
              <a:srgbClr val="E0A458"/>
            </a:solidFill>
            <a:prstDash val="solid"/>
          </a:ln>
        </p:spPr>
      </p:sp>
      <p:sp>
        <p:nvSpPr>
          <p:cNvPr id="16" name="Text 14"/>
          <p:cNvSpPr/>
          <p:nvPr/>
        </p:nvSpPr>
        <p:spPr>
          <a:xfrm>
            <a:off x="6400800" y="1993392"/>
            <a:ext cx="2194560" cy="658368"/>
          </a:xfrm>
          <a:prstGeom prst="rect">
            <a:avLst/>
          </a:prstGeom>
          <a:noFill/>
          <a:ln/>
        </p:spPr>
        <p:txBody>
          <a:bodyPr wrap="square" lIns="0" tIns="0" rIns="0" bIns="0" rtlCol="0" anchor="ctr"/>
          <a:lstStyle/>
          <a:p>
            <a:pPr algn="l" indent="0" marL="0">
              <a:buNone/>
            </a:pPr>
            <a:r>
              <a:rPr lang="en-US" sz="3200" b="1" dirty="0">
                <a:solidFill>
                  <a:srgbClr val="E0A458"/>
                </a:solidFill>
                <a:latin typeface="Consolas" pitchFamily="34" charset="0"/>
                <a:ea typeface="Consolas" pitchFamily="34" charset="-122"/>
                <a:cs typeface="Consolas" pitchFamily="34" charset="-120"/>
              </a:rPr>
              <a:t>419</a:t>
            </a:r>
            <a:endParaRPr lang="en-US" sz="3200" dirty="0"/>
          </a:p>
        </p:txBody>
      </p:sp>
      <p:sp>
        <p:nvSpPr>
          <p:cNvPr id="17" name="Text 15"/>
          <p:cNvSpPr/>
          <p:nvPr/>
        </p:nvSpPr>
        <p:spPr>
          <a:xfrm>
            <a:off x="6400800" y="2633472"/>
            <a:ext cx="2194560" cy="457200"/>
          </a:xfrm>
          <a:prstGeom prst="rect">
            <a:avLst/>
          </a:prstGeom>
          <a:noFill/>
          <a:ln/>
        </p:spPr>
        <p:txBody>
          <a:bodyPr wrap="square" lIns="0" tIns="0" rIns="0" bIns="0" rtlCol="0" anchor="t"/>
          <a:lstStyle/>
          <a:p>
            <a:pPr algn="l" indent="0" marL="0">
              <a:buNone/>
            </a:pPr>
            <a:r>
              <a:rPr lang="en-US" sz="1150" dirty="0">
                <a:solidFill>
                  <a:srgbClr val="9DB2C4"/>
                </a:solidFill>
                <a:latin typeface="Calibri" pitchFamily="34" charset="0"/>
                <a:ea typeface="Calibri" pitchFamily="34" charset="-122"/>
                <a:cs typeface="Calibri" pitchFamily="34" charset="-120"/>
              </a:rPr>
              <a:t>pruebas automáticas</a:t>
            </a:r>
            <a:endParaRPr lang="en-US" sz="1150" dirty="0"/>
          </a:p>
        </p:txBody>
      </p:sp>
      <p:sp>
        <p:nvSpPr>
          <p:cNvPr id="18" name="Shape 16"/>
          <p:cNvSpPr/>
          <p:nvPr/>
        </p:nvSpPr>
        <p:spPr>
          <a:xfrm>
            <a:off x="8933688" y="1847088"/>
            <a:ext cx="2606040" cy="1316736"/>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9" name="Shape 17"/>
          <p:cNvSpPr/>
          <p:nvPr/>
        </p:nvSpPr>
        <p:spPr>
          <a:xfrm>
            <a:off x="8933688" y="1847088"/>
            <a:ext cx="64008" cy="1316736"/>
          </a:xfrm>
          <a:prstGeom prst="rect">
            <a:avLst/>
          </a:prstGeom>
          <a:solidFill>
            <a:srgbClr val="8B8FF0"/>
          </a:solidFill>
          <a:ln w="12700">
            <a:solidFill>
              <a:srgbClr val="8B8FF0"/>
            </a:solidFill>
            <a:prstDash val="solid"/>
          </a:ln>
        </p:spPr>
      </p:sp>
      <p:sp>
        <p:nvSpPr>
          <p:cNvPr id="20" name="Text 18"/>
          <p:cNvSpPr/>
          <p:nvPr/>
        </p:nvSpPr>
        <p:spPr>
          <a:xfrm>
            <a:off x="9189720" y="1993392"/>
            <a:ext cx="2194560" cy="658368"/>
          </a:xfrm>
          <a:prstGeom prst="rect">
            <a:avLst/>
          </a:prstGeom>
          <a:noFill/>
          <a:ln/>
        </p:spPr>
        <p:txBody>
          <a:bodyPr wrap="square" lIns="0" tIns="0" rIns="0" bIns="0" rtlCol="0" anchor="ctr"/>
          <a:lstStyle/>
          <a:p>
            <a:pPr algn="l" indent="0" marL="0">
              <a:buNone/>
            </a:pPr>
            <a:r>
              <a:rPr lang="en-US" sz="3200" b="1" dirty="0">
                <a:solidFill>
                  <a:srgbClr val="8B8FF0"/>
                </a:solidFill>
                <a:latin typeface="Consolas" pitchFamily="34" charset="0"/>
                <a:ea typeface="Consolas" pitchFamily="34" charset="-122"/>
                <a:cs typeface="Consolas" pitchFamily="34" charset="-120"/>
              </a:rPr>
              <a:t>0</a:t>
            </a:r>
            <a:endParaRPr lang="en-US" sz="3200" dirty="0"/>
          </a:p>
        </p:txBody>
      </p:sp>
      <p:sp>
        <p:nvSpPr>
          <p:cNvPr id="21" name="Text 19"/>
          <p:cNvSpPr/>
          <p:nvPr/>
        </p:nvSpPr>
        <p:spPr>
          <a:xfrm>
            <a:off x="9189720" y="2633472"/>
            <a:ext cx="2194560" cy="457200"/>
          </a:xfrm>
          <a:prstGeom prst="rect">
            <a:avLst/>
          </a:prstGeom>
          <a:noFill/>
          <a:ln/>
        </p:spPr>
        <p:txBody>
          <a:bodyPr wrap="square" lIns="0" tIns="0" rIns="0" bIns="0" rtlCol="0" anchor="t"/>
          <a:lstStyle/>
          <a:p>
            <a:pPr algn="l" indent="0" marL="0">
              <a:buNone/>
            </a:pPr>
            <a:r>
              <a:rPr lang="en-US" sz="1150" dirty="0">
                <a:solidFill>
                  <a:srgbClr val="9DB2C4"/>
                </a:solidFill>
                <a:latin typeface="Calibri" pitchFamily="34" charset="0"/>
                <a:ea typeface="Calibri" pitchFamily="34" charset="-122"/>
                <a:cs typeface="Calibri" pitchFamily="34" charset="-120"/>
              </a:rPr>
              <a:t>colas, workers o cachés distribuidas</a:t>
            </a:r>
            <a:endParaRPr lang="en-US" sz="1150" dirty="0"/>
          </a:p>
        </p:txBody>
      </p:sp>
      <p:sp>
        <p:nvSpPr>
          <p:cNvPr id="22" name="Shape 20"/>
          <p:cNvSpPr/>
          <p:nvPr/>
        </p:nvSpPr>
        <p:spPr>
          <a:xfrm>
            <a:off x="566928" y="3401568"/>
            <a:ext cx="5413248" cy="201168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3" name="Shape 21"/>
          <p:cNvSpPr/>
          <p:nvPr/>
        </p:nvSpPr>
        <p:spPr>
          <a:xfrm>
            <a:off x="566928" y="3401568"/>
            <a:ext cx="64008" cy="2011680"/>
          </a:xfrm>
          <a:prstGeom prst="rect">
            <a:avLst/>
          </a:prstGeom>
          <a:solidFill>
            <a:srgbClr val="10B981"/>
          </a:solidFill>
          <a:ln w="12700">
            <a:solidFill>
              <a:srgbClr val="10B981"/>
            </a:solidFill>
            <a:prstDash val="solid"/>
          </a:ln>
        </p:spPr>
      </p:sp>
      <p:sp>
        <p:nvSpPr>
          <p:cNvPr id="24" name="Text 22"/>
          <p:cNvSpPr/>
          <p:nvPr/>
        </p:nvSpPr>
        <p:spPr>
          <a:xfrm>
            <a:off x="841248" y="3584448"/>
            <a:ext cx="4572000" cy="237744"/>
          </a:xfrm>
          <a:prstGeom prst="rect">
            <a:avLst/>
          </a:prstGeom>
          <a:noFill/>
          <a:ln/>
        </p:spPr>
        <p:txBody>
          <a:bodyPr wrap="square" lIns="0" tIns="0" rIns="0" bIns="0" rtlCol="0" anchor="ctr"/>
          <a:lstStyle/>
          <a:p>
            <a:pPr indent="0" marL="0">
              <a:buNone/>
            </a:pPr>
            <a:r>
              <a:rPr lang="en-US" sz="1100" spc="160" kern="0" dirty="0">
                <a:solidFill>
                  <a:srgbClr val="10B981"/>
                </a:solidFill>
                <a:latin typeface="Consolas" pitchFamily="34" charset="0"/>
                <a:ea typeface="Consolas" pitchFamily="34" charset="-122"/>
                <a:cs typeface="Consolas" pitchFamily="34" charset="-120"/>
              </a:rPr>
              <a:t>POR QUÉ SE SEPARA ASÍ</a:t>
            </a:r>
            <a:endParaRPr lang="en-US" sz="1100" dirty="0"/>
          </a:p>
        </p:txBody>
      </p:sp>
      <p:sp>
        <p:nvSpPr>
          <p:cNvPr id="25" name="Text 23"/>
          <p:cNvSpPr/>
          <p:nvPr/>
        </p:nvSpPr>
        <p:spPr>
          <a:xfrm>
            <a:off x="841248" y="3877056"/>
            <a:ext cx="4864608" cy="1426464"/>
          </a:xfrm>
          <a:prstGeom prst="rect">
            <a:avLst/>
          </a:prstGeom>
          <a:noFill/>
          <a:ln/>
        </p:spPr>
        <p:txBody>
          <a:bodyPr wrap="square" lIns="0" tIns="0" rIns="0" bIns="0" rtlCol="0" anchor="t"/>
          <a:lstStyle/>
          <a:p>
            <a:pPr algn="l" indent="0" marL="0">
              <a:lnSpc>
                <a:spcPct val="118000"/>
              </a:lnSpc>
              <a:buNone/>
            </a:pPr>
            <a:r>
              <a:rPr lang="en-US" sz="1200" dirty="0">
                <a:solidFill>
                  <a:srgbClr val="9DB2C4"/>
                </a:solidFill>
                <a:latin typeface="Calibri" pitchFamily="34" charset="0"/>
                <a:ea typeface="Calibri" pitchFamily="34" charset="-122"/>
                <a:cs typeface="Calibri" pitchFamily="34" charset="-120"/>
              </a:rPr>
              <a:t>Todo lo que decide —el filtro de Peter, la puntuación de un contrato, el precio teórico de una opción, el cálculo del drawdown— está en funciones sin acceso a red ni a base de datos. Eso permite ejecutarlas miles de veces en un segundo y comprobar que dan el resultado esperado. Lo que toca el mundo exterior queda fuera, en una capa fina.</a:t>
            </a:r>
            <a:endParaRPr lang="en-US" sz="1200" dirty="0"/>
          </a:p>
        </p:txBody>
      </p:sp>
      <p:sp>
        <p:nvSpPr>
          <p:cNvPr id="26" name="Shape 24"/>
          <p:cNvSpPr/>
          <p:nvPr/>
        </p:nvSpPr>
        <p:spPr>
          <a:xfrm>
            <a:off x="6181344" y="3401568"/>
            <a:ext cx="5413248" cy="201168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7" name="Shape 25"/>
          <p:cNvSpPr/>
          <p:nvPr/>
        </p:nvSpPr>
        <p:spPr>
          <a:xfrm>
            <a:off x="6181344" y="3401568"/>
            <a:ext cx="64008" cy="2011680"/>
          </a:xfrm>
          <a:prstGeom prst="rect">
            <a:avLst/>
          </a:prstGeom>
          <a:solidFill>
            <a:srgbClr val="E0A458"/>
          </a:solidFill>
          <a:ln w="12700">
            <a:solidFill>
              <a:srgbClr val="E0A458"/>
            </a:solidFill>
            <a:prstDash val="solid"/>
          </a:ln>
        </p:spPr>
      </p:sp>
      <p:sp>
        <p:nvSpPr>
          <p:cNvPr id="28" name="Text 26"/>
          <p:cNvSpPr/>
          <p:nvPr/>
        </p:nvSpPr>
        <p:spPr>
          <a:xfrm>
            <a:off x="6455664" y="3584448"/>
            <a:ext cx="4572000" cy="237744"/>
          </a:xfrm>
          <a:prstGeom prst="rect">
            <a:avLst/>
          </a:prstGeom>
          <a:noFill/>
          <a:ln/>
        </p:spPr>
        <p:txBody>
          <a:bodyPr wrap="square" lIns="0" tIns="0" rIns="0" bIns="0" rtlCol="0" anchor="ctr"/>
          <a:lstStyle/>
          <a:p>
            <a:pPr indent="0" marL="0">
              <a:buNone/>
            </a:pPr>
            <a:r>
              <a:rPr lang="en-US" sz="1100" spc="160" kern="0" dirty="0">
                <a:solidFill>
                  <a:srgbClr val="E0A458"/>
                </a:solidFill>
                <a:latin typeface="Consolas" pitchFamily="34" charset="0"/>
                <a:ea typeface="Consolas" pitchFamily="34" charset="-122"/>
                <a:cs typeface="Consolas" pitchFamily="34" charset="-120"/>
              </a:rPr>
              <a:t>QUÉ ESTÁ CUBIERTO POR PRUEBAS</a:t>
            </a:r>
            <a:endParaRPr lang="en-US" sz="1100" dirty="0"/>
          </a:p>
        </p:txBody>
      </p:sp>
      <p:sp>
        <p:nvSpPr>
          <p:cNvPr id="29" name="Text 27"/>
          <p:cNvSpPr/>
          <p:nvPr/>
        </p:nvSpPr>
        <p:spPr>
          <a:xfrm>
            <a:off x="6455664" y="3877056"/>
            <a:ext cx="4864608" cy="1426464"/>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9DB2C4"/>
                </a:solidFill>
                <a:latin typeface="Calibri" pitchFamily="34" charset="0"/>
                <a:ea typeface="Calibri" pitchFamily="34" charset="-122"/>
                <a:cs typeface="Calibri" pitchFamily="34" charset="-120"/>
              </a:rPr>
              <a:t>Valoración de opciones y griegas: 8 baterías</a:t>
            </a:r>
            <a:endParaRPr lang="en-US" sz="1150" dirty="0"/>
          </a:p>
          <a:p>
            <a:pPr marL="177800" indent="-177800">
              <a:spcAft>
                <a:spcPts val="600"/>
              </a:spcAft>
              <a:buSzPct val="100000"/>
              <a:buChar char="•"/>
            </a:pPr>
            <a:r>
              <a:rPr lang="en-US" sz="1150" dirty="0">
                <a:solidFill>
                  <a:srgbClr val="9DB2C4"/>
                </a:solidFill>
                <a:latin typeface="Calibri" pitchFamily="34" charset="0"/>
                <a:ea typeface="Calibri" pitchFamily="34" charset="-122"/>
                <a:cs typeface="Calibri" pitchFamily="34" charset="-120"/>
              </a:rPr>
              <a:t>Niveles de salida, liquidación y valoración de la cartera</a:t>
            </a:r>
            <a:endParaRPr lang="en-US" sz="1150" dirty="0"/>
          </a:p>
          <a:p>
            <a:pPr marL="177800" indent="-177800">
              <a:spcAft>
                <a:spcPts val="600"/>
              </a:spcAft>
              <a:buSzPct val="100000"/>
              <a:buChar char="•"/>
            </a:pPr>
            <a:r>
              <a:rPr lang="en-US" sz="1150" dirty="0">
                <a:solidFill>
                  <a:srgbClr val="9DB2C4"/>
                </a:solidFill>
                <a:latin typeface="Calibri" pitchFamily="34" charset="0"/>
                <a:ea typeface="Calibri" pitchFamily="34" charset="-122"/>
                <a:cs typeface="Calibri" pitchFamily="34" charset="-120"/>
              </a:rPr>
              <a:t>Métricas de portafolio: equity, drawdown, rentabilidad</a:t>
            </a:r>
            <a:endParaRPr lang="en-US" sz="1150" dirty="0"/>
          </a:p>
          <a:p>
            <a:pPr marL="177800" indent="-177800">
              <a:spcAft>
                <a:spcPts val="600"/>
              </a:spcAft>
              <a:buSzPct val="100000"/>
              <a:buChar char="•"/>
            </a:pPr>
            <a:r>
              <a:rPr lang="en-US" sz="1150" dirty="0">
                <a:solidFill>
                  <a:srgbClr val="9DB2C4"/>
                </a:solidFill>
                <a:latin typeface="Calibri" pitchFamily="34" charset="0"/>
                <a:ea typeface="Calibri" pitchFamily="34" charset="-122"/>
                <a:cs typeface="Calibri" pitchFamily="34" charset="-120"/>
              </a:rPr>
              <a:t>Autenticación del proceso automático y control de acceso</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ARQUITECTURA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09</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Dónde vive y quién lo despierta</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Cuatro piezas de infraestructura, cada una con un papel.</a:t>
            </a:r>
            <a:endParaRPr lang="en-US" sz="1450" dirty="0"/>
          </a:p>
        </p:txBody>
      </p:sp>
      <p:sp>
        <p:nvSpPr>
          <p:cNvPr id="6" name="Shape 4"/>
          <p:cNvSpPr/>
          <p:nvPr/>
        </p:nvSpPr>
        <p:spPr>
          <a:xfrm>
            <a:off x="566928" y="1847088"/>
            <a:ext cx="2606040" cy="27432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847088"/>
            <a:ext cx="64008" cy="2743200"/>
          </a:xfrm>
          <a:prstGeom prst="rect">
            <a:avLst/>
          </a:prstGeom>
          <a:solidFill>
            <a:srgbClr val="10B981"/>
          </a:solidFill>
          <a:ln w="12700">
            <a:solidFill>
              <a:srgbClr val="10B981"/>
            </a:solidFill>
            <a:prstDash val="solid"/>
          </a:ln>
        </p:spPr>
      </p:sp>
      <p:sp>
        <p:nvSpPr>
          <p:cNvPr id="8" name="Text 6"/>
          <p:cNvSpPr/>
          <p:nvPr/>
        </p:nvSpPr>
        <p:spPr>
          <a:xfrm>
            <a:off x="804672" y="2048256"/>
            <a:ext cx="2194560" cy="237744"/>
          </a:xfrm>
          <a:prstGeom prst="rect">
            <a:avLst/>
          </a:prstGeom>
          <a:noFill/>
          <a:ln/>
        </p:spPr>
        <p:txBody>
          <a:bodyPr wrap="square" lIns="0" tIns="0" rIns="0" bIns="0" rtlCol="0" anchor="ctr"/>
          <a:lstStyle/>
          <a:p>
            <a:pPr indent="0" marL="0">
              <a:buNone/>
            </a:pPr>
            <a:r>
              <a:rPr lang="en-US" sz="1100" spc="160" kern="0" dirty="0">
                <a:solidFill>
                  <a:srgbClr val="10B981"/>
                </a:solidFill>
                <a:latin typeface="Consolas" pitchFamily="34" charset="0"/>
                <a:ea typeface="Consolas" pitchFamily="34" charset="-122"/>
                <a:cs typeface="Consolas" pitchFamily="34" charset="-120"/>
              </a:rPr>
              <a:t>SUPABASE</a:t>
            </a:r>
            <a:endParaRPr lang="en-US" sz="1100" dirty="0"/>
          </a:p>
        </p:txBody>
      </p:sp>
      <p:sp>
        <p:nvSpPr>
          <p:cNvPr id="9" name="Text 7"/>
          <p:cNvSpPr/>
          <p:nvPr/>
        </p:nvSpPr>
        <p:spPr>
          <a:xfrm>
            <a:off x="786384" y="2322576"/>
            <a:ext cx="2231136" cy="420624"/>
          </a:xfrm>
          <a:prstGeom prst="rect">
            <a:avLst/>
          </a:prstGeom>
          <a:noFill/>
          <a:ln/>
        </p:spPr>
        <p:txBody>
          <a:bodyPr wrap="square" lIns="0" tIns="0" rIns="0" bIns="0" rtlCol="0" anchor="t"/>
          <a:lstStyle/>
          <a:p>
            <a:pPr indent="0" marL="0">
              <a:buNone/>
            </a:pPr>
            <a:r>
              <a:rPr lang="en-US" sz="1250" b="1" dirty="0">
                <a:solidFill>
                  <a:srgbClr val="F2F6FA"/>
                </a:solidFill>
                <a:latin typeface="Calibri" pitchFamily="34" charset="0"/>
                <a:ea typeface="Calibri" pitchFamily="34" charset="-122"/>
                <a:cs typeface="Calibri" pitchFamily="34" charset="-120"/>
              </a:rPr>
              <a:t>Base de datos y autenticación</a:t>
            </a:r>
            <a:endParaRPr lang="en-US" sz="1250" dirty="0"/>
          </a:p>
        </p:txBody>
      </p:sp>
      <p:sp>
        <p:nvSpPr>
          <p:cNvPr id="10" name="Text 8"/>
          <p:cNvSpPr/>
          <p:nvPr/>
        </p:nvSpPr>
        <p:spPr>
          <a:xfrm>
            <a:off x="786384" y="2798064"/>
            <a:ext cx="2231136" cy="1664208"/>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18 migraciones versionadas. Seguridad a nivel de fila activada en todas las tablas: aunque alguien esquive la comprobación de la aplicación, la base de datos sigue negando el acceso.</a:t>
            </a:r>
            <a:endParaRPr lang="en-US" sz="1050" dirty="0"/>
          </a:p>
        </p:txBody>
      </p:sp>
      <p:sp>
        <p:nvSpPr>
          <p:cNvPr id="11" name="Shape 9"/>
          <p:cNvSpPr/>
          <p:nvPr/>
        </p:nvSpPr>
        <p:spPr>
          <a:xfrm>
            <a:off x="3355848" y="1847088"/>
            <a:ext cx="2606040" cy="27432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2" name="Shape 10"/>
          <p:cNvSpPr/>
          <p:nvPr/>
        </p:nvSpPr>
        <p:spPr>
          <a:xfrm>
            <a:off x="3355848" y="1847088"/>
            <a:ext cx="64008" cy="2743200"/>
          </a:xfrm>
          <a:prstGeom prst="rect">
            <a:avLst/>
          </a:prstGeom>
          <a:solidFill>
            <a:srgbClr val="9DB2C4"/>
          </a:solidFill>
          <a:ln w="12700">
            <a:solidFill>
              <a:srgbClr val="9DB2C4"/>
            </a:solidFill>
            <a:prstDash val="solid"/>
          </a:ln>
        </p:spPr>
      </p:sp>
      <p:sp>
        <p:nvSpPr>
          <p:cNvPr id="13" name="Text 11"/>
          <p:cNvSpPr/>
          <p:nvPr/>
        </p:nvSpPr>
        <p:spPr>
          <a:xfrm>
            <a:off x="3593592" y="2048256"/>
            <a:ext cx="2194560" cy="237744"/>
          </a:xfrm>
          <a:prstGeom prst="rect">
            <a:avLst/>
          </a:prstGeom>
          <a:noFill/>
          <a:ln/>
        </p:spPr>
        <p:txBody>
          <a:bodyPr wrap="square" lIns="0" tIns="0" rIns="0" bIns="0" rtlCol="0" anchor="ctr"/>
          <a:lstStyle/>
          <a:p>
            <a:pPr indent="0" marL="0">
              <a:buNone/>
            </a:pPr>
            <a:r>
              <a:rPr lang="en-US" sz="1100" spc="160" kern="0" dirty="0">
                <a:solidFill>
                  <a:srgbClr val="9DB2C4"/>
                </a:solidFill>
                <a:latin typeface="Consolas" pitchFamily="34" charset="0"/>
                <a:ea typeface="Consolas" pitchFamily="34" charset="-122"/>
                <a:cs typeface="Consolas" pitchFamily="34" charset="-120"/>
              </a:rPr>
              <a:t>GITHUB</a:t>
            </a:r>
            <a:endParaRPr lang="en-US" sz="1100" dirty="0"/>
          </a:p>
        </p:txBody>
      </p:sp>
      <p:sp>
        <p:nvSpPr>
          <p:cNvPr id="14" name="Text 12"/>
          <p:cNvSpPr/>
          <p:nvPr/>
        </p:nvSpPr>
        <p:spPr>
          <a:xfrm>
            <a:off x="3575304" y="2322576"/>
            <a:ext cx="2231136" cy="420624"/>
          </a:xfrm>
          <a:prstGeom prst="rect">
            <a:avLst/>
          </a:prstGeom>
          <a:noFill/>
          <a:ln/>
        </p:spPr>
        <p:txBody>
          <a:bodyPr wrap="square" lIns="0" tIns="0" rIns="0" bIns="0" rtlCol="0" anchor="t"/>
          <a:lstStyle/>
          <a:p>
            <a:pPr indent="0" marL="0">
              <a:buNone/>
            </a:pPr>
            <a:r>
              <a:rPr lang="en-US" sz="1250" b="1" dirty="0">
                <a:solidFill>
                  <a:srgbClr val="F2F6FA"/>
                </a:solidFill>
                <a:latin typeface="Calibri" pitchFamily="34" charset="0"/>
                <a:ea typeface="Calibri" pitchFamily="34" charset="-122"/>
                <a:cs typeface="Calibri" pitchFamily="34" charset="-120"/>
              </a:rPr>
              <a:t>Repositorio y reloj</a:t>
            </a:r>
            <a:endParaRPr lang="en-US" sz="1250" dirty="0"/>
          </a:p>
        </p:txBody>
      </p:sp>
      <p:sp>
        <p:nvSpPr>
          <p:cNvPr id="15" name="Text 13"/>
          <p:cNvSpPr/>
          <p:nvPr/>
        </p:nvSpPr>
        <p:spPr>
          <a:xfrm>
            <a:off x="3575304" y="2798064"/>
            <a:ext cx="2231136" cy="1664208"/>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Además de guardar el código, es quien despierta al sistema: cada 30 minutos, de lunes a viernes, lanza la revisión de las posiciones abiertas.</a:t>
            </a:r>
            <a:endParaRPr lang="en-US" sz="1050" dirty="0"/>
          </a:p>
        </p:txBody>
      </p:sp>
      <p:sp>
        <p:nvSpPr>
          <p:cNvPr id="16" name="Shape 14"/>
          <p:cNvSpPr/>
          <p:nvPr/>
        </p:nvSpPr>
        <p:spPr>
          <a:xfrm>
            <a:off x="6144768" y="1847088"/>
            <a:ext cx="2606040" cy="27432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7" name="Shape 15"/>
          <p:cNvSpPr/>
          <p:nvPr/>
        </p:nvSpPr>
        <p:spPr>
          <a:xfrm>
            <a:off x="6144768" y="1847088"/>
            <a:ext cx="64008" cy="2743200"/>
          </a:xfrm>
          <a:prstGeom prst="rect">
            <a:avLst/>
          </a:prstGeom>
          <a:solidFill>
            <a:srgbClr val="8B8FF0"/>
          </a:solidFill>
          <a:ln w="12700">
            <a:solidFill>
              <a:srgbClr val="8B8FF0"/>
            </a:solidFill>
            <a:prstDash val="solid"/>
          </a:ln>
        </p:spPr>
      </p:sp>
      <p:sp>
        <p:nvSpPr>
          <p:cNvPr id="18" name="Text 16"/>
          <p:cNvSpPr/>
          <p:nvPr/>
        </p:nvSpPr>
        <p:spPr>
          <a:xfrm>
            <a:off x="6382512" y="2048256"/>
            <a:ext cx="2194560" cy="237744"/>
          </a:xfrm>
          <a:prstGeom prst="rect">
            <a:avLst/>
          </a:prstGeom>
          <a:noFill/>
          <a:ln/>
        </p:spPr>
        <p:txBody>
          <a:bodyPr wrap="square" lIns="0" tIns="0" rIns="0" bIns="0" rtlCol="0" anchor="ctr"/>
          <a:lstStyle/>
          <a:p>
            <a:pPr indent="0" marL="0">
              <a:buNone/>
            </a:pPr>
            <a:r>
              <a:rPr lang="en-US" sz="1100" spc="160" kern="0" dirty="0">
                <a:solidFill>
                  <a:srgbClr val="8B8FF0"/>
                </a:solidFill>
                <a:latin typeface="Consolas" pitchFamily="34" charset="0"/>
                <a:ea typeface="Consolas" pitchFamily="34" charset="-122"/>
                <a:cs typeface="Consolas" pitchFamily="34" charset="-120"/>
              </a:rPr>
              <a:t>RENDER</a:t>
            </a:r>
            <a:endParaRPr lang="en-US" sz="1100" dirty="0"/>
          </a:p>
        </p:txBody>
      </p:sp>
      <p:sp>
        <p:nvSpPr>
          <p:cNvPr id="19" name="Text 17"/>
          <p:cNvSpPr/>
          <p:nvPr/>
        </p:nvSpPr>
        <p:spPr>
          <a:xfrm>
            <a:off x="6364224" y="2322576"/>
            <a:ext cx="2231136" cy="420624"/>
          </a:xfrm>
          <a:prstGeom prst="rect">
            <a:avLst/>
          </a:prstGeom>
          <a:noFill/>
          <a:ln/>
        </p:spPr>
        <p:txBody>
          <a:bodyPr wrap="square" lIns="0" tIns="0" rIns="0" bIns="0" rtlCol="0" anchor="t"/>
          <a:lstStyle/>
          <a:p>
            <a:pPr indent="0" marL="0">
              <a:buNone/>
            </a:pPr>
            <a:r>
              <a:rPr lang="en-US" sz="1250" b="1" dirty="0">
                <a:solidFill>
                  <a:srgbClr val="F2F6FA"/>
                </a:solidFill>
                <a:latin typeface="Calibri" pitchFamily="34" charset="0"/>
                <a:ea typeface="Calibri" pitchFamily="34" charset="-122"/>
                <a:cs typeface="Calibri" pitchFamily="34" charset="-120"/>
              </a:rPr>
              <a:t>Los dos servicios</a:t>
            </a:r>
            <a:endParaRPr lang="en-US" sz="1250" dirty="0"/>
          </a:p>
        </p:txBody>
      </p:sp>
      <p:sp>
        <p:nvSpPr>
          <p:cNvPr id="20" name="Text 18"/>
          <p:cNvSpPr/>
          <p:nvPr/>
        </p:nvSpPr>
        <p:spPr>
          <a:xfrm>
            <a:off x="6364224" y="2798064"/>
            <a:ext cx="2231136" cy="1664208"/>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Un plano declarativo levanta la aplicación Node y el servicio Python privado, y les inyecta la clave compartida sin que nadie la escriba a mano.</a:t>
            </a:r>
            <a:endParaRPr lang="en-US" sz="1050" dirty="0"/>
          </a:p>
        </p:txBody>
      </p:sp>
      <p:sp>
        <p:nvSpPr>
          <p:cNvPr id="21" name="Shape 19"/>
          <p:cNvSpPr/>
          <p:nvPr/>
        </p:nvSpPr>
        <p:spPr>
          <a:xfrm>
            <a:off x="8933688" y="1847088"/>
            <a:ext cx="2606040" cy="27432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2" name="Shape 20"/>
          <p:cNvSpPr/>
          <p:nvPr/>
        </p:nvSpPr>
        <p:spPr>
          <a:xfrm>
            <a:off x="8933688" y="1847088"/>
            <a:ext cx="64008" cy="2743200"/>
          </a:xfrm>
          <a:prstGeom prst="rect">
            <a:avLst/>
          </a:prstGeom>
          <a:solidFill>
            <a:srgbClr val="4D95D0"/>
          </a:solidFill>
          <a:ln w="12700">
            <a:solidFill>
              <a:srgbClr val="4D95D0"/>
            </a:solidFill>
            <a:prstDash val="solid"/>
          </a:ln>
        </p:spPr>
      </p:sp>
      <p:sp>
        <p:nvSpPr>
          <p:cNvPr id="23" name="Text 21"/>
          <p:cNvSpPr/>
          <p:nvPr/>
        </p:nvSpPr>
        <p:spPr>
          <a:xfrm>
            <a:off x="9171432" y="2048256"/>
            <a:ext cx="2194560" cy="237744"/>
          </a:xfrm>
          <a:prstGeom prst="rect">
            <a:avLst/>
          </a:prstGeom>
          <a:noFill/>
          <a:ln/>
        </p:spPr>
        <p:txBody>
          <a:bodyPr wrap="square" lIns="0" tIns="0" rIns="0" bIns="0" rtlCol="0" anchor="ctr"/>
          <a:lstStyle/>
          <a:p>
            <a:pPr indent="0" marL="0">
              <a:buNone/>
            </a:pPr>
            <a:r>
              <a:rPr lang="en-US" sz="1100" spc="160" kern="0" dirty="0">
                <a:solidFill>
                  <a:srgbClr val="4D95D0"/>
                </a:solidFill>
                <a:latin typeface="Consolas" pitchFamily="34" charset="0"/>
                <a:ea typeface="Consolas" pitchFamily="34" charset="-122"/>
                <a:cs typeface="Consolas" pitchFamily="34" charset="-120"/>
              </a:rPr>
              <a:t>VERCEL</a:t>
            </a:r>
            <a:endParaRPr lang="en-US" sz="1100" dirty="0"/>
          </a:p>
        </p:txBody>
      </p:sp>
      <p:sp>
        <p:nvSpPr>
          <p:cNvPr id="24" name="Text 22"/>
          <p:cNvSpPr/>
          <p:nvPr/>
        </p:nvSpPr>
        <p:spPr>
          <a:xfrm>
            <a:off x="9153144" y="2322576"/>
            <a:ext cx="2231136" cy="420624"/>
          </a:xfrm>
          <a:prstGeom prst="rect">
            <a:avLst/>
          </a:prstGeom>
          <a:noFill/>
          <a:ln/>
        </p:spPr>
        <p:txBody>
          <a:bodyPr wrap="square" lIns="0" tIns="0" rIns="0" bIns="0" rtlCol="0" anchor="t"/>
          <a:lstStyle/>
          <a:p>
            <a:pPr indent="0" marL="0">
              <a:buNone/>
            </a:pPr>
            <a:r>
              <a:rPr lang="en-US" sz="1250" b="1" dirty="0">
                <a:solidFill>
                  <a:srgbClr val="F2F6FA"/>
                </a:solidFill>
                <a:latin typeface="Calibri" pitchFamily="34" charset="0"/>
                <a:ea typeface="Calibri" pitchFamily="34" charset="-122"/>
                <a:cs typeface="Calibri" pitchFamily="34" charset="-120"/>
              </a:rPr>
              <a:t>Publicación del panel</a:t>
            </a:r>
            <a:endParaRPr lang="en-US" sz="1250" dirty="0"/>
          </a:p>
        </p:txBody>
      </p:sp>
      <p:sp>
        <p:nvSpPr>
          <p:cNvPr id="25" name="Text 23"/>
          <p:cNvSpPr/>
          <p:nvPr/>
        </p:nvSpPr>
        <p:spPr>
          <a:xfrm>
            <a:off x="9153144" y="2798064"/>
            <a:ext cx="2231136" cy="1664208"/>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Cada cambio en la rama principal publica una versión nueva del panel, con la anterior siempre disponible para volver atrás.</a:t>
            </a:r>
            <a:endParaRPr lang="en-US" sz="1050" dirty="0"/>
          </a:p>
        </p:txBody>
      </p:sp>
      <p:sp>
        <p:nvSpPr>
          <p:cNvPr id="26" name="Shape 24"/>
          <p:cNvSpPr/>
          <p:nvPr/>
        </p:nvSpPr>
        <p:spPr>
          <a:xfrm>
            <a:off x="566928" y="4791456"/>
            <a:ext cx="11027664" cy="786384"/>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7" name="Shape 25"/>
          <p:cNvSpPr/>
          <p:nvPr/>
        </p:nvSpPr>
        <p:spPr>
          <a:xfrm>
            <a:off x="566928" y="4791456"/>
            <a:ext cx="64008" cy="786384"/>
          </a:xfrm>
          <a:prstGeom prst="rect">
            <a:avLst/>
          </a:prstGeom>
          <a:solidFill>
            <a:srgbClr val="E0A458"/>
          </a:solidFill>
          <a:ln w="12700">
            <a:solidFill>
              <a:srgbClr val="E0A458"/>
            </a:solidFill>
            <a:prstDash val="solid"/>
          </a:ln>
        </p:spPr>
      </p:sp>
      <p:sp>
        <p:nvSpPr>
          <p:cNvPr id="28" name="Text 26"/>
          <p:cNvSpPr/>
          <p:nvPr/>
        </p:nvSpPr>
        <p:spPr>
          <a:xfrm>
            <a:off x="841248" y="4791456"/>
            <a:ext cx="10515600" cy="786384"/>
          </a:xfrm>
          <a:prstGeom prst="rect">
            <a:avLst/>
          </a:prstGeom>
          <a:noFill/>
          <a:ln/>
        </p:spPr>
        <p:txBody>
          <a:bodyPr wrap="square" lIns="0" tIns="0" rIns="0" bIns="0" rtlCol="0" anchor="ctr"/>
          <a:lstStyle/>
          <a:p>
            <a:pPr indent="0" marL="0">
              <a:buNone/>
            </a:pPr>
            <a:r>
              <a:rPr lang="en-US" sz="1200" b="1" dirty="0">
                <a:solidFill>
                  <a:srgbClr val="E0A458"/>
                </a:solidFill>
                <a:latin typeface="Calibri" pitchFamily="34" charset="0"/>
                <a:ea typeface="Calibri" pitchFamily="34" charset="-122"/>
                <a:cs typeface="Calibri" pitchFamily="34" charset="-120"/>
              </a:rPr>
              <a:t>Un detalle revelador:  </a:t>
            </a:r>
            <a:pPr indent="0" marL="0">
              <a:buNone/>
            </a:pPr>
            <a:r>
              <a:rPr lang="en-US" sz="1200" dirty="0">
                <a:solidFill>
                  <a:srgbClr val="9DB2C4"/>
                </a:solidFill>
                <a:latin typeface="Calibri" pitchFamily="34" charset="0"/>
                <a:ea typeface="Calibri" pitchFamily="34" charset="-122"/>
                <a:cs typeface="Calibri" pitchFamily="34" charset="-120"/>
              </a:rPr>
              <a:t>el reloj está en GitHub y no en el proveedor de hosting porque el plan gratuito de éste solo permite una ejecución diaria, y las posiciones de opciones hay que vigilarlas durante la sesión. Se resolvió sin añadir coste.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ARQUITECTURA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10</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Construido sobre software libre</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Todo el material de base es abierto y gratuito. El coste está en el criterio, no en las licencias.</a:t>
            </a:r>
            <a:endParaRPr lang="en-US" sz="1450" dirty="0"/>
          </a:p>
        </p:txBody>
      </p:sp>
      <p:sp>
        <p:nvSpPr>
          <p:cNvPr id="6" name="Text 4"/>
          <p:cNvSpPr/>
          <p:nvPr/>
        </p:nvSpPr>
        <p:spPr>
          <a:xfrm>
            <a:off x="566928" y="1938528"/>
            <a:ext cx="2606040" cy="237744"/>
          </a:xfrm>
          <a:prstGeom prst="rect">
            <a:avLst/>
          </a:prstGeom>
          <a:noFill/>
          <a:ln/>
        </p:spPr>
        <p:txBody>
          <a:bodyPr wrap="square" lIns="0" tIns="0" rIns="0" bIns="0" rtlCol="0" anchor="ctr"/>
          <a:lstStyle/>
          <a:p>
            <a:pPr indent="0" marL="0">
              <a:buNone/>
            </a:pPr>
            <a:r>
              <a:rPr lang="en-US" sz="1050" spc="160" kern="0" dirty="0">
                <a:solidFill>
                  <a:srgbClr val="4D95D0"/>
                </a:solidFill>
                <a:latin typeface="Consolas" pitchFamily="34" charset="0"/>
                <a:ea typeface="Consolas" pitchFamily="34" charset="-122"/>
                <a:cs typeface="Consolas" pitchFamily="34" charset="-120"/>
              </a:rPr>
              <a:t>APLICACIÓN</a:t>
            </a:r>
            <a:endParaRPr lang="en-US" sz="1050" dirty="0"/>
          </a:p>
        </p:txBody>
      </p:sp>
      <p:sp>
        <p:nvSpPr>
          <p:cNvPr id="7" name="Shape 5"/>
          <p:cNvSpPr/>
          <p:nvPr/>
        </p:nvSpPr>
        <p:spPr>
          <a:xfrm>
            <a:off x="566928" y="2249424"/>
            <a:ext cx="2377440" cy="329184"/>
          </a:xfrm>
          <a:prstGeom prst="roundRect">
            <a:avLst>
              <a:gd name="adj" fmla="val 50000"/>
            </a:avLst>
          </a:prstGeom>
          <a:solidFill>
            <a:srgbClr val="12293B"/>
          </a:solidFill>
          <a:ln w="12700">
            <a:solidFill>
              <a:srgbClr val="4D95D0"/>
            </a:solidFill>
            <a:prstDash val="solid"/>
          </a:ln>
        </p:spPr>
      </p:sp>
      <p:sp>
        <p:nvSpPr>
          <p:cNvPr id="8" name="Text 6"/>
          <p:cNvSpPr/>
          <p:nvPr/>
        </p:nvSpPr>
        <p:spPr>
          <a:xfrm>
            <a:off x="566928" y="2249424"/>
            <a:ext cx="2377440" cy="329184"/>
          </a:xfrm>
          <a:prstGeom prst="rect">
            <a:avLst/>
          </a:prstGeom>
          <a:noFill/>
          <a:ln/>
        </p:spPr>
        <p:txBody>
          <a:bodyPr wrap="square" lIns="0" tIns="0" rIns="0" bIns="0" rtlCol="0" anchor="ctr"/>
          <a:lstStyle/>
          <a:p>
            <a:pPr algn="ctr" indent="0" marL="0">
              <a:buNone/>
            </a:pPr>
            <a:r>
              <a:rPr lang="en-US" sz="1050" dirty="0">
                <a:solidFill>
                  <a:srgbClr val="4D95D0"/>
                </a:solidFill>
                <a:latin typeface="Consolas" pitchFamily="34" charset="0"/>
                <a:ea typeface="Consolas" pitchFamily="34" charset="-122"/>
                <a:cs typeface="Consolas" pitchFamily="34" charset="-120"/>
              </a:rPr>
              <a:t>Next.js 16.2.1</a:t>
            </a:r>
            <a:endParaRPr lang="en-US" sz="1050" dirty="0"/>
          </a:p>
        </p:txBody>
      </p:sp>
      <p:sp>
        <p:nvSpPr>
          <p:cNvPr id="9" name="Shape 7"/>
          <p:cNvSpPr/>
          <p:nvPr/>
        </p:nvSpPr>
        <p:spPr>
          <a:xfrm>
            <a:off x="566928" y="2670048"/>
            <a:ext cx="2377440" cy="329184"/>
          </a:xfrm>
          <a:prstGeom prst="roundRect">
            <a:avLst>
              <a:gd name="adj" fmla="val 50000"/>
            </a:avLst>
          </a:prstGeom>
          <a:solidFill>
            <a:srgbClr val="12293B"/>
          </a:solidFill>
          <a:ln w="12700">
            <a:solidFill>
              <a:srgbClr val="4D95D0"/>
            </a:solidFill>
            <a:prstDash val="solid"/>
          </a:ln>
        </p:spPr>
      </p:sp>
      <p:sp>
        <p:nvSpPr>
          <p:cNvPr id="10" name="Text 8"/>
          <p:cNvSpPr/>
          <p:nvPr/>
        </p:nvSpPr>
        <p:spPr>
          <a:xfrm>
            <a:off x="566928" y="2670048"/>
            <a:ext cx="2377440" cy="329184"/>
          </a:xfrm>
          <a:prstGeom prst="rect">
            <a:avLst/>
          </a:prstGeom>
          <a:noFill/>
          <a:ln/>
        </p:spPr>
        <p:txBody>
          <a:bodyPr wrap="square" lIns="0" tIns="0" rIns="0" bIns="0" rtlCol="0" anchor="ctr"/>
          <a:lstStyle/>
          <a:p>
            <a:pPr algn="ctr" indent="0" marL="0">
              <a:buNone/>
            </a:pPr>
            <a:r>
              <a:rPr lang="en-US" sz="1050" dirty="0">
                <a:solidFill>
                  <a:srgbClr val="4D95D0"/>
                </a:solidFill>
                <a:latin typeface="Consolas" pitchFamily="34" charset="0"/>
                <a:ea typeface="Consolas" pitchFamily="34" charset="-122"/>
                <a:cs typeface="Consolas" pitchFamily="34" charset="-120"/>
              </a:rPr>
              <a:t>React 19.2.4</a:t>
            </a:r>
            <a:endParaRPr lang="en-US" sz="1050" dirty="0"/>
          </a:p>
        </p:txBody>
      </p:sp>
      <p:sp>
        <p:nvSpPr>
          <p:cNvPr id="11" name="Shape 9"/>
          <p:cNvSpPr/>
          <p:nvPr/>
        </p:nvSpPr>
        <p:spPr>
          <a:xfrm>
            <a:off x="566928" y="3090672"/>
            <a:ext cx="2377440" cy="329184"/>
          </a:xfrm>
          <a:prstGeom prst="roundRect">
            <a:avLst>
              <a:gd name="adj" fmla="val 50000"/>
            </a:avLst>
          </a:prstGeom>
          <a:solidFill>
            <a:srgbClr val="12293B"/>
          </a:solidFill>
          <a:ln w="12700">
            <a:solidFill>
              <a:srgbClr val="4D95D0"/>
            </a:solidFill>
            <a:prstDash val="solid"/>
          </a:ln>
        </p:spPr>
      </p:sp>
      <p:sp>
        <p:nvSpPr>
          <p:cNvPr id="12" name="Text 10"/>
          <p:cNvSpPr/>
          <p:nvPr/>
        </p:nvSpPr>
        <p:spPr>
          <a:xfrm>
            <a:off x="566928" y="3090672"/>
            <a:ext cx="2377440" cy="329184"/>
          </a:xfrm>
          <a:prstGeom prst="rect">
            <a:avLst/>
          </a:prstGeom>
          <a:noFill/>
          <a:ln/>
        </p:spPr>
        <p:txBody>
          <a:bodyPr wrap="square" lIns="0" tIns="0" rIns="0" bIns="0" rtlCol="0" anchor="ctr"/>
          <a:lstStyle/>
          <a:p>
            <a:pPr algn="ctr" indent="0" marL="0">
              <a:buNone/>
            </a:pPr>
            <a:r>
              <a:rPr lang="en-US" sz="1050" dirty="0">
                <a:solidFill>
                  <a:srgbClr val="4D95D0"/>
                </a:solidFill>
                <a:latin typeface="Consolas" pitchFamily="34" charset="0"/>
                <a:ea typeface="Consolas" pitchFamily="34" charset="-122"/>
                <a:cs typeface="Consolas" pitchFamily="34" charset="-120"/>
              </a:rPr>
              <a:t>TypeScript 5</a:t>
            </a:r>
            <a:endParaRPr lang="en-US" sz="1050" dirty="0"/>
          </a:p>
        </p:txBody>
      </p:sp>
      <p:sp>
        <p:nvSpPr>
          <p:cNvPr id="13" name="Shape 11"/>
          <p:cNvSpPr/>
          <p:nvPr/>
        </p:nvSpPr>
        <p:spPr>
          <a:xfrm>
            <a:off x="566928" y="3511296"/>
            <a:ext cx="2377440" cy="329184"/>
          </a:xfrm>
          <a:prstGeom prst="roundRect">
            <a:avLst>
              <a:gd name="adj" fmla="val 50000"/>
            </a:avLst>
          </a:prstGeom>
          <a:solidFill>
            <a:srgbClr val="12293B"/>
          </a:solidFill>
          <a:ln w="12700">
            <a:solidFill>
              <a:srgbClr val="4D95D0"/>
            </a:solidFill>
            <a:prstDash val="solid"/>
          </a:ln>
        </p:spPr>
      </p:sp>
      <p:sp>
        <p:nvSpPr>
          <p:cNvPr id="14" name="Text 12"/>
          <p:cNvSpPr/>
          <p:nvPr/>
        </p:nvSpPr>
        <p:spPr>
          <a:xfrm>
            <a:off x="566928" y="3511296"/>
            <a:ext cx="2377440" cy="329184"/>
          </a:xfrm>
          <a:prstGeom prst="rect">
            <a:avLst/>
          </a:prstGeom>
          <a:noFill/>
          <a:ln/>
        </p:spPr>
        <p:txBody>
          <a:bodyPr wrap="square" lIns="0" tIns="0" rIns="0" bIns="0" rtlCol="0" anchor="ctr"/>
          <a:lstStyle/>
          <a:p>
            <a:pPr algn="ctr" indent="0" marL="0">
              <a:buNone/>
            </a:pPr>
            <a:r>
              <a:rPr lang="en-US" sz="1050" dirty="0">
                <a:solidFill>
                  <a:srgbClr val="4D95D0"/>
                </a:solidFill>
                <a:latin typeface="Consolas" pitchFamily="34" charset="0"/>
                <a:ea typeface="Consolas" pitchFamily="34" charset="-122"/>
                <a:cs typeface="Consolas" pitchFamily="34" charset="-120"/>
              </a:rPr>
              <a:t>Tailwind CSS v4</a:t>
            </a:r>
            <a:endParaRPr lang="en-US" sz="1050" dirty="0"/>
          </a:p>
        </p:txBody>
      </p:sp>
      <p:sp>
        <p:nvSpPr>
          <p:cNvPr id="15" name="Shape 13"/>
          <p:cNvSpPr/>
          <p:nvPr/>
        </p:nvSpPr>
        <p:spPr>
          <a:xfrm>
            <a:off x="566928" y="3931920"/>
            <a:ext cx="2377440" cy="329184"/>
          </a:xfrm>
          <a:prstGeom prst="roundRect">
            <a:avLst>
              <a:gd name="adj" fmla="val 50000"/>
            </a:avLst>
          </a:prstGeom>
          <a:solidFill>
            <a:srgbClr val="12293B"/>
          </a:solidFill>
          <a:ln w="12700">
            <a:solidFill>
              <a:srgbClr val="4D95D0"/>
            </a:solidFill>
            <a:prstDash val="solid"/>
          </a:ln>
        </p:spPr>
      </p:sp>
      <p:sp>
        <p:nvSpPr>
          <p:cNvPr id="16" name="Text 14"/>
          <p:cNvSpPr/>
          <p:nvPr/>
        </p:nvSpPr>
        <p:spPr>
          <a:xfrm>
            <a:off x="566928" y="3931920"/>
            <a:ext cx="2377440" cy="329184"/>
          </a:xfrm>
          <a:prstGeom prst="rect">
            <a:avLst/>
          </a:prstGeom>
          <a:noFill/>
          <a:ln/>
        </p:spPr>
        <p:txBody>
          <a:bodyPr wrap="square" lIns="0" tIns="0" rIns="0" bIns="0" rtlCol="0" anchor="ctr"/>
          <a:lstStyle/>
          <a:p>
            <a:pPr algn="ctr" indent="0" marL="0">
              <a:buNone/>
            </a:pPr>
            <a:r>
              <a:rPr lang="en-US" sz="1050" dirty="0">
                <a:solidFill>
                  <a:srgbClr val="4D95D0"/>
                </a:solidFill>
                <a:latin typeface="Consolas" pitchFamily="34" charset="0"/>
                <a:ea typeface="Consolas" pitchFamily="34" charset="-122"/>
                <a:cs typeface="Consolas" pitchFamily="34" charset="-120"/>
              </a:rPr>
              <a:t>shadcn/ui</a:t>
            </a:r>
            <a:endParaRPr lang="en-US" sz="1050" dirty="0"/>
          </a:p>
        </p:txBody>
      </p:sp>
      <p:sp>
        <p:nvSpPr>
          <p:cNvPr id="17" name="Text 15"/>
          <p:cNvSpPr/>
          <p:nvPr/>
        </p:nvSpPr>
        <p:spPr>
          <a:xfrm>
            <a:off x="3355848" y="1938528"/>
            <a:ext cx="2606040" cy="237744"/>
          </a:xfrm>
          <a:prstGeom prst="rect">
            <a:avLst/>
          </a:prstGeom>
          <a:noFill/>
          <a:ln/>
        </p:spPr>
        <p:txBody>
          <a:bodyPr wrap="square" lIns="0" tIns="0" rIns="0" bIns="0" rtlCol="0" anchor="ctr"/>
          <a:lstStyle/>
          <a:p>
            <a:pPr indent="0" marL="0">
              <a:buNone/>
            </a:pPr>
            <a:r>
              <a:rPr lang="en-US" sz="1050" spc="160" kern="0" dirty="0">
                <a:solidFill>
                  <a:srgbClr val="10B981"/>
                </a:solidFill>
                <a:latin typeface="Consolas" pitchFamily="34" charset="0"/>
                <a:ea typeface="Consolas" pitchFamily="34" charset="-122"/>
                <a:cs typeface="Consolas" pitchFamily="34" charset="-120"/>
              </a:rPr>
              <a:t>DATOS Y CÁLCULO</a:t>
            </a:r>
            <a:endParaRPr lang="en-US" sz="1050" dirty="0"/>
          </a:p>
        </p:txBody>
      </p:sp>
      <p:sp>
        <p:nvSpPr>
          <p:cNvPr id="18" name="Shape 16"/>
          <p:cNvSpPr/>
          <p:nvPr/>
        </p:nvSpPr>
        <p:spPr>
          <a:xfrm>
            <a:off x="3355848" y="2249424"/>
            <a:ext cx="2377440" cy="329184"/>
          </a:xfrm>
          <a:prstGeom prst="roundRect">
            <a:avLst>
              <a:gd name="adj" fmla="val 50000"/>
            </a:avLst>
          </a:prstGeom>
          <a:solidFill>
            <a:srgbClr val="12293B"/>
          </a:solidFill>
          <a:ln w="12700">
            <a:solidFill>
              <a:srgbClr val="10B981"/>
            </a:solidFill>
            <a:prstDash val="solid"/>
          </a:ln>
        </p:spPr>
      </p:sp>
      <p:sp>
        <p:nvSpPr>
          <p:cNvPr id="19" name="Text 17"/>
          <p:cNvSpPr/>
          <p:nvPr/>
        </p:nvSpPr>
        <p:spPr>
          <a:xfrm>
            <a:off x="3355848" y="2249424"/>
            <a:ext cx="2377440" cy="329184"/>
          </a:xfrm>
          <a:prstGeom prst="rect">
            <a:avLst/>
          </a:prstGeom>
          <a:noFill/>
          <a:ln/>
        </p:spPr>
        <p:txBody>
          <a:bodyPr wrap="square" lIns="0" tIns="0" rIns="0" bIns="0" rtlCol="0" anchor="ctr"/>
          <a:lstStyle/>
          <a:p>
            <a:pPr algn="ctr" indent="0" marL="0">
              <a:buNone/>
            </a:pPr>
            <a:r>
              <a:rPr lang="en-US" sz="1050" dirty="0">
                <a:solidFill>
                  <a:srgbClr val="10B981"/>
                </a:solidFill>
                <a:latin typeface="Consolas" pitchFamily="34" charset="0"/>
                <a:ea typeface="Consolas" pitchFamily="34" charset="-122"/>
                <a:cs typeface="Consolas" pitchFamily="34" charset="-120"/>
              </a:rPr>
              <a:t>yahoo-finance2</a:t>
            </a:r>
            <a:endParaRPr lang="en-US" sz="1050" dirty="0"/>
          </a:p>
        </p:txBody>
      </p:sp>
      <p:sp>
        <p:nvSpPr>
          <p:cNvPr id="20" name="Shape 18"/>
          <p:cNvSpPr/>
          <p:nvPr/>
        </p:nvSpPr>
        <p:spPr>
          <a:xfrm>
            <a:off x="3355848" y="2670048"/>
            <a:ext cx="2377440" cy="329184"/>
          </a:xfrm>
          <a:prstGeom prst="roundRect">
            <a:avLst>
              <a:gd name="adj" fmla="val 50000"/>
            </a:avLst>
          </a:prstGeom>
          <a:solidFill>
            <a:srgbClr val="12293B"/>
          </a:solidFill>
          <a:ln w="12700">
            <a:solidFill>
              <a:srgbClr val="10B981"/>
            </a:solidFill>
            <a:prstDash val="solid"/>
          </a:ln>
        </p:spPr>
      </p:sp>
      <p:sp>
        <p:nvSpPr>
          <p:cNvPr id="21" name="Text 19"/>
          <p:cNvSpPr/>
          <p:nvPr/>
        </p:nvSpPr>
        <p:spPr>
          <a:xfrm>
            <a:off x="3355848" y="2670048"/>
            <a:ext cx="2377440" cy="329184"/>
          </a:xfrm>
          <a:prstGeom prst="rect">
            <a:avLst/>
          </a:prstGeom>
          <a:noFill/>
          <a:ln/>
        </p:spPr>
        <p:txBody>
          <a:bodyPr wrap="square" lIns="0" tIns="0" rIns="0" bIns="0" rtlCol="0" anchor="ctr"/>
          <a:lstStyle/>
          <a:p>
            <a:pPr algn="ctr" indent="0" marL="0">
              <a:buNone/>
            </a:pPr>
            <a:r>
              <a:rPr lang="en-US" sz="1050" dirty="0">
                <a:solidFill>
                  <a:srgbClr val="10B981"/>
                </a:solidFill>
                <a:latin typeface="Consolas" pitchFamily="34" charset="0"/>
                <a:ea typeface="Consolas" pitchFamily="34" charset="-122"/>
                <a:cs typeface="Consolas" pitchFamily="34" charset="-120"/>
              </a:rPr>
              <a:t>mathjs</a:t>
            </a:r>
            <a:endParaRPr lang="en-US" sz="1050" dirty="0"/>
          </a:p>
        </p:txBody>
      </p:sp>
      <p:sp>
        <p:nvSpPr>
          <p:cNvPr id="22" name="Shape 20"/>
          <p:cNvSpPr/>
          <p:nvPr/>
        </p:nvSpPr>
        <p:spPr>
          <a:xfrm>
            <a:off x="3355848" y="3090672"/>
            <a:ext cx="2377440" cy="329184"/>
          </a:xfrm>
          <a:prstGeom prst="roundRect">
            <a:avLst>
              <a:gd name="adj" fmla="val 50000"/>
            </a:avLst>
          </a:prstGeom>
          <a:solidFill>
            <a:srgbClr val="12293B"/>
          </a:solidFill>
          <a:ln w="12700">
            <a:solidFill>
              <a:srgbClr val="10B981"/>
            </a:solidFill>
            <a:prstDash val="solid"/>
          </a:ln>
        </p:spPr>
      </p:sp>
      <p:sp>
        <p:nvSpPr>
          <p:cNvPr id="23" name="Text 21"/>
          <p:cNvSpPr/>
          <p:nvPr/>
        </p:nvSpPr>
        <p:spPr>
          <a:xfrm>
            <a:off x="3355848" y="3090672"/>
            <a:ext cx="2377440" cy="329184"/>
          </a:xfrm>
          <a:prstGeom prst="rect">
            <a:avLst/>
          </a:prstGeom>
          <a:noFill/>
          <a:ln/>
        </p:spPr>
        <p:txBody>
          <a:bodyPr wrap="square" lIns="0" tIns="0" rIns="0" bIns="0" rtlCol="0" anchor="ctr"/>
          <a:lstStyle/>
          <a:p>
            <a:pPr algn="ctr" indent="0" marL="0">
              <a:buNone/>
            </a:pPr>
            <a:r>
              <a:rPr lang="en-US" sz="1050" dirty="0">
                <a:solidFill>
                  <a:srgbClr val="10B981"/>
                </a:solidFill>
                <a:latin typeface="Consolas" pitchFamily="34" charset="0"/>
                <a:ea typeface="Consolas" pitchFamily="34" charset="-122"/>
                <a:cs typeface="Consolas" pitchFamily="34" charset="-120"/>
              </a:rPr>
              <a:t>SheetJS</a:t>
            </a:r>
            <a:endParaRPr lang="en-US" sz="1050" dirty="0"/>
          </a:p>
        </p:txBody>
      </p:sp>
      <p:sp>
        <p:nvSpPr>
          <p:cNvPr id="24" name="Shape 22"/>
          <p:cNvSpPr/>
          <p:nvPr/>
        </p:nvSpPr>
        <p:spPr>
          <a:xfrm>
            <a:off x="3355848" y="3511296"/>
            <a:ext cx="2377440" cy="329184"/>
          </a:xfrm>
          <a:prstGeom prst="roundRect">
            <a:avLst>
              <a:gd name="adj" fmla="val 50000"/>
            </a:avLst>
          </a:prstGeom>
          <a:solidFill>
            <a:srgbClr val="12293B"/>
          </a:solidFill>
          <a:ln w="12700">
            <a:solidFill>
              <a:srgbClr val="10B981"/>
            </a:solidFill>
            <a:prstDash val="solid"/>
          </a:ln>
        </p:spPr>
      </p:sp>
      <p:sp>
        <p:nvSpPr>
          <p:cNvPr id="25" name="Text 23"/>
          <p:cNvSpPr/>
          <p:nvPr/>
        </p:nvSpPr>
        <p:spPr>
          <a:xfrm>
            <a:off x="3355848" y="3511296"/>
            <a:ext cx="2377440" cy="329184"/>
          </a:xfrm>
          <a:prstGeom prst="rect">
            <a:avLst/>
          </a:prstGeom>
          <a:noFill/>
          <a:ln/>
        </p:spPr>
        <p:txBody>
          <a:bodyPr wrap="square" lIns="0" tIns="0" rIns="0" bIns="0" rtlCol="0" anchor="ctr"/>
          <a:lstStyle/>
          <a:p>
            <a:pPr algn="ctr" indent="0" marL="0">
              <a:buNone/>
            </a:pPr>
            <a:r>
              <a:rPr lang="en-US" sz="1050" dirty="0">
                <a:solidFill>
                  <a:srgbClr val="10B981"/>
                </a:solidFill>
                <a:latin typeface="Consolas" pitchFamily="34" charset="0"/>
                <a:ea typeface="Consolas" pitchFamily="34" charset="-122"/>
                <a:cs typeface="Consolas" pitchFamily="34" charset="-120"/>
              </a:rPr>
              <a:t>docx</a:t>
            </a:r>
            <a:endParaRPr lang="en-US" sz="1050" dirty="0"/>
          </a:p>
        </p:txBody>
      </p:sp>
      <p:sp>
        <p:nvSpPr>
          <p:cNvPr id="26" name="Shape 24"/>
          <p:cNvSpPr/>
          <p:nvPr/>
        </p:nvSpPr>
        <p:spPr>
          <a:xfrm>
            <a:off x="3355848" y="3931920"/>
            <a:ext cx="2377440" cy="329184"/>
          </a:xfrm>
          <a:prstGeom prst="roundRect">
            <a:avLst>
              <a:gd name="adj" fmla="val 50000"/>
            </a:avLst>
          </a:prstGeom>
          <a:solidFill>
            <a:srgbClr val="12293B"/>
          </a:solidFill>
          <a:ln w="12700">
            <a:solidFill>
              <a:srgbClr val="10B981"/>
            </a:solidFill>
            <a:prstDash val="solid"/>
          </a:ln>
        </p:spPr>
      </p:sp>
      <p:sp>
        <p:nvSpPr>
          <p:cNvPr id="27" name="Text 25"/>
          <p:cNvSpPr/>
          <p:nvPr/>
        </p:nvSpPr>
        <p:spPr>
          <a:xfrm>
            <a:off x="3355848" y="3931920"/>
            <a:ext cx="2377440" cy="329184"/>
          </a:xfrm>
          <a:prstGeom prst="rect">
            <a:avLst/>
          </a:prstGeom>
          <a:noFill/>
          <a:ln/>
        </p:spPr>
        <p:txBody>
          <a:bodyPr wrap="square" lIns="0" tIns="0" rIns="0" bIns="0" rtlCol="0" anchor="ctr"/>
          <a:lstStyle/>
          <a:p>
            <a:pPr algn="ctr" indent="0" marL="0">
              <a:buNone/>
            </a:pPr>
            <a:r>
              <a:rPr lang="en-US" sz="1050" dirty="0">
                <a:solidFill>
                  <a:srgbClr val="10B981"/>
                </a:solidFill>
                <a:latin typeface="Consolas" pitchFamily="34" charset="0"/>
                <a:ea typeface="Consolas" pitchFamily="34" charset="-122"/>
                <a:cs typeface="Consolas" pitchFamily="34" charset="-120"/>
              </a:rPr>
              <a:t>Recharts</a:t>
            </a:r>
            <a:endParaRPr lang="en-US" sz="1050" dirty="0"/>
          </a:p>
        </p:txBody>
      </p:sp>
      <p:sp>
        <p:nvSpPr>
          <p:cNvPr id="28" name="Text 26"/>
          <p:cNvSpPr/>
          <p:nvPr/>
        </p:nvSpPr>
        <p:spPr>
          <a:xfrm>
            <a:off x="6144768" y="1938528"/>
            <a:ext cx="2606040" cy="237744"/>
          </a:xfrm>
          <a:prstGeom prst="rect">
            <a:avLst/>
          </a:prstGeom>
          <a:noFill/>
          <a:ln/>
        </p:spPr>
        <p:txBody>
          <a:bodyPr wrap="square" lIns="0" tIns="0" rIns="0" bIns="0" rtlCol="0" anchor="ctr"/>
          <a:lstStyle/>
          <a:p>
            <a:pPr indent="0" marL="0">
              <a:buNone/>
            </a:pPr>
            <a:r>
              <a:rPr lang="en-US" sz="1050" spc="160" kern="0" dirty="0">
                <a:solidFill>
                  <a:srgbClr val="8B8FF0"/>
                </a:solidFill>
                <a:latin typeface="Consolas" pitchFamily="34" charset="0"/>
                <a:ea typeface="Consolas" pitchFamily="34" charset="-122"/>
                <a:cs typeface="Consolas" pitchFamily="34" charset="-120"/>
              </a:rPr>
              <a:t>CIENCIA (PYTHON)</a:t>
            </a:r>
            <a:endParaRPr lang="en-US" sz="1050" dirty="0"/>
          </a:p>
        </p:txBody>
      </p:sp>
      <p:sp>
        <p:nvSpPr>
          <p:cNvPr id="29" name="Shape 27"/>
          <p:cNvSpPr/>
          <p:nvPr/>
        </p:nvSpPr>
        <p:spPr>
          <a:xfrm>
            <a:off x="6144768" y="2249424"/>
            <a:ext cx="2377440" cy="329184"/>
          </a:xfrm>
          <a:prstGeom prst="roundRect">
            <a:avLst>
              <a:gd name="adj" fmla="val 50000"/>
            </a:avLst>
          </a:prstGeom>
          <a:solidFill>
            <a:srgbClr val="12293B"/>
          </a:solidFill>
          <a:ln w="12700">
            <a:solidFill>
              <a:srgbClr val="8B8FF0"/>
            </a:solidFill>
            <a:prstDash val="solid"/>
          </a:ln>
        </p:spPr>
      </p:sp>
      <p:sp>
        <p:nvSpPr>
          <p:cNvPr id="30" name="Text 28"/>
          <p:cNvSpPr/>
          <p:nvPr/>
        </p:nvSpPr>
        <p:spPr>
          <a:xfrm>
            <a:off x="6144768" y="2249424"/>
            <a:ext cx="2377440" cy="329184"/>
          </a:xfrm>
          <a:prstGeom prst="rect">
            <a:avLst/>
          </a:prstGeom>
          <a:noFill/>
          <a:ln/>
        </p:spPr>
        <p:txBody>
          <a:bodyPr wrap="square" lIns="0" tIns="0" rIns="0" bIns="0" rtlCol="0" anchor="ctr"/>
          <a:lstStyle/>
          <a:p>
            <a:pPr algn="ctr" indent="0" marL="0">
              <a:buNone/>
            </a:pPr>
            <a:r>
              <a:rPr lang="en-US" sz="1050" dirty="0">
                <a:solidFill>
                  <a:srgbClr val="8B8FF0"/>
                </a:solidFill>
                <a:latin typeface="Consolas" pitchFamily="34" charset="0"/>
                <a:ea typeface="Consolas" pitchFamily="34" charset="-122"/>
                <a:cs typeface="Consolas" pitchFamily="34" charset="-120"/>
              </a:rPr>
              <a:t>DoWhy</a:t>
            </a:r>
            <a:endParaRPr lang="en-US" sz="1050" dirty="0"/>
          </a:p>
        </p:txBody>
      </p:sp>
      <p:sp>
        <p:nvSpPr>
          <p:cNvPr id="31" name="Shape 29"/>
          <p:cNvSpPr/>
          <p:nvPr/>
        </p:nvSpPr>
        <p:spPr>
          <a:xfrm>
            <a:off x="6144768" y="2670048"/>
            <a:ext cx="2377440" cy="329184"/>
          </a:xfrm>
          <a:prstGeom prst="roundRect">
            <a:avLst>
              <a:gd name="adj" fmla="val 50000"/>
            </a:avLst>
          </a:prstGeom>
          <a:solidFill>
            <a:srgbClr val="12293B"/>
          </a:solidFill>
          <a:ln w="12700">
            <a:solidFill>
              <a:srgbClr val="8B8FF0"/>
            </a:solidFill>
            <a:prstDash val="solid"/>
          </a:ln>
        </p:spPr>
      </p:sp>
      <p:sp>
        <p:nvSpPr>
          <p:cNvPr id="32" name="Text 30"/>
          <p:cNvSpPr/>
          <p:nvPr/>
        </p:nvSpPr>
        <p:spPr>
          <a:xfrm>
            <a:off x="6144768" y="2670048"/>
            <a:ext cx="2377440" cy="329184"/>
          </a:xfrm>
          <a:prstGeom prst="rect">
            <a:avLst/>
          </a:prstGeom>
          <a:noFill/>
          <a:ln/>
        </p:spPr>
        <p:txBody>
          <a:bodyPr wrap="square" lIns="0" tIns="0" rIns="0" bIns="0" rtlCol="0" anchor="ctr"/>
          <a:lstStyle/>
          <a:p>
            <a:pPr algn="ctr" indent="0" marL="0">
              <a:buNone/>
            </a:pPr>
            <a:r>
              <a:rPr lang="en-US" sz="1050" dirty="0">
                <a:solidFill>
                  <a:srgbClr val="8B8FF0"/>
                </a:solidFill>
                <a:latin typeface="Consolas" pitchFamily="34" charset="0"/>
                <a:ea typeface="Consolas" pitchFamily="34" charset="-122"/>
                <a:cs typeface="Consolas" pitchFamily="34" charset="-120"/>
              </a:rPr>
              <a:t>EconML</a:t>
            </a:r>
            <a:endParaRPr lang="en-US" sz="1050" dirty="0"/>
          </a:p>
        </p:txBody>
      </p:sp>
      <p:sp>
        <p:nvSpPr>
          <p:cNvPr id="33" name="Shape 31"/>
          <p:cNvSpPr/>
          <p:nvPr/>
        </p:nvSpPr>
        <p:spPr>
          <a:xfrm>
            <a:off x="6144768" y="3090672"/>
            <a:ext cx="2377440" cy="329184"/>
          </a:xfrm>
          <a:prstGeom prst="roundRect">
            <a:avLst>
              <a:gd name="adj" fmla="val 50000"/>
            </a:avLst>
          </a:prstGeom>
          <a:solidFill>
            <a:srgbClr val="12293B"/>
          </a:solidFill>
          <a:ln w="12700">
            <a:solidFill>
              <a:srgbClr val="8B8FF0"/>
            </a:solidFill>
            <a:prstDash val="solid"/>
          </a:ln>
        </p:spPr>
      </p:sp>
      <p:sp>
        <p:nvSpPr>
          <p:cNvPr id="34" name="Text 32"/>
          <p:cNvSpPr/>
          <p:nvPr/>
        </p:nvSpPr>
        <p:spPr>
          <a:xfrm>
            <a:off x="6144768" y="3090672"/>
            <a:ext cx="2377440" cy="329184"/>
          </a:xfrm>
          <a:prstGeom prst="rect">
            <a:avLst/>
          </a:prstGeom>
          <a:noFill/>
          <a:ln/>
        </p:spPr>
        <p:txBody>
          <a:bodyPr wrap="square" lIns="0" tIns="0" rIns="0" bIns="0" rtlCol="0" anchor="ctr"/>
          <a:lstStyle/>
          <a:p>
            <a:pPr algn="ctr" indent="0" marL="0">
              <a:buNone/>
            </a:pPr>
            <a:r>
              <a:rPr lang="en-US" sz="1050" dirty="0">
                <a:solidFill>
                  <a:srgbClr val="8B8FF0"/>
                </a:solidFill>
                <a:latin typeface="Consolas" pitchFamily="34" charset="0"/>
                <a:ea typeface="Consolas" pitchFamily="34" charset="-122"/>
                <a:cs typeface="Consolas" pitchFamily="34" charset="-120"/>
              </a:rPr>
              <a:t>statsmodels</a:t>
            </a:r>
            <a:endParaRPr lang="en-US" sz="1050" dirty="0"/>
          </a:p>
        </p:txBody>
      </p:sp>
      <p:sp>
        <p:nvSpPr>
          <p:cNvPr id="35" name="Shape 33"/>
          <p:cNvSpPr/>
          <p:nvPr/>
        </p:nvSpPr>
        <p:spPr>
          <a:xfrm>
            <a:off x="6144768" y="3511296"/>
            <a:ext cx="2377440" cy="329184"/>
          </a:xfrm>
          <a:prstGeom prst="roundRect">
            <a:avLst>
              <a:gd name="adj" fmla="val 50000"/>
            </a:avLst>
          </a:prstGeom>
          <a:solidFill>
            <a:srgbClr val="12293B"/>
          </a:solidFill>
          <a:ln w="12700">
            <a:solidFill>
              <a:srgbClr val="8B8FF0"/>
            </a:solidFill>
            <a:prstDash val="solid"/>
          </a:ln>
        </p:spPr>
      </p:sp>
      <p:sp>
        <p:nvSpPr>
          <p:cNvPr id="36" name="Text 34"/>
          <p:cNvSpPr/>
          <p:nvPr/>
        </p:nvSpPr>
        <p:spPr>
          <a:xfrm>
            <a:off x="6144768" y="3511296"/>
            <a:ext cx="2377440" cy="329184"/>
          </a:xfrm>
          <a:prstGeom prst="rect">
            <a:avLst/>
          </a:prstGeom>
          <a:noFill/>
          <a:ln/>
        </p:spPr>
        <p:txBody>
          <a:bodyPr wrap="square" lIns="0" tIns="0" rIns="0" bIns="0" rtlCol="0" anchor="ctr"/>
          <a:lstStyle/>
          <a:p>
            <a:pPr algn="ctr" indent="0" marL="0">
              <a:buNone/>
            </a:pPr>
            <a:r>
              <a:rPr lang="en-US" sz="1050" dirty="0">
                <a:solidFill>
                  <a:srgbClr val="8B8FF0"/>
                </a:solidFill>
                <a:latin typeface="Consolas" pitchFamily="34" charset="0"/>
                <a:ea typeface="Consolas" pitchFamily="34" charset="-122"/>
                <a:cs typeface="Consolas" pitchFamily="34" charset="-120"/>
              </a:rPr>
              <a:t>scikit-learn</a:t>
            </a:r>
            <a:endParaRPr lang="en-US" sz="1050" dirty="0"/>
          </a:p>
        </p:txBody>
      </p:sp>
      <p:sp>
        <p:nvSpPr>
          <p:cNvPr id="37" name="Shape 35"/>
          <p:cNvSpPr/>
          <p:nvPr/>
        </p:nvSpPr>
        <p:spPr>
          <a:xfrm>
            <a:off x="6144768" y="3931920"/>
            <a:ext cx="2377440" cy="329184"/>
          </a:xfrm>
          <a:prstGeom prst="roundRect">
            <a:avLst>
              <a:gd name="adj" fmla="val 50000"/>
            </a:avLst>
          </a:prstGeom>
          <a:solidFill>
            <a:srgbClr val="12293B"/>
          </a:solidFill>
          <a:ln w="12700">
            <a:solidFill>
              <a:srgbClr val="8B8FF0"/>
            </a:solidFill>
            <a:prstDash val="solid"/>
          </a:ln>
        </p:spPr>
      </p:sp>
      <p:sp>
        <p:nvSpPr>
          <p:cNvPr id="38" name="Text 36"/>
          <p:cNvSpPr/>
          <p:nvPr/>
        </p:nvSpPr>
        <p:spPr>
          <a:xfrm>
            <a:off x="6144768" y="3931920"/>
            <a:ext cx="2377440" cy="329184"/>
          </a:xfrm>
          <a:prstGeom prst="rect">
            <a:avLst/>
          </a:prstGeom>
          <a:noFill/>
          <a:ln/>
        </p:spPr>
        <p:txBody>
          <a:bodyPr wrap="square" lIns="0" tIns="0" rIns="0" bIns="0" rtlCol="0" anchor="ctr"/>
          <a:lstStyle/>
          <a:p>
            <a:pPr algn="ctr" indent="0" marL="0">
              <a:buNone/>
            </a:pPr>
            <a:r>
              <a:rPr lang="en-US" sz="1050" dirty="0">
                <a:solidFill>
                  <a:srgbClr val="8B8FF0"/>
                </a:solidFill>
                <a:latin typeface="Consolas" pitchFamily="34" charset="0"/>
                <a:ea typeface="Consolas" pitchFamily="34" charset="-122"/>
                <a:cs typeface="Consolas" pitchFamily="34" charset="-120"/>
              </a:rPr>
              <a:t>PyPortfolioOpt</a:t>
            </a:r>
            <a:endParaRPr lang="en-US" sz="1050" dirty="0"/>
          </a:p>
        </p:txBody>
      </p:sp>
      <p:sp>
        <p:nvSpPr>
          <p:cNvPr id="39" name="Text 37"/>
          <p:cNvSpPr/>
          <p:nvPr/>
        </p:nvSpPr>
        <p:spPr>
          <a:xfrm>
            <a:off x="8933688" y="1938528"/>
            <a:ext cx="2606040" cy="237744"/>
          </a:xfrm>
          <a:prstGeom prst="rect">
            <a:avLst/>
          </a:prstGeom>
          <a:noFill/>
          <a:ln/>
        </p:spPr>
        <p:txBody>
          <a:bodyPr wrap="square" lIns="0" tIns="0" rIns="0" bIns="0" rtlCol="0" anchor="ctr"/>
          <a:lstStyle/>
          <a:p>
            <a:pPr indent="0" marL="0">
              <a:buNone/>
            </a:pPr>
            <a:r>
              <a:rPr lang="en-US" sz="1050" spc="160" kern="0" dirty="0">
                <a:solidFill>
                  <a:srgbClr val="E0A458"/>
                </a:solidFill>
                <a:latin typeface="Consolas" pitchFamily="34" charset="0"/>
                <a:ea typeface="Consolas" pitchFamily="34" charset="-122"/>
                <a:cs typeface="Consolas" pitchFamily="34" charset="-120"/>
              </a:rPr>
              <a:t>CALIDAD</a:t>
            </a:r>
            <a:endParaRPr lang="en-US" sz="1050" dirty="0"/>
          </a:p>
        </p:txBody>
      </p:sp>
      <p:sp>
        <p:nvSpPr>
          <p:cNvPr id="40" name="Shape 38"/>
          <p:cNvSpPr/>
          <p:nvPr/>
        </p:nvSpPr>
        <p:spPr>
          <a:xfrm>
            <a:off x="8933688" y="2249424"/>
            <a:ext cx="2377440" cy="329184"/>
          </a:xfrm>
          <a:prstGeom prst="roundRect">
            <a:avLst>
              <a:gd name="adj" fmla="val 50000"/>
            </a:avLst>
          </a:prstGeom>
          <a:solidFill>
            <a:srgbClr val="12293B"/>
          </a:solidFill>
          <a:ln w="12700">
            <a:solidFill>
              <a:srgbClr val="E0A458"/>
            </a:solidFill>
            <a:prstDash val="solid"/>
          </a:ln>
        </p:spPr>
      </p:sp>
      <p:sp>
        <p:nvSpPr>
          <p:cNvPr id="41" name="Text 39"/>
          <p:cNvSpPr/>
          <p:nvPr/>
        </p:nvSpPr>
        <p:spPr>
          <a:xfrm>
            <a:off x="8933688" y="2249424"/>
            <a:ext cx="2377440" cy="329184"/>
          </a:xfrm>
          <a:prstGeom prst="rect">
            <a:avLst/>
          </a:prstGeom>
          <a:noFill/>
          <a:ln/>
        </p:spPr>
        <p:txBody>
          <a:bodyPr wrap="square" lIns="0" tIns="0" rIns="0" bIns="0" rtlCol="0" anchor="ctr"/>
          <a:lstStyle/>
          <a:p>
            <a:pPr algn="ctr" indent="0" marL="0">
              <a:buNone/>
            </a:pPr>
            <a:r>
              <a:rPr lang="en-US" sz="1050" dirty="0">
                <a:solidFill>
                  <a:srgbClr val="E0A458"/>
                </a:solidFill>
                <a:latin typeface="Consolas" pitchFamily="34" charset="0"/>
                <a:ea typeface="Consolas" pitchFamily="34" charset="-122"/>
                <a:cs typeface="Consolas" pitchFamily="34" charset="-120"/>
              </a:rPr>
              <a:t>Vitest</a:t>
            </a:r>
            <a:endParaRPr lang="en-US" sz="1050" dirty="0"/>
          </a:p>
        </p:txBody>
      </p:sp>
      <p:sp>
        <p:nvSpPr>
          <p:cNvPr id="42" name="Shape 40"/>
          <p:cNvSpPr/>
          <p:nvPr/>
        </p:nvSpPr>
        <p:spPr>
          <a:xfrm>
            <a:off x="8933688" y="2670048"/>
            <a:ext cx="2377440" cy="329184"/>
          </a:xfrm>
          <a:prstGeom prst="roundRect">
            <a:avLst>
              <a:gd name="adj" fmla="val 50000"/>
            </a:avLst>
          </a:prstGeom>
          <a:solidFill>
            <a:srgbClr val="12293B"/>
          </a:solidFill>
          <a:ln w="12700">
            <a:solidFill>
              <a:srgbClr val="E0A458"/>
            </a:solidFill>
            <a:prstDash val="solid"/>
          </a:ln>
        </p:spPr>
      </p:sp>
      <p:sp>
        <p:nvSpPr>
          <p:cNvPr id="43" name="Text 41"/>
          <p:cNvSpPr/>
          <p:nvPr/>
        </p:nvSpPr>
        <p:spPr>
          <a:xfrm>
            <a:off x="8933688" y="2670048"/>
            <a:ext cx="2377440" cy="329184"/>
          </a:xfrm>
          <a:prstGeom prst="rect">
            <a:avLst/>
          </a:prstGeom>
          <a:noFill/>
          <a:ln/>
        </p:spPr>
        <p:txBody>
          <a:bodyPr wrap="square" lIns="0" tIns="0" rIns="0" bIns="0" rtlCol="0" anchor="ctr"/>
          <a:lstStyle/>
          <a:p>
            <a:pPr algn="ctr" indent="0" marL="0">
              <a:buNone/>
            </a:pPr>
            <a:r>
              <a:rPr lang="en-US" sz="1050" dirty="0">
                <a:solidFill>
                  <a:srgbClr val="E0A458"/>
                </a:solidFill>
                <a:latin typeface="Consolas" pitchFamily="34" charset="0"/>
                <a:ea typeface="Consolas" pitchFamily="34" charset="-122"/>
                <a:cs typeface="Consolas" pitchFamily="34" charset="-120"/>
              </a:rPr>
              <a:t>Testing Library</a:t>
            </a:r>
            <a:endParaRPr lang="en-US" sz="1050" dirty="0"/>
          </a:p>
        </p:txBody>
      </p:sp>
      <p:sp>
        <p:nvSpPr>
          <p:cNvPr id="44" name="Shape 42"/>
          <p:cNvSpPr/>
          <p:nvPr/>
        </p:nvSpPr>
        <p:spPr>
          <a:xfrm>
            <a:off x="8933688" y="3090672"/>
            <a:ext cx="2377440" cy="329184"/>
          </a:xfrm>
          <a:prstGeom prst="roundRect">
            <a:avLst>
              <a:gd name="adj" fmla="val 50000"/>
            </a:avLst>
          </a:prstGeom>
          <a:solidFill>
            <a:srgbClr val="12293B"/>
          </a:solidFill>
          <a:ln w="12700">
            <a:solidFill>
              <a:srgbClr val="E0A458"/>
            </a:solidFill>
            <a:prstDash val="solid"/>
          </a:ln>
        </p:spPr>
      </p:sp>
      <p:sp>
        <p:nvSpPr>
          <p:cNvPr id="45" name="Text 43"/>
          <p:cNvSpPr/>
          <p:nvPr/>
        </p:nvSpPr>
        <p:spPr>
          <a:xfrm>
            <a:off x="8933688" y="3090672"/>
            <a:ext cx="2377440" cy="329184"/>
          </a:xfrm>
          <a:prstGeom prst="rect">
            <a:avLst/>
          </a:prstGeom>
          <a:noFill/>
          <a:ln/>
        </p:spPr>
        <p:txBody>
          <a:bodyPr wrap="square" lIns="0" tIns="0" rIns="0" bIns="0" rtlCol="0" anchor="ctr"/>
          <a:lstStyle/>
          <a:p>
            <a:pPr algn="ctr" indent="0" marL="0">
              <a:buNone/>
            </a:pPr>
            <a:r>
              <a:rPr lang="en-US" sz="1050" dirty="0">
                <a:solidFill>
                  <a:srgbClr val="E0A458"/>
                </a:solidFill>
                <a:latin typeface="Consolas" pitchFamily="34" charset="0"/>
                <a:ea typeface="Consolas" pitchFamily="34" charset="-122"/>
                <a:cs typeface="Consolas" pitchFamily="34" charset="-120"/>
              </a:rPr>
              <a:t>ESLint 9</a:t>
            </a:r>
            <a:endParaRPr lang="en-US" sz="1050" dirty="0"/>
          </a:p>
        </p:txBody>
      </p:sp>
      <p:sp>
        <p:nvSpPr>
          <p:cNvPr id="46" name="Shape 44"/>
          <p:cNvSpPr/>
          <p:nvPr/>
        </p:nvSpPr>
        <p:spPr>
          <a:xfrm>
            <a:off x="566928" y="4443984"/>
            <a:ext cx="11027664" cy="1133856"/>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47" name="Shape 45"/>
          <p:cNvSpPr/>
          <p:nvPr/>
        </p:nvSpPr>
        <p:spPr>
          <a:xfrm>
            <a:off x="566928" y="4443984"/>
            <a:ext cx="64008" cy="1133856"/>
          </a:xfrm>
          <a:prstGeom prst="rect">
            <a:avLst/>
          </a:prstGeom>
          <a:solidFill>
            <a:srgbClr val="E0A458"/>
          </a:solidFill>
          <a:ln w="12700">
            <a:solidFill>
              <a:srgbClr val="E0A458"/>
            </a:solidFill>
            <a:prstDash val="solid"/>
          </a:ln>
        </p:spPr>
      </p:sp>
      <p:sp>
        <p:nvSpPr>
          <p:cNvPr id="48" name="Text 46"/>
          <p:cNvSpPr/>
          <p:nvPr/>
        </p:nvSpPr>
        <p:spPr>
          <a:xfrm>
            <a:off x="841248" y="4590288"/>
            <a:ext cx="7315200" cy="237744"/>
          </a:xfrm>
          <a:prstGeom prst="rect">
            <a:avLst/>
          </a:prstGeom>
          <a:noFill/>
          <a:ln/>
        </p:spPr>
        <p:txBody>
          <a:bodyPr wrap="square" lIns="0" tIns="0" rIns="0" bIns="0" rtlCol="0" anchor="ctr"/>
          <a:lstStyle/>
          <a:p>
            <a:pPr indent="0" marL="0">
              <a:buNone/>
            </a:pPr>
            <a:r>
              <a:rPr lang="en-US" sz="1100" spc="160" kern="0" dirty="0">
                <a:solidFill>
                  <a:srgbClr val="E0A458"/>
                </a:solidFill>
                <a:latin typeface="Consolas" pitchFamily="34" charset="0"/>
                <a:ea typeface="Consolas" pitchFamily="34" charset="-122"/>
                <a:cs typeface="Consolas" pitchFamily="34" charset="-120"/>
              </a:rPr>
              <a:t>LO QUE NO SE TOMÓ PRESTADO</a:t>
            </a:r>
            <a:endParaRPr lang="en-US" sz="1100" dirty="0"/>
          </a:p>
        </p:txBody>
      </p:sp>
      <p:sp>
        <p:nvSpPr>
          <p:cNvPr id="49" name="Text 47"/>
          <p:cNvSpPr/>
          <p:nvPr/>
        </p:nvSpPr>
        <p:spPr>
          <a:xfrm>
            <a:off x="841248" y="4846320"/>
            <a:ext cx="10515600" cy="658368"/>
          </a:xfrm>
          <a:prstGeom prst="rect">
            <a:avLst/>
          </a:prstGeom>
          <a:noFill/>
          <a:ln/>
        </p:spPr>
        <p:txBody>
          <a:bodyPr wrap="square" lIns="0" tIns="0" rIns="0" bIns="0" rtlCol="0" anchor="t"/>
          <a:lstStyle/>
          <a:p>
            <a:pPr indent="0" marL="0">
              <a:lnSpc>
                <a:spcPct val="112000"/>
              </a:lnSpc>
              <a:buNone/>
            </a:pPr>
            <a:r>
              <a:rPr lang="en-US" sz="1250" dirty="0">
                <a:solidFill>
                  <a:srgbClr val="9DB2C4"/>
                </a:solidFill>
                <a:latin typeface="Calibri" pitchFamily="34" charset="0"/>
                <a:ea typeface="Calibri" pitchFamily="34" charset="-122"/>
                <a:cs typeface="Calibri" pitchFamily="34" charset="-120"/>
              </a:rPr>
              <a:t>El modelo de valoración de opciones está escrito a mano —Black-Scholes, sus griegas y la aproximación de la normal— en lugar de importar una librería. Es la pieza de la que dependen las decisiones de Gamma y Theta, así que tenía que ser código propio, legible y cubierto por pruebas.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LOS AGENTES</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11</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Todos siguen el mismo embudo</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Cada paso descarta. Ningún paso rescata.</a:t>
            </a:r>
            <a:endParaRPr lang="en-US" sz="1450" dirty="0"/>
          </a:p>
        </p:txBody>
      </p:sp>
      <p:sp>
        <p:nvSpPr>
          <p:cNvPr id="6" name="Shape 4"/>
          <p:cNvSpPr/>
          <p:nvPr/>
        </p:nvSpPr>
        <p:spPr>
          <a:xfrm>
            <a:off x="566928" y="1883664"/>
            <a:ext cx="11027664" cy="493776"/>
          </a:xfrm>
          <a:prstGeom prst="rect">
            <a:avLst/>
          </a:prstGeom>
          <a:solidFill>
            <a:srgbClr val="12293B"/>
          </a:solidFill>
          <a:ln w="12700">
            <a:solidFill>
              <a:srgbClr val="F04438"/>
            </a:solidFill>
            <a:prstDash val="solid"/>
          </a:ln>
        </p:spPr>
      </p:sp>
      <p:sp>
        <p:nvSpPr>
          <p:cNvPr id="7" name="Shape 5"/>
          <p:cNvSpPr/>
          <p:nvPr/>
        </p:nvSpPr>
        <p:spPr>
          <a:xfrm>
            <a:off x="566928" y="1883664"/>
            <a:ext cx="384048" cy="493776"/>
          </a:xfrm>
          <a:prstGeom prst="rect">
            <a:avLst/>
          </a:prstGeom>
          <a:solidFill>
            <a:srgbClr val="F04438"/>
          </a:solidFill>
          <a:ln w="12700">
            <a:solidFill>
              <a:srgbClr val="F04438"/>
            </a:solidFill>
            <a:prstDash val="solid"/>
          </a:ln>
        </p:spPr>
      </p:sp>
      <p:sp>
        <p:nvSpPr>
          <p:cNvPr id="8" name="Text 6"/>
          <p:cNvSpPr/>
          <p:nvPr/>
        </p:nvSpPr>
        <p:spPr>
          <a:xfrm>
            <a:off x="566928" y="1883664"/>
            <a:ext cx="384048" cy="493776"/>
          </a:xfrm>
          <a:prstGeom prst="rect">
            <a:avLst/>
          </a:prstGeom>
          <a:noFill/>
          <a:ln/>
        </p:spPr>
        <p:txBody>
          <a:bodyPr wrap="square" lIns="0" tIns="0" rIns="0" bIns="0" rtlCol="0" anchor="ctr"/>
          <a:lstStyle/>
          <a:p>
            <a:pPr algn="ctr" indent="0" marL="0">
              <a:buNone/>
            </a:pPr>
            <a:r>
              <a:rPr lang="en-US" sz="1400" b="1" dirty="0">
                <a:solidFill>
                  <a:srgbClr val="071522"/>
                </a:solidFill>
                <a:latin typeface="Consolas" pitchFamily="34" charset="0"/>
                <a:ea typeface="Consolas" pitchFamily="34" charset="-122"/>
                <a:cs typeface="Consolas" pitchFamily="34" charset="-120"/>
              </a:rPr>
              <a:t>0</a:t>
            </a:r>
            <a:endParaRPr lang="en-US" sz="1400" dirty="0"/>
          </a:p>
        </p:txBody>
      </p:sp>
      <p:sp>
        <p:nvSpPr>
          <p:cNvPr id="9" name="Text 7"/>
          <p:cNvSpPr/>
          <p:nvPr/>
        </p:nvSpPr>
        <p:spPr>
          <a:xfrm>
            <a:off x="1097280" y="1883664"/>
            <a:ext cx="3108960" cy="493776"/>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Revisar lo que ya está abierto</a:t>
            </a:r>
            <a:endParaRPr lang="en-US" sz="1250" dirty="0"/>
          </a:p>
        </p:txBody>
      </p:sp>
      <p:sp>
        <p:nvSpPr>
          <p:cNvPr id="10" name="Text 8"/>
          <p:cNvSpPr/>
          <p:nvPr/>
        </p:nvSpPr>
        <p:spPr>
          <a:xfrm>
            <a:off x="4279392" y="1883664"/>
            <a:ext cx="7132320" cy="493776"/>
          </a:xfrm>
          <a:prstGeom prst="rect">
            <a:avLst/>
          </a:prstGeom>
          <a:noFill/>
          <a:ln/>
        </p:spPr>
        <p:txBody>
          <a:bodyPr wrap="square" lIns="0" tIns="0" rIns="0" bIns="0" rtlCol="0" anchor="ctr"/>
          <a:lstStyle/>
          <a:p>
            <a:pPr indent="0" marL="0">
              <a:buNone/>
            </a:pPr>
            <a:r>
              <a:rPr lang="en-US" sz="1050" dirty="0">
                <a:solidFill>
                  <a:srgbClr val="9DB2C4"/>
                </a:solidFill>
                <a:latin typeface="Calibri" pitchFamily="34" charset="0"/>
                <a:ea typeface="Calibri" pitchFamily="34" charset="-122"/>
                <a:cs typeface="Calibri" pitchFamily="34" charset="-120"/>
              </a:rPr>
              <a:t>Antes de buscar nada nuevo, comprueba si lo que tiene sigue mereciendo estar ahí</a:t>
            </a:r>
            <a:endParaRPr lang="en-US" sz="1050" dirty="0"/>
          </a:p>
        </p:txBody>
      </p:sp>
      <p:sp>
        <p:nvSpPr>
          <p:cNvPr id="11" name="Shape 9"/>
          <p:cNvSpPr/>
          <p:nvPr/>
        </p:nvSpPr>
        <p:spPr>
          <a:xfrm>
            <a:off x="941832" y="2450592"/>
            <a:ext cx="10277856" cy="493776"/>
          </a:xfrm>
          <a:prstGeom prst="rect">
            <a:avLst/>
          </a:prstGeom>
          <a:solidFill>
            <a:srgbClr val="12293B"/>
          </a:solidFill>
          <a:ln w="12700">
            <a:solidFill>
              <a:srgbClr val="4D95D0"/>
            </a:solidFill>
            <a:prstDash val="solid"/>
          </a:ln>
        </p:spPr>
      </p:sp>
      <p:sp>
        <p:nvSpPr>
          <p:cNvPr id="12" name="Shape 10"/>
          <p:cNvSpPr/>
          <p:nvPr/>
        </p:nvSpPr>
        <p:spPr>
          <a:xfrm>
            <a:off x="941832" y="2450592"/>
            <a:ext cx="384048" cy="493776"/>
          </a:xfrm>
          <a:prstGeom prst="rect">
            <a:avLst/>
          </a:prstGeom>
          <a:solidFill>
            <a:srgbClr val="4D95D0"/>
          </a:solidFill>
          <a:ln w="12700">
            <a:solidFill>
              <a:srgbClr val="4D95D0"/>
            </a:solidFill>
            <a:prstDash val="solid"/>
          </a:ln>
        </p:spPr>
      </p:sp>
      <p:sp>
        <p:nvSpPr>
          <p:cNvPr id="13" name="Text 11"/>
          <p:cNvSpPr/>
          <p:nvPr/>
        </p:nvSpPr>
        <p:spPr>
          <a:xfrm>
            <a:off x="941832" y="2450592"/>
            <a:ext cx="384048" cy="493776"/>
          </a:xfrm>
          <a:prstGeom prst="rect">
            <a:avLst/>
          </a:prstGeom>
          <a:noFill/>
          <a:ln/>
        </p:spPr>
        <p:txBody>
          <a:bodyPr wrap="square" lIns="0" tIns="0" rIns="0" bIns="0" rtlCol="0" anchor="ctr"/>
          <a:lstStyle/>
          <a:p>
            <a:pPr algn="ctr" indent="0" marL="0">
              <a:buNone/>
            </a:pPr>
            <a:r>
              <a:rPr lang="en-US" sz="1400" b="1" dirty="0">
                <a:solidFill>
                  <a:srgbClr val="071522"/>
                </a:solidFill>
                <a:latin typeface="Consolas" pitchFamily="34" charset="0"/>
                <a:ea typeface="Consolas" pitchFamily="34" charset="-122"/>
                <a:cs typeface="Consolas" pitchFamily="34" charset="-120"/>
              </a:rPr>
              <a:t>1</a:t>
            </a:r>
            <a:endParaRPr lang="en-US" sz="1400" dirty="0"/>
          </a:p>
        </p:txBody>
      </p:sp>
      <p:sp>
        <p:nvSpPr>
          <p:cNvPr id="14" name="Text 12"/>
          <p:cNvSpPr/>
          <p:nvPr/>
        </p:nvSpPr>
        <p:spPr>
          <a:xfrm>
            <a:off x="1472184" y="2450592"/>
            <a:ext cx="3108960" cy="493776"/>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Filtro propio del agente</a:t>
            </a:r>
            <a:endParaRPr lang="en-US" sz="1250" dirty="0"/>
          </a:p>
        </p:txBody>
      </p:sp>
      <p:sp>
        <p:nvSpPr>
          <p:cNvPr id="15" name="Text 13"/>
          <p:cNvSpPr/>
          <p:nvPr/>
        </p:nvSpPr>
        <p:spPr>
          <a:xfrm>
            <a:off x="4654296" y="2450592"/>
            <a:ext cx="6382512" cy="493776"/>
          </a:xfrm>
          <a:prstGeom prst="rect">
            <a:avLst/>
          </a:prstGeom>
          <a:noFill/>
          <a:ln/>
        </p:spPr>
        <p:txBody>
          <a:bodyPr wrap="square" lIns="0" tIns="0" rIns="0" bIns="0" rtlCol="0" anchor="ctr"/>
          <a:lstStyle/>
          <a:p>
            <a:pPr indent="0" marL="0">
              <a:buNone/>
            </a:pPr>
            <a:r>
              <a:rPr lang="en-US" sz="1050" dirty="0">
                <a:solidFill>
                  <a:srgbClr val="9DB2C4"/>
                </a:solidFill>
                <a:latin typeface="Calibri" pitchFamily="34" charset="0"/>
                <a:ea typeface="Calibri" pitchFamily="34" charset="-122"/>
                <a:cs typeface="Calibri" pitchFamily="34" charset="-120"/>
              </a:rPr>
              <a:t>Fundamentales en acciones; cadena de opciones y liquidez en derivados</a:t>
            </a:r>
            <a:endParaRPr lang="en-US" sz="1050" dirty="0"/>
          </a:p>
        </p:txBody>
      </p:sp>
      <p:sp>
        <p:nvSpPr>
          <p:cNvPr id="16" name="Shape 14"/>
          <p:cNvSpPr/>
          <p:nvPr/>
        </p:nvSpPr>
        <p:spPr>
          <a:xfrm>
            <a:off x="1316736" y="3017520"/>
            <a:ext cx="9528048" cy="493776"/>
          </a:xfrm>
          <a:prstGeom prst="rect">
            <a:avLst/>
          </a:prstGeom>
          <a:solidFill>
            <a:srgbClr val="12293B"/>
          </a:solidFill>
          <a:ln w="12700">
            <a:solidFill>
              <a:srgbClr val="10B981"/>
            </a:solidFill>
            <a:prstDash val="solid"/>
          </a:ln>
        </p:spPr>
      </p:sp>
      <p:sp>
        <p:nvSpPr>
          <p:cNvPr id="17" name="Shape 15"/>
          <p:cNvSpPr/>
          <p:nvPr/>
        </p:nvSpPr>
        <p:spPr>
          <a:xfrm>
            <a:off x="1316736" y="3017520"/>
            <a:ext cx="384048" cy="493776"/>
          </a:xfrm>
          <a:prstGeom prst="rect">
            <a:avLst/>
          </a:prstGeom>
          <a:solidFill>
            <a:srgbClr val="10B981"/>
          </a:solidFill>
          <a:ln w="12700">
            <a:solidFill>
              <a:srgbClr val="10B981"/>
            </a:solidFill>
            <a:prstDash val="solid"/>
          </a:ln>
        </p:spPr>
      </p:sp>
      <p:sp>
        <p:nvSpPr>
          <p:cNvPr id="18" name="Text 16"/>
          <p:cNvSpPr/>
          <p:nvPr/>
        </p:nvSpPr>
        <p:spPr>
          <a:xfrm>
            <a:off x="1316736" y="3017520"/>
            <a:ext cx="384048" cy="493776"/>
          </a:xfrm>
          <a:prstGeom prst="rect">
            <a:avLst/>
          </a:prstGeom>
          <a:noFill/>
          <a:ln/>
        </p:spPr>
        <p:txBody>
          <a:bodyPr wrap="square" lIns="0" tIns="0" rIns="0" bIns="0" rtlCol="0" anchor="ctr"/>
          <a:lstStyle/>
          <a:p>
            <a:pPr algn="ctr" indent="0" marL="0">
              <a:buNone/>
            </a:pPr>
            <a:r>
              <a:rPr lang="en-US" sz="1400" b="1" dirty="0">
                <a:solidFill>
                  <a:srgbClr val="071522"/>
                </a:solidFill>
                <a:latin typeface="Consolas" pitchFamily="34" charset="0"/>
                <a:ea typeface="Consolas" pitchFamily="34" charset="-122"/>
                <a:cs typeface="Consolas" pitchFamily="34" charset="-120"/>
              </a:rPr>
              <a:t>2</a:t>
            </a:r>
            <a:endParaRPr lang="en-US" sz="1400" dirty="0"/>
          </a:p>
        </p:txBody>
      </p:sp>
      <p:sp>
        <p:nvSpPr>
          <p:cNvPr id="19" name="Text 17"/>
          <p:cNvSpPr/>
          <p:nvPr/>
        </p:nvSpPr>
        <p:spPr>
          <a:xfrm>
            <a:off x="1847088" y="3017520"/>
            <a:ext cx="3108960" cy="493776"/>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Proyección a 30 días</a:t>
            </a:r>
            <a:endParaRPr lang="en-US" sz="1250" dirty="0"/>
          </a:p>
        </p:txBody>
      </p:sp>
      <p:sp>
        <p:nvSpPr>
          <p:cNvPr id="20" name="Text 18"/>
          <p:cNvSpPr/>
          <p:nvPr/>
        </p:nvSpPr>
        <p:spPr>
          <a:xfrm>
            <a:off x="5029200" y="3017520"/>
            <a:ext cx="5632704" cy="493776"/>
          </a:xfrm>
          <a:prstGeom prst="rect">
            <a:avLst/>
          </a:prstGeom>
          <a:noFill/>
          <a:ln/>
        </p:spPr>
        <p:txBody>
          <a:bodyPr wrap="square" lIns="0" tIns="0" rIns="0" bIns="0" rtlCol="0" anchor="ctr"/>
          <a:lstStyle/>
          <a:p>
            <a:pPr indent="0" marL="0">
              <a:buNone/>
            </a:pPr>
            <a:r>
              <a:rPr lang="en-US" sz="1050" dirty="0">
                <a:solidFill>
                  <a:srgbClr val="9DB2C4"/>
                </a:solidFill>
                <a:latin typeface="Calibri" pitchFamily="34" charset="0"/>
                <a:ea typeface="Calibri" pitchFamily="34" charset="-122"/>
                <a:cs typeface="Calibri" pitchFamily="34" charset="-120"/>
              </a:rPr>
              <a:t>Regresión sobre los últimos 60 cierres, mezclada con una media exponencial</a:t>
            </a:r>
            <a:endParaRPr lang="en-US" sz="1050" dirty="0"/>
          </a:p>
        </p:txBody>
      </p:sp>
      <p:sp>
        <p:nvSpPr>
          <p:cNvPr id="21" name="Shape 19"/>
          <p:cNvSpPr/>
          <p:nvPr/>
        </p:nvSpPr>
        <p:spPr>
          <a:xfrm>
            <a:off x="1691640" y="3584448"/>
            <a:ext cx="8778240" cy="493776"/>
          </a:xfrm>
          <a:prstGeom prst="rect">
            <a:avLst/>
          </a:prstGeom>
          <a:solidFill>
            <a:srgbClr val="12293B"/>
          </a:solidFill>
          <a:ln w="12700">
            <a:solidFill>
              <a:srgbClr val="38BDF8"/>
            </a:solidFill>
            <a:prstDash val="solid"/>
          </a:ln>
        </p:spPr>
      </p:sp>
      <p:sp>
        <p:nvSpPr>
          <p:cNvPr id="22" name="Shape 20"/>
          <p:cNvSpPr/>
          <p:nvPr/>
        </p:nvSpPr>
        <p:spPr>
          <a:xfrm>
            <a:off x="1691640" y="3584448"/>
            <a:ext cx="384048" cy="493776"/>
          </a:xfrm>
          <a:prstGeom prst="rect">
            <a:avLst/>
          </a:prstGeom>
          <a:solidFill>
            <a:srgbClr val="38BDF8"/>
          </a:solidFill>
          <a:ln w="12700">
            <a:solidFill>
              <a:srgbClr val="38BDF8"/>
            </a:solidFill>
            <a:prstDash val="solid"/>
          </a:ln>
        </p:spPr>
      </p:sp>
      <p:sp>
        <p:nvSpPr>
          <p:cNvPr id="23" name="Text 21"/>
          <p:cNvSpPr/>
          <p:nvPr/>
        </p:nvSpPr>
        <p:spPr>
          <a:xfrm>
            <a:off x="1691640" y="3584448"/>
            <a:ext cx="384048" cy="493776"/>
          </a:xfrm>
          <a:prstGeom prst="rect">
            <a:avLst/>
          </a:prstGeom>
          <a:noFill/>
          <a:ln/>
        </p:spPr>
        <p:txBody>
          <a:bodyPr wrap="square" lIns="0" tIns="0" rIns="0" bIns="0" rtlCol="0" anchor="ctr"/>
          <a:lstStyle/>
          <a:p>
            <a:pPr algn="ctr" indent="0" marL="0">
              <a:buNone/>
            </a:pPr>
            <a:r>
              <a:rPr lang="en-US" sz="1400" b="1" dirty="0">
                <a:solidFill>
                  <a:srgbClr val="071522"/>
                </a:solidFill>
                <a:latin typeface="Consolas" pitchFamily="34" charset="0"/>
                <a:ea typeface="Consolas" pitchFamily="34" charset="-122"/>
                <a:cs typeface="Consolas" pitchFamily="34" charset="-120"/>
              </a:rPr>
              <a:t>3</a:t>
            </a:r>
            <a:endParaRPr lang="en-US" sz="1400" dirty="0"/>
          </a:p>
        </p:txBody>
      </p:sp>
      <p:sp>
        <p:nvSpPr>
          <p:cNvPr id="24" name="Text 22"/>
          <p:cNvSpPr/>
          <p:nvPr/>
        </p:nvSpPr>
        <p:spPr>
          <a:xfrm>
            <a:off x="2221992" y="3584448"/>
            <a:ext cx="3108960" cy="493776"/>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Momentum</a:t>
            </a:r>
            <a:endParaRPr lang="en-US" sz="1250" dirty="0"/>
          </a:p>
        </p:txBody>
      </p:sp>
      <p:sp>
        <p:nvSpPr>
          <p:cNvPr id="25" name="Text 23"/>
          <p:cNvSpPr/>
          <p:nvPr/>
        </p:nvSpPr>
        <p:spPr>
          <a:xfrm>
            <a:off x="5404104" y="3584448"/>
            <a:ext cx="4882896" cy="493776"/>
          </a:xfrm>
          <a:prstGeom prst="rect">
            <a:avLst/>
          </a:prstGeom>
          <a:noFill/>
          <a:ln/>
        </p:spPr>
        <p:txBody>
          <a:bodyPr wrap="square" lIns="0" tIns="0" rIns="0" bIns="0" rtlCol="0" anchor="ctr"/>
          <a:lstStyle/>
          <a:p>
            <a:pPr indent="0" marL="0">
              <a:buNone/>
            </a:pPr>
            <a:r>
              <a:rPr lang="en-US" sz="1050" dirty="0">
                <a:solidFill>
                  <a:srgbClr val="9DB2C4"/>
                </a:solidFill>
                <a:latin typeface="Calibri" pitchFamily="34" charset="0"/>
                <a:ea typeface="Calibri" pitchFamily="34" charset="-122"/>
                <a:cs typeface="Calibri" pitchFamily="34" charset="-120"/>
              </a:rPr>
              <a:t>Fuerza relativa, cruce de medias y volumen: hacen falta 2 de 3</a:t>
            </a:r>
            <a:endParaRPr lang="en-US" sz="1050" dirty="0"/>
          </a:p>
        </p:txBody>
      </p:sp>
      <p:sp>
        <p:nvSpPr>
          <p:cNvPr id="26" name="Shape 24"/>
          <p:cNvSpPr/>
          <p:nvPr/>
        </p:nvSpPr>
        <p:spPr>
          <a:xfrm>
            <a:off x="2066544" y="4151376"/>
            <a:ext cx="8028432" cy="493776"/>
          </a:xfrm>
          <a:prstGeom prst="rect">
            <a:avLst/>
          </a:prstGeom>
          <a:solidFill>
            <a:srgbClr val="12293B"/>
          </a:solidFill>
          <a:ln w="12700">
            <a:solidFill>
              <a:srgbClr val="8B8FF0"/>
            </a:solidFill>
            <a:prstDash val="solid"/>
          </a:ln>
        </p:spPr>
      </p:sp>
      <p:sp>
        <p:nvSpPr>
          <p:cNvPr id="27" name="Shape 25"/>
          <p:cNvSpPr/>
          <p:nvPr/>
        </p:nvSpPr>
        <p:spPr>
          <a:xfrm>
            <a:off x="2066544" y="4151376"/>
            <a:ext cx="384048" cy="493776"/>
          </a:xfrm>
          <a:prstGeom prst="rect">
            <a:avLst/>
          </a:prstGeom>
          <a:solidFill>
            <a:srgbClr val="8B8FF0"/>
          </a:solidFill>
          <a:ln w="12700">
            <a:solidFill>
              <a:srgbClr val="8B8FF0"/>
            </a:solidFill>
            <a:prstDash val="solid"/>
          </a:ln>
        </p:spPr>
      </p:sp>
      <p:sp>
        <p:nvSpPr>
          <p:cNvPr id="28" name="Text 26"/>
          <p:cNvSpPr/>
          <p:nvPr/>
        </p:nvSpPr>
        <p:spPr>
          <a:xfrm>
            <a:off x="2066544" y="4151376"/>
            <a:ext cx="384048" cy="493776"/>
          </a:xfrm>
          <a:prstGeom prst="rect">
            <a:avLst/>
          </a:prstGeom>
          <a:noFill/>
          <a:ln/>
        </p:spPr>
        <p:txBody>
          <a:bodyPr wrap="square" lIns="0" tIns="0" rIns="0" bIns="0" rtlCol="0" anchor="ctr"/>
          <a:lstStyle/>
          <a:p>
            <a:pPr algn="ctr" indent="0" marL="0">
              <a:buNone/>
            </a:pPr>
            <a:r>
              <a:rPr lang="en-US" sz="1400" b="1" dirty="0">
                <a:solidFill>
                  <a:srgbClr val="071522"/>
                </a:solidFill>
                <a:latin typeface="Consolas" pitchFamily="34" charset="0"/>
                <a:ea typeface="Consolas" pitchFamily="34" charset="-122"/>
                <a:cs typeface="Consolas" pitchFamily="34" charset="-120"/>
              </a:rPr>
              <a:t>4</a:t>
            </a:r>
            <a:endParaRPr lang="en-US" sz="1400" dirty="0"/>
          </a:p>
        </p:txBody>
      </p:sp>
      <p:sp>
        <p:nvSpPr>
          <p:cNvPr id="29" name="Text 27"/>
          <p:cNvSpPr/>
          <p:nvPr/>
        </p:nvSpPr>
        <p:spPr>
          <a:xfrm>
            <a:off x="2596896" y="4151376"/>
            <a:ext cx="3108960" cy="493776"/>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Confirmación con lenguaje</a:t>
            </a:r>
            <a:endParaRPr lang="en-US" sz="1250" dirty="0"/>
          </a:p>
        </p:txBody>
      </p:sp>
      <p:sp>
        <p:nvSpPr>
          <p:cNvPr id="30" name="Text 28"/>
          <p:cNvSpPr/>
          <p:nvPr/>
        </p:nvSpPr>
        <p:spPr>
          <a:xfrm>
            <a:off x="5779008" y="4151376"/>
            <a:ext cx="4133088" cy="493776"/>
          </a:xfrm>
          <a:prstGeom prst="rect">
            <a:avLst/>
          </a:prstGeom>
          <a:noFill/>
          <a:ln/>
        </p:spPr>
        <p:txBody>
          <a:bodyPr wrap="square" lIns="0" tIns="0" rIns="0" bIns="0" rtlCol="0" anchor="ctr"/>
          <a:lstStyle/>
          <a:p>
            <a:pPr indent="0" marL="0">
              <a:buNone/>
            </a:pPr>
            <a:r>
              <a:rPr lang="en-US" sz="1050" dirty="0">
                <a:solidFill>
                  <a:srgbClr val="9DB2C4"/>
                </a:solidFill>
                <a:latin typeface="Calibri" pitchFamily="34" charset="0"/>
                <a:ea typeface="Calibri" pitchFamily="34" charset="-122"/>
                <a:cs typeface="Calibri" pitchFamily="34" charset="-120"/>
              </a:rPr>
              <a:t>Tres papeles —técnico, fundamental y gestor— con convicción mínima de 7 sobre 10</a:t>
            </a:r>
            <a:endParaRPr lang="en-US" sz="1050" dirty="0"/>
          </a:p>
        </p:txBody>
      </p:sp>
      <p:sp>
        <p:nvSpPr>
          <p:cNvPr id="31" name="Shape 29"/>
          <p:cNvSpPr/>
          <p:nvPr/>
        </p:nvSpPr>
        <p:spPr>
          <a:xfrm>
            <a:off x="2441448" y="4718304"/>
            <a:ext cx="7278624" cy="493776"/>
          </a:xfrm>
          <a:prstGeom prst="rect">
            <a:avLst/>
          </a:prstGeom>
          <a:solidFill>
            <a:srgbClr val="12293B"/>
          </a:solidFill>
          <a:ln w="12700">
            <a:solidFill>
              <a:srgbClr val="E0A458"/>
            </a:solidFill>
            <a:prstDash val="solid"/>
          </a:ln>
        </p:spPr>
      </p:sp>
      <p:sp>
        <p:nvSpPr>
          <p:cNvPr id="32" name="Shape 30"/>
          <p:cNvSpPr/>
          <p:nvPr/>
        </p:nvSpPr>
        <p:spPr>
          <a:xfrm>
            <a:off x="2441448" y="4718304"/>
            <a:ext cx="384048" cy="493776"/>
          </a:xfrm>
          <a:prstGeom prst="rect">
            <a:avLst/>
          </a:prstGeom>
          <a:solidFill>
            <a:srgbClr val="E0A458"/>
          </a:solidFill>
          <a:ln w="12700">
            <a:solidFill>
              <a:srgbClr val="E0A458"/>
            </a:solidFill>
            <a:prstDash val="solid"/>
          </a:ln>
        </p:spPr>
      </p:sp>
      <p:sp>
        <p:nvSpPr>
          <p:cNvPr id="33" name="Text 31"/>
          <p:cNvSpPr/>
          <p:nvPr/>
        </p:nvSpPr>
        <p:spPr>
          <a:xfrm>
            <a:off x="2441448" y="4718304"/>
            <a:ext cx="384048" cy="493776"/>
          </a:xfrm>
          <a:prstGeom prst="rect">
            <a:avLst/>
          </a:prstGeom>
          <a:noFill/>
          <a:ln/>
        </p:spPr>
        <p:txBody>
          <a:bodyPr wrap="square" lIns="0" tIns="0" rIns="0" bIns="0" rtlCol="0" anchor="ctr"/>
          <a:lstStyle/>
          <a:p>
            <a:pPr algn="ctr" indent="0" marL="0">
              <a:buNone/>
            </a:pPr>
            <a:r>
              <a:rPr lang="en-US" sz="1400" b="1" dirty="0">
                <a:solidFill>
                  <a:srgbClr val="071522"/>
                </a:solidFill>
                <a:latin typeface="Consolas" pitchFamily="34" charset="0"/>
                <a:ea typeface="Consolas" pitchFamily="34" charset="-122"/>
                <a:cs typeface="Consolas" pitchFamily="34" charset="-120"/>
              </a:rPr>
              <a:t>5</a:t>
            </a:r>
            <a:endParaRPr lang="en-US" sz="1400" dirty="0"/>
          </a:p>
        </p:txBody>
      </p:sp>
      <p:sp>
        <p:nvSpPr>
          <p:cNvPr id="34" name="Text 32"/>
          <p:cNvSpPr/>
          <p:nvPr/>
        </p:nvSpPr>
        <p:spPr>
          <a:xfrm>
            <a:off x="2971800" y="4718304"/>
            <a:ext cx="3108960" cy="493776"/>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Alta registrada</a:t>
            </a:r>
            <a:endParaRPr lang="en-US" sz="1250" dirty="0"/>
          </a:p>
        </p:txBody>
      </p:sp>
      <p:sp>
        <p:nvSpPr>
          <p:cNvPr id="35" name="Text 33"/>
          <p:cNvSpPr/>
          <p:nvPr/>
        </p:nvSpPr>
        <p:spPr>
          <a:xfrm>
            <a:off x="6153912" y="4718304"/>
            <a:ext cx="3383280" cy="493776"/>
          </a:xfrm>
          <a:prstGeom prst="rect">
            <a:avLst/>
          </a:prstGeom>
          <a:noFill/>
          <a:ln/>
        </p:spPr>
        <p:txBody>
          <a:bodyPr wrap="square" lIns="0" tIns="0" rIns="0" bIns="0" rtlCol="0" anchor="ctr"/>
          <a:lstStyle/>
          <a:p>
            <a:pPr indent="0" marL="0">
              <a:buNone/>
            </a:pPr>
            <a:r>
              <a:rPr lang="en-US" sz="1050" dirty="0">
                <a:solidFill>
                  <a:srgbClr val="9DB2C4"/>
                </a:solidFill>
                <a:latin typeface="Calibri" pitchFamily="34" charset="0"/>
                <a:ea typeface="Calibri" pitchFamily="34" charset="-122"/>
                <a:cs typeface="Calibri" pitchFamily="34" charset="-120"/>
              </a:rPr>
              <a:t>Precio real de entrada, objetivo, stop y motivo, en una sola tabla auditable</a:t>
            </a:r>
            <a:endParaRPr lang="en-US" sz="1050" dirty="0"/>
          </a:p>
        </p:txBody>
      </p:sp>
      <p:sp>
        <p:nvSpPr>
          <p:cNvPr id="36" name="Shape 34"/>
          <p:cNvSpPr/>
          <p:nvPr/>
        </p:nvSpPr>
        <p:spPr>
          <a:xfrm>
            <a:off x="566928" y="5358384"/>
            <a:ext cx="11027664" cy="603504"/>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7" name="Shape 35"/>
          <p:cNvSpPr/>
          <p:nvPr/>
        </p:nvSpPr>
        <p:spPr>
          <a:xfrm>
            <a:off x="566928" y="5358384"/>
            <a:ext cx="64008" cy="603504"/>
          </a:xfrm>
          <a:prstGeom prst="rect">
            <a:avLst/>
          </a:prstGeom>
          <a:solidFill>
            <a:srgbClr val="E0A458"/>
          </a:solidFill>
          <a:ln w="12700">
            <a:solidFill>
              <a:srgbClr val="E0A458"/>
            </a:solidFill>
            <a:prstDash val="solid"/>
          </a:ln>
        </p:spPr>
      </p:sp>
      <p:sp>
        <p:nvSpPr>
          <p:cNvPr id="38" name="Text 36"/>
          <p:cNvSpPr/>
          <p:nvPr/>
        </p:nvSpPr>
        <p:spPr>
          <a:xfrm>
            <a:off x="841248" y="5358384"/>
            <a:ext cx="10515600" cy="603504"/>
          </a:xfrm>
          <a:prstGeom prst="rect">
            <a:avLst/>
          </a:prstGeom>
          <a:noFill/>
          <a:ln/>
        </p:spPr>
        <p:txBody>
          <a:bodyPr wrap="square" lIns="0" tIns="0" rIns="0" bIns="0" rtlCol="0" anchor="ctr"/>
          <a:lstStyle/>
          <a:p>
            <a:pPr indent="0" marL="0">
              <a:buNone/>
            </a:pPr>
            <a:r>
              <a:rPr lang="en-US" sz="1250" b="1" dirty="0">
                <a:solidFill>
                  <a:srgbClr val="E0A458"/>
                </a:solidFill>
                <a:latin typeface="Calibri" pitchFamily="34" charset="0"/>
                <a:ea typeface="Calibri" pitchFamily="34" charset="-122"/>
                <a:cs typeface="Calibri" pitchFamily="34" charset="-120"/>
              </a:rPr>
              <a:t>El embudo se estrecha:  </a:t>
            </a:r>
            <a:pPr indent="0" marL="0">
              <a:buNone/>
            </a:pPr>
            <a:r>
              <a:rPr lang="en-US" sz="1250" dirty="0">
                <a:solidFill>
                  <a:srgbClr val="9DB2C4"/>
                </a:solidFill>
                <a:latin typeface="Calibri" pitchFamily="34" charset="0"/>
                <a:ea typeface="Calibri" pitchFamily="34" charset="-122"/>
                <a:cs typeface="Calibri" pitchFamily="34" charset="-120"/>
              </a:rPr>
              <a:t>de cientos de candidatos a unos pocos. Casi todas las ejecuciones terminan sin ninguna recomendación, y eso es exactamente el comportamiento correcto.</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LOS AGENTES</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12</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Agente Peter · el analista fundamental</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Busca compañías buenas a precio razonable, y solo las compra si además el mercado ya se está moviendo a favor.</a:t>
            </a:r>
            <a:endParaRPr lang="en-US" sz="1450" dirty="0"/>
          </a:p>
        </p:txBody>
      </p:sp>
      <p:sp>
        <p:nvSpPr>
          <p:cNvPr id="6" name="Shape 4"/>
          <p:cNvSpPr/>
          <p:nvPr/>
        </p:nvSpPr>
        <p:spPr>
          <a:xfrm>
            <a:off x="566928" y="1938528"/>
            <a:ext cx="2011680" cy="1152144"/>
          </a:xfrm>
          <a:prstGeom prst="rect">
            <a:avLst/>
          </a:prstGeom>
          <a:solidFill>
            <a:srgbClr val="12293B"/>
          </a:solidFill>
          <a:ln w="13970">
            <a:solidFill>
              <a:srgbClr val="10B981"/>
            </a:solidFill>
            <a:prstDash val="solid"/>
          </a:ln>
        </p:spPr>
      </p:sp>
      <p:sp>
        <p:nvSpPr>
          <p:cNvPr id="7" name="Text 5"/>
          <p:cNvSpPr/>
          <p:nvPr/>
        </p:nvSpPr>
        <p:spPr>
          <a:xfrm>
            <a:off x="694944"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1 · Universo</a:t>
            </a:r>
            <a:endParaRPr lang="en-US" sz="1200" dirty="0"/>
          </a:p>
        </p:txBody>
      </p:sp>
      <p:sp>
        <p:nvSpPr>
          <p:cNvPr id="8" name="Text 6"/>
          <p:cNvSpPr/>
          <p:nvPr/>
        </p:nvSpPr>
        <p:spPr>
          <a:xfrm>
            <a:off x="694944"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443 valores</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S&amp;P 500 + NASDAQ 100</a:t>
            </a:r>
            <a:endParaRPr lang="en-US" sz="950" dirty="0"/>
          </a:p>
        </p:txBody>
      </p:sp>
      <p:sp>
        <p:nvSpPr>
          <p:cNvPr id="9" name="Shape 7"/>
          <p:cNvSpPr/>
          <p:nvPr/>
        </p:nvSpPr>
        <p:spPr>
          <a:xfrm>
            <a:off x="2633472" y="2414016"/>
            <a:ext cx="274320" cy="201168"/>
          </a:xfrm>
          <a:prstGeom prst="rightArrow">
            <a:avLst/>
          </a:prstGeom>
          <a:solidFill>
            <a:srgbClr val="10B981"/>
          </a:solidFill>
          <a:ln w="12700">
            <a:solidFill>
              <a:srgbClr val="10B981"/>
            </a:solidFill>
            <a:prstDash val="solid"/>
          </a:ln>
        </p:spPr>
      </p:sp>
      <p:sp>
        <p:nvSpPr>
          <p:cNvPr id="10" name="Shape 8"/>
          <p:cNvSpPr/>
          <p:nvPr/>
        </p:nvSpPr>
        <p:spPr>
          <a:xfrm>
            <a:off x="2816352" y="1938528"/>
            <a:ext cx="2011680" cy="1152144"/>
          </a:xfrm>
          <a:prstGeom prst="rect">
            <a:avLst/>
          </a:prstGeom>
          <a:solidFill>
            <a:srgbClr val="12293B"/>
          </a:solidFill>
          <a:ln w="13970">
            <a:solidFill>
              <a:srgbClr val="10B981"/>
            </a:solidFill>
            <a:prstDash val="solid"/>
          </a:ln>
        </p:spPr>
      </p:sp>
      <p:sp>
        <p:nvSpPr>
          <p:cNvPr id="11" name="Text 9"/>
          <p:cNvSpPr/>
          <p:nvPr/>
        </p:nvSpPr>
        <p:spPr>
          <a:xfrm>
            <a:off x="2944368"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2 · Criba Lynch</a:t>
            </a:r>
            <a:endParaRPr lang="en-US" sz="1200" dirty="0"/>
          </a:p>
        </p:txBody>
      </p:sp>
      <p:sp>
        <p:nvSpPr>
          <p:cNvPr id="12" name="Text 10"/>
          <p:cNvSpPr/>
          <p:nvPr/>
        </p:nvSpPr>
        <p:spPr>
          <a:xfrm>
            <a:off x="2944368"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Los 6 criterios</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sin excepción</a:t>
            </a:r>
            <a:endParaRPr lang="en-US" sz="950" dirty="0"/>
          </a:p>
        </p:txBody>
      </p:sp>
      <p:sp>
        <p:nvSpPr>
          <p:cNvPr id="13" name="Shape 11"/>
          <p:cNvSpPr/>
          <p:nvPr/>
        </p:nvSpPr>
        <p:spPr>
          <a:xfrm>
            <a:off x="4882896" y="2414016"/>
            <a:ext cx="274320" cy="201168"/>
          </a:xfrm>
          <a:prstGeom prst="rightArrow">
            <a:avLst/>
          </a:prstGeom>
          <a:solidFill>
            <a:srgbClr val="10B981"/>
          </a:solidFill>
          <a:ln w="12700">
            <a:solidFill>
              <a:srgbClr val="10B981"/>
            </a:solidFill>
            <a:prstDash val="solid"/>
          </a:ln>
        </p:spPr>
      </p:sp>
      <p:sp>
        <p:nvSpPr>
          <p:cNvPr id="14" name="Shape 12"/>
          <p:cNvSpPr/>
          <p:nvPr/>
        </p:nvSpPr>
        <p:spPr>
          <a:xfrm>
            <a:off x="5065776" y="1938528"/>
            <a:ext cx="2011680" cy="1152144"/>
          </a:xfrm>
          <a:prstGeom prst="rect">
            <a:avLst/>
          </a:prstGeom>
          <a:solidFill>
            <a:srgbClr val="12293B"/>
          </a:solidFill>
          <a:ln w="13970">
            <a:solidFill>
              <a:srgbClr val="10B981"/>
            </a:solidFill>
            <a:prstDash val="solid"/>
          </a:ln>
        </p:spPr>
      </p:sp>
      <p:sp>
        <p:nvSpPr>
          <p:cNvPr id="15" name="Text 13"/>
          <p:cNvSpPr/>
          <p:nvPr/>
        </p:nvSpPr>
        <p:spPr>
          <a:xfrm>
            <a:off x="5193792"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3 · Proyección</a:t>
            </a:r>
            <a:endParaRPr lang="en-US" sz="1200" dirty="0"/>
          </a:p>
        </p:txBody>
      </p:sp>
      <p:sp>
        <p:nvSpPr>
          <p:cNvPr id="16" name="Text 14"/>
          <p:cNvSpPr/>
          <p:nvPr/>
        </p:nvSpPr>
        <p:spPr>
          <a:xfrm>
            <a:off x="5193792"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Retorno esperado</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a 30 días ≥ +2 %</a:t>
            </a:r>
            <a:endParaRPr lang="en-US" sz="950" dirty="0"/>
          </a:p>
        </p:txBody>
      </p:sp>
      <p:sp>
        <p:nvSpPr>
          <p:cNvPr id="17" name="Shape 15"/>
          <p:cNvSpPr/>
          <p:nvPr/>
        </p:nvSpPr>
        <p:spPr>
          <a:xfrm>
            <a:off x="7132320" y="2414016"/>
            <a:ext cx="274320" cy="201168"/>
          </a:xfrm>
          <a:prstGeom prst="rightArrow">
            <a:avLst/>
          </a:prstGeom>
          <a:solidFill>
            <a:srgbClr val="10B981"/>
          </a:solidFill>
          <a:ln w="12700">
            <a:solidFill>
              <a:srgbClr val="10B981"/>
            </a:solidFill>
            <a:prstDash val="solid"/>
          </a:ln>
        </p:spPr>
      </p:sp>
      <p:sp>
        <p:nvSpPr>
          <p:cNvPr id="18" name="Shape 16"/>
          <p:cNvSpPr/>
          <p:nvPr/>
        </p:nvSpPr>
        <p:spPr>
          <a:xfrm>
            <a:off x="7315200" y="1938528"/>
            <a:ext cx="2011680" cy="1152144"/>
          </a:xfrm>
          <a:prstGeom prst="rect">
            <a:avLst/>
          </a:prstGeom>
          <a:solidFill>
            <a:srgbClr val="12293B"/>
          </a:solidFill>
          <a:ln w="13970">
            <a:solidFill>
              <a:srgbClr val="10B981"/>
            </a:solidFill>
            <a:prstDash val="solid"/>
          </a:ln>
        </p:spPr>
      </p:sp>
      <p:sp>
        <p:nvSpPr>
          <p:cNvPr id="19" name="Text 17"/>
          <p:cNvSpPr/>
          <p:nvPr/>
        </p:nvSpPr>
        <p:spPr>
          <a:xfrm>
            <a:off x="7443216"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4 · Momentum</a:t>
            </a:r>
            <a:endParaRPr lang="en-US" sz="1200" dirty="0"/>
          </a:p>
        </p:txBody>
      </p:sp>
      <p:sp>
        <p:nvSpPr>
          <p:cNvPr id="20" name="Text 18"/>
          <p:cNvSpPr/>
          <p:nvPr/>
        </p:nvSpPr>
        <p:spPr>
          <a:xfrm>
            <a:off x="7443216"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2 de 3 señales</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de precio y volumen</a:t>
            </a:r>
            <a:endParaRPr lang="en-US" sz="950" dirty="0"/>
          </a:p>
        </p:txBody>
      </p:sp>
      <p:sp>
        <p:nvSpPr>
          <p:cNvPr id="21" name="Shape 19"/>
          <p:cNvSpPr/>
          <p:nvPr/>
        </p:nvSpPr>
        <p:spPr>
          <a:xfrm>
            <a:off x="9381744" y="2414016"/>
            <a:ext cx="274320" cy="201168"/>
          </a:xfrm>
          <a:prstGeom prst="rightArrow">
            <a:avLst/>
          </a:prstGeom>
          <a:solidFill>
            <a:srgbClr val="10B981"/>
          </a:solidFill>
          <a:ln w="12700">
            <a:solidFill>
              <a:srgbClr val="10B981"/>
            </a:solidFill>
            <a:prstDash val="solid"/>
          </a:ln>
        </p:spPr>
      </p:sp>
      <p:sp>
        <p:nvSpPr>
          <p:cNvPr id="22" name="Shape 20"/>
          <p:cNvSpPr/>
          <p:nvPr/>
        </p:nvSpPr>
        <p:spPr>
          <a:xfrm>
            <a:off x="9564624" y="1938528"/>
            <a:ext cx="2011680" cy="1152144"/>
          </a:xfrm>
          <a:prstGeom prst="rect">
            <a:avLst/>
          </a:prstGeom>
          <a:solidFill>
            <a:srgbClr val="12293B"/>
          </a:solidFill>
          <a:ln w="13970">
            <a:solidFill>
              <a:srgbClr val="10B981"/>
            </a:solidFill>
            <a:prstDash val="solid"/>
          </a:ln>
        </p:spPr>
      </p:sp>
      <p:sp>
        <p:nvSpPr>
          <p:cNvPr id="23" name="Text 21"/>
          <p:cNvSpPr/>
          <p:nvPr/>
        </p:nvSpPr>
        <p:spPr>
          <a:xfrm>
            <a:off x="9692640"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5 · Juicio</a:t>
            </a:r>
            <a:endParaRPr lang="en-US" sz="1200" dirty="0"/>
          </a:p>
        </p:txBody>
      </p:sp>
      <p:sp>
        <p:nvSpPr>
          <p:cNvPr id="24" name="Text 22"/>
          <p:cNvSpPr/>
          <p:nvPr/>
        </p:nvSpPr>
        <p:spPr>
          <a:xfrm>
            <a:off x="9692640"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Convicción ≥ 7/10</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y dirección de compra</a:t>
            </a:r>
            <a:endParaRPr lang="en-US" sz="950" dirty="0"/>
          </a:p>
        </p:txBody>
      </p:sp>
      <p:sp>
        <p:nvSpPr>
          <p:cNvPr id="25" name="Text 23"/>
          <p:cNvSpPr/>
          <p:nvPr/>
        </p:nvSpPr>
        <p:spPr>
          <a:xfrm>
            <a:off x="566928" y="3401568"/>
            <a:ext cx="7315200" cy="237744"/>
          </a:xfrm>
          <a:prstGeom prst="rect">
            <a:avLst/>
          </a:prstGeom>
          <a:noFill/>
          <a:ln/>
        </p:spPr>
        <p:txBody>
          <a:bodyPr wrap="square" lIns="0" tIns="0" rIns="0" bIns="0" rtlCol="0" anchor="ctr"/>
          <a:lstStyle/>
          <a:p>
            <a:pPr indent="0" marL="0">
              <a:buNone/>
            </a:pPr>
            <a:r>
              <a:rPr lang="en-US" sz="1100" spc="160" kern="0" dirty="0">
                <a:solidFill>
                  <a:srgbClr val="10B981"/>
                </a:solidFill>
                <a:latin typeface="Consolas" pitchFamily="34" charset="0"/>
                <a:ea typeface="Consolas" pitchFamily="34" charset="-122"/>
                <a:cs typeface="Consolas" pitchFamily="34" charset="-120"/>
              </a:rPr>
              <a:t>LOS SEIS CRITERIOS, CON SUS UMBRALES REALES</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3675888"/>
          <a:ext cx="11027664" cy="914400"/>
        </p:xfrm>
        <a:graphic>
          <a:graphicData uri="http://schemas.openxmlformats.org/drawingml/2006/table">
            <a:tbl>
              <a:tblPr/>
              <a:tblGrid>
                <a:gridCol w="3108960"/>
                <a:gridCol w="2011680"/>
                <a:gridCol w="5907024"/>
              </a:tblGrid>
              <a:tr h="310896">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Criterio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00" b="1" dirty="0">
                          <a:solidFill>
                            <a:srgbClr val="F2F6FA"/>
                          </a:solidFill>
                          <a:latin typeface="Calibri" pitchFamily="34" charset="0"/>
                          <a:ea typeface="Calibri" pitchFamily="34" charset="-122"/>
                          <a:cs typeface="Calibri" pitchFamily="34" charset="-120"/>
                        </a:rPr>
                        <a:t>Umbral</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Qué evita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Precio / beneficio actual</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&lt; 25</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Pagar de más por el beneficio de hoy</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Precio / beneficio esperado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&lt; 15</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Que el crecimiento futuro ya esté en el precio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Deuda neta sobre capitalización</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&lt; 0,35</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Compañías que dependen del crédito para existir</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Crecimiento del beneficio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&gt; 15 %</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Negocios estancados que parecen baratos</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PEG (precio / crecimiento)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&lt; 2</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Crecimiento caro disfrazado de calidad</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Capitalización</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 $5.000 M</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Valores sin liquidez para entrar y salir</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bl>
          </a:graphicData>
        </a:graphic>
      </p:graphicFrame>
      <p:sp>
        <p:nvSpPr>
          <p:cNvPr id="27" name="Text 24"/>
          <p:cNvSpPr/>
          <p:nvPr/>
        </p:nvSpPr>
        <p:spPr>
          <a:xfrm>
            <a:off x="566928" y="5925312"/>
            <a:ext cx="11057839" cy="365760"/>
          </a:xfrm>
          <a:prstGeom prst="rect">
            <a:avLst/>
          </a:prstGeom>
          <a:noFill/>
          <a:ln/>
        </p:spPr>
        <p:txBody>
          <a:bodyPr wrap="square" lIns="0" tIns="0" rIns="0" bIns="0" rtlCol="0" anchor="t"/>
          <a:lstStyle/>
          <a:p>
            <a:pPr indent="0" marL="0">
              <a:buNone/>
            </a:pPr>
            <a:r>
              <a:rPr lang="en-US" sz="1050" i="1" dirty="0">
                <a:solidFill>
                  <a:srgbClr val="6B8299"/>
                </a:solidFill>
                <a:latin typeface="Calibri" pitchFamily="34" charset="0"/>
                <a:ea typeface="Calibri" pitchFamily="34" charset="-122"/>
                <a:cs typeface="Calibri" pitchFamily="34" charset="-120"/>
              </a:rPr>
              <a:t>Y la venta también es automática: si al revisar la posición fallan 2 de las 3 condiciones (fundamentales, proyección y momentum), se cierra y se registra la rentabilidad. No hay toma de beneficios discrecional.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LOS AGENTES</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13</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Agente Small · el mismo motor, otra vara</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En pequeña capitalización, exigir la perfección deja la lista vacía. Se baja el listón a propósito y se documenta.</a:t>
            </a:r>
            <a:endParaRPr lang="en-US" sz="14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883664"/>
          <a:ext cx="7223760" cy="914400"/>
        </p:xfrm>
        <a:graphic>
          <a:graphicData uri="http://schemas.openxmlformats.org/drawingml/2006/table">
            <a:tbl>
              <a:tblPr/>
              <a:tblGrid>
                <a:gridCol w="3474720"/>
                <a:gridCol w="1691640"/>
                <a:gridCol w="2057400"/>
              </a:tblGrid>
              <a:tr h="347472">
                <a:tc>
                  <a:txBody>
                    <a:bodyPr/>
                    <a:lstStyle/>
                    <a:p>
                      <a:pPr algn="l" indent="0" marL="0">
                        <a:buNone/>
                      </a:pPr>
                      <a:r>
                        <a:rPr lang="en-US" sz="1150" b="1" dirty="0">
                          <a:solidFill>
                            <a:srgbClr val="F2F6FA"/>
                          </a:solidFill>
                          <a:latin typeface="Calibri" pitchFamily="34" charset="0"/>
                          <a:ea typeface="Calibri" pitchFamily="34" charset="-122"/>
                          <a:cs typeface="Calibri" pitchFamily="34" charset="-120"/>
                        </a:rPr>
                        <a:t>Criterio</a:t>
                      </a:r>
                      <a:endParaRPr lang="en-US" sz="11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50" b="1" dirty="0">
                          <a:solidFill>
                            <a:srgbClr val="F2F6FA"/>
                          </a:solidFill>
                          <a:latin typeface="Calibri" pitchFamily="34" charset="0"/>
                          <a:ea typeface="Calibri" pitchFamily="34" charset="-122"/>
                          <a:cs typeface="Calibri" pitchFamily="34" charset="-120"/>
                        </a:rPr>
                        <a:t>Peter</a:t>
                      </a:r>
                      <a:endParaRPr lang="en-US" sz="11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50" b="1" dirty="0">
                          <a:solidFill>
                            <a:srgbClr val="F2F6FA"/>
                          </a:solidFill>
                          <a:latin typeface="Calibri" pitchFamily="34" charset="0"/>
                          <a:ea typeface="Calibri" pitchFamily="34" charset="-122"/>
                          <a:cs typeface="Calibri" pitchFamily="34" charset="-120"/>
                        </a:rPr>
                        <a:t>Small</a:t>
                      </a:r>
                      <a:endParaRPr lang="en-US" sz="11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r>
              <a:tr h="347472">
                <a:tc>
                  <a:txBody>
                    <a:bodyPr/>
                    <a:lstStyle/>
                    <a:p>
                      <a:pPr algn="l" indent="0" marL="0">
                        <a:buNone/>
                      </a:pPr>
                      <a:r>
                        <a:rPr lang="en-US" sz="1150" dirty="0">
                          <a:solidFill>
                            <a:srgbClr val="F2F6FA"/>
                          </a:solidFill>
                          <a:latin typeface="Calibri" pitchFamily="34" charset="0"/>
                          <a:ea typeface="Calibri" pitchFamily="34" charset="-122"/>
                          <a:cs typeface="Calibri" pitchFamily="34" charset="-120"/>
                        </a:rPr>
                        <a:t>Universo</a:t>
                      </a:r>
                      <a:endParaRPr lang="en-US" sz="11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50" dirty="0">
                          <a:solidFill>
                            <a:srgbClr val="9DB2C4"/>
                          </a:solidFill>
                          <a:latin typeface="Consolas" pitchFamily="34" charset="0"/>
                          <a:ea typeface="Consolas" pitchFamily="34" charset="-122"/>
                          <a:cs typeface="Consolas" pitchFamily="34" charset="-120"/>
                        </a:rPr>
                        <a:t>443</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50" dirty="0">
                          <a:solidFill>
                            <a:srgbClr val="9DB2C4"/>
                          </a:solidFill>
                          <a:latin typeface="Consolas" pitchFamily="34" charset="0"/>
                          <a:ea typeface="Consolas" pitchFamily="34" charset="-122"/>
                          <a:cs typeface="Consolas" pitchFamily="34" charset="-120"/>
                        </a:rPr>
                        <a:t>307</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47472">
                <a:tc>
                  <a:txBody>
                    <a:bodyPr/>
                    <a:lstStyle/>
                    <a:p>
                      <a:pPr algn="l" indent="0" marL="0">
                        <a:buNone/>
                      </a:pPr>
                      <a:r>
                        <a:rPr lang="en-US" sz="1150" dirty="0">
                          <a:solidFill>
                            <a:srgbClr val="F2F6FA"/>
                          </a:solidFill>
                          <a:latin typeface="Calibri" pitchFamily="34" charset="0"/>
                          <a:ea typeface="Calibri" pitchFamily="34" charset="-122"/>
                          <a:cs typeface="Calibri" pitchFamily="34" charset="-120"/>
                        </a:rPr>
                        <a:t>Precio / beneficio</a:t>
                      </a:r>
                      <a:endParaRPr lang="en-US" sz="11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50" dirty="0">
                          <a:solidFill>
                            <a:srgbClr val="9DB2C4"/>
                          </a:solidFill>
                          <a:latin typeface="Consolas" pitchFamily="34" charset="0"/>
                          <a:ea typeface="Consolas" pitchFamily="34" charset="-122"/>
                          <a:cs typeface="Consolas" pitchFamily="34" charset="-120"/>
                        </a:rPr>
                        <a:t>&lt; 25</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50" dirty="0">
                          <a:solidFill>
                            <a:srgbClr val="38BDF8"/>
                          </a:solidFill>
                          <a:latin typeface="Consolas" pitchFamily="34" charset="0"/>
                          <a:ea typeface="Consolas" pitchFamily="34" charset="-122"/>
                          <a:cs typeface="Consolas" pitchFamily="34" charset="-120"/>
                        </a:rPr>
                        <a:t>&lt; 20</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47472">
                <a:tc>
                  <a:txBody>
                    <a:bodyPr/>
                    <a:lstStyle/>
                    <a:p>
                      <a:pPr algn="l" indent="0" marL="0">
                        <a:buNone/>
                      </a:pPr>
                      <a:r>
                        <a:rPr lang="en-US" sz="1150" dirty="0">
                          <a:solidFill>
                            <a:srgbClr val="F2F6FA"/>
                          </a:solidFill>
                          <a:latin typeface="Calibri" pitchFamily="34" charset="0"/>
                          <a:ea typeface="Calibri" pitchFamily="34" charset="-122"/>
                          <a:cs typeface="Calibri" pitchFamily="34" charset="-120"/>
                        </a:rPr>
                        <a:t>Precio / beneficio esperado</a:t>
                      </a:r>
                      <a:endParaRPr lang="en-US" sz="11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50" dirty="0">
                          <a:solidFill>
                            <a:srgbClr val="9DB2C4"/>
                          </a:solidFill>
                          <a:latin typeface="Consolas" pitchFamily="34" charset="0"/>
                          <a:ea typeface="Consolas" pitchFamily="34" charset="-122"/>
                          <a:cs typeface="Consolas" pitchFamily="34" charset="-120"/>
                        </a:rPr>
                        <a:t>&lt; 15</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50" dirty="0">
                          <a:solidFill>
                            <a:srgbClr val="38BDF8"/>
                          </a:solidFill>
                          <a:latin typeface="Consolas" pitchFamily="34" charset="0"/>
                          <a:ea typeface="Consolas" pitchFamily="34" charset="-122"/>
                          <a:cs typeface="Consolas" pitchFamily="34" charset="-120"/>
                        </a:rPr>
                        <a:t>&lt; 18</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47472">
                <a:tc>
                  <a:txBody>
                    <a:bodyPr/>
                    <a:lstStyle/>
                    <a:p>
                      <a:pPr algn="l" indent="0" marL="0">
                        <a:buNone/>
                      </a:pPr>
                      <a:r>
                        <a:rPr lang="en-US" sz="1150" dirty="0">
                          <a:solidFill>
                            <a:srgbClr val="F2F6FA"/>
                          </a:solidFill>
                          <a:latin typeface="Calibri" pitchFamily="34" charset="0"/>
                          <a:ea typeface="Calibri" pitchFamily="34" charset="-122"/>
                          <a:cs typeface="Calibri" pitchFamily="34" charset="-120"/>
                        </a:rPr>
                        <a:t>Deuda neta / capitalización</a:t>
                      </a:r>
                      <a:endParaRPr lang="en-US" sz="11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50" dirty="0">
                          <a:solidFill>
                            <a:srgbClr val="9DB2C4"/>
                          </a:solidFill>
                          <a:latin typeface="Consolas" pitchFamily="34" charset="0"/>
                          <a:ea typeface="Consolas" pitchFamily="34" charset="-122"/>
                          <a:cs typeface="Consolas" pitchFamily="34" charset="-120"/>
                        </a:rPr>
                        <a:t>&lt; 0,35</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50" dirty="0">
                          <a:solidFill>
                            <a:srgbClr val="38BDF8"/>
                          </a:solidFill>
                          <a:latin typeface="Consolas" pitchFamily="34" charset="0"/>
                          <a:ea typeface="Consolas" pitchFamily="34" charset="-122"/>
                          <a:cs typeface="Consolas" pitchFamily="34" charset="-120"/>
                        </a:rPr>
                        <a:t>&lt; 0,50</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47472">
                <a:tc>
                  <a:txBody>
                    <a:bodyPr/>
                    <a:lstStyle/>
                    <a:p>
                      <a:pPr algn="l" indent="0" marL="0">
                        <a:buNone/>
                      </a:pPr>
                      <a:r>
                        <a:rPr lang="en-US" sz="1150" dirty="0">
                          <a:solidFill>
                            <a:srgbClr val="F2F6FA"/>
                          </a:solidFill>
                          <a:latin typeface="Calibri" pitchFamily="34" charset="0"/>
                          <a:ea typeface="Calibri" pitchFamily="34" charset="-122"/>
                          <a:cs typeface="Calibri" pitchFamily="34" charset="-120"/>
                        </a:rPr>
                        <a:t>Crecimiento del beneficio</a:t>
                      </a:r>
                      <a:endParaRPr lang="en-US" sz="11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50" dirty="0">
                          <a:solidFill>
                            <a:srgbClr val="9DB2C4"/>
                          </a:solidFill>
                          <a:latin typeface="Consolas" pitchFamily="34" charset="0"/>
                          <a:ea typeface="Consolas" pitchFamily="34" charset="-122"/>
                          <a:cs typeface="Consolas" pitchFamily="34" charset="-120"/>
                        </a:rPr>
                        <a:t>&gt; 15 %</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50" dirty="0">
                          <a:solidFill>
                            <a:srgbClr val="9DB2C4"/>
                          </a:solidFill>
                          <a:latin typeface="Consolas" pitchFamily="34" charset="0"/>
                          <a:ea typeface="Consolas" pitchFamily="34" charset="-122"/>
                          <a:cs typeface="Consolas" pitchFamily="34" charset="-120"/>
                        </a:rPr>
                        <a:t>&gt; 15 %</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47472">
                <a:tc>
                  <a:txBody>
                    <a:bodyPr/>
                    <a:lstStyle/>
                    <a:p>
                      <a:pPr algn="l" indent="0" marL="0">
                        <a:buNone/>
                      </a:pPr>
                      <a:r>
                        <a:rPr lang="en-US" sz="1150" dirty="0">
                          <a:solidFill>
                            <a:srgbClr val="F2F6FA"/>
                          </a:solidFill>
                          <a:latin typeface="Calibri" pitchFamily="34" charset="0"/>
                          <a:ea typeface="Calibri" pitchFamily="34" charset="-122"/>
                          <a:cs typeface="Calibri" pitchFamily="34" charset="-120"/>
                        </a:rPr>
                        <a:t>PEG</a:t>
                      </a:r>
                      <a:endParaRPr lang="en-US" sz="11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50" dirty="0">
                          <a:solidFill>
                            <a:srgbClr val="9DB2C4"/>
                          </a:solidFill>
                          <a:latin typeface="Consolas" pitchFamily="34" charset="0"/>
                          <a:ea typeface="Consolas" pitchFamily="34" charset="-122"/>
                          <a:cs typeface="Consolas" pitchFamily="34" charset="-120"/>
                        </a:rPr>
                        <a:t>&lt; 2</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50" dirty="0">
                          <a:solidFill>
                            <a:srgbClr val="38BDF8"/>
                          </a:solidFill>
                          <a:latin typeface="Consolas" pitchFamily="34" charset="0"/>
                          <a:ea typeface="Consolas" pitchFamily="34" charset="-122"/>
                          <a:cs typeface="Consolas" pitchFamily="34" charset="-120"/>
                        </a:rPr>
                        <a:t>&lt; 1,5</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47472">
                <a:tc>
                  <a:txBody>
                    <a:bodyPr/>
                    <a:lstStyle/>
                    <a:p>
                      <a:pPr algn="l" indent="0" marL="0">
                        <a:buNone/>
                      </a:pPr>
                      <a:r>
                        <a:rPr lang="en-US" sz="1150" dirty="0">
                          <a:solidFill>
                            <a:srgbClr val="F2F6FA"/>
                          </a:solidFill>
                          <a:latin typeface="Calibri" pitchFamily="34" charset="0"/>
                          <a:ea typeface="Calibri" pitchFamily="34" charset="-122"/>
                          <a:cs typeface="Calibri" pitchFamily="34" charset="-120"/>
                        </a:rPr>
                        <a:t>Capitalización</a:t>
                      </a:r>
                      <a:endParaRPr lang="en-US" sz="11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50" dirty="0">
                          <a:solidFill>
                            <a:srgbClr val="9DB2C4"/>
                          </a:solidFill>
                          <a:latin typeface="Consolas" pitchFamily="34" charset="0"/>
                          <a:ea typeface="Consolas" pitchFamily="34" charset="-122"/>
                          <a:cs typeface="Consolas" pitchFamily="34" charset="-120"/>
                        </a:rPr>
                        <a:t>≥ $5.000 M</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50" dirty="0">
                          <a:solidFill>
                            <a:srgbClr val="38BDF8"/>
                          </a:solidFill>
                          <a:latin typeface="Consolas" pitchFamily="34" charset="0"/>
                          <a:ea typeface="Consolas" pitchFamily="34" charset="-122"/>
                          <a:cs typeface="Consolas" pitchFamily="34" charset="-120"/>
                        </a:rPr>
                        <a:t>$100 M – $2.000 M</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47472">
                <a:tc>
                  <a:txBody>
                    <a:bodyPr/>
                    <a:lstStyle/>
                    <a:p>
                      <a:pPr algn="l" indent="0" marL="0">
                        <a:buNone/>
                      </a:pPr>
                      <a:r>
                        <a:rPr lang="en-US" sz="1150" dirty="0">
                          <a:solidFill>
                            <a:srgbClr val="F2F6FA"/>
                          </a:solidFill>
                          <a:latin typeface="Calibri" pitchFamily="34" charset="0"/>
                          <a:ea typeface="Calibri" pitchFamily="34" charset="-122"/>
                          <a:cs typeface="Calibri" pitchFamily="34" charset="-120"/>
                        </a:rPr>
                        <a:t>Criterios exigidos</a:t>
                      </a:r>
                      <a:endParaRPr lang="en-US" sz="11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50" b="1" dirty="0">
                          <a:solidFill>
                            <a:srgbClr val="10B981"/>
                          </a:solidFill>
                          <a:latin typeface="Consolas" pitchFamily="34" charset="0"/>
                          <a:ea typeface="Consolas" pitchFamily="34" charset="-122"/>
                          <a:cs typeface="Consolas" pitchFamily="34" charset="-120"/>
                        </a:rPr>
                        <a:t>6 de 6</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50" b="1" dirty="0">
                          <a:solidFill>
                            <a:srgbClr val="38BDF8"/>
                          </a:solidFill>
                          <a:latin typeface="Consolas" pitchFamily="34" charset="0"/>
                          <a:ea typeface="Consolas" pitchFamily="34" charset="-122"/>
                          <a:cs typeface="Consolas" pitchFamily="34" charset="-120"/>
                        </a:rPr>
                        <a:t>4 de 6</a:t>
                      </a:r>
                      <a:endParaRPr lang="en-US" sz="11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bl>
          </a:graphicData>
        </a:graphic>
      </p:graphicFrame>
      <p:sp>
        <p:nvSpPr>
          <p:cNvPr id="7" name="Shape 4"/>
          <p:cNvSpPr/>
          <p:nvPr/>
        </p:nvSpPr>
        <p:spPr>
          <a:xfrm>
            <a:off x="8028432" y="1883664"/>
            <a:ext cx="3566160" cy="157276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8" name="Shape 5"/>
          <p:cNvSpPr/>
          <p:nvPr/>
        </p:nvSpPr>
        <p:spPr>
          <a:xfrm>
            <a:off x="8028432" y="1883664"/>
            <a:ext cx="64008" cy="1572768"/>
          </a:xfrm>
          <a:prstGeom prst="rect">
            <a:avLst/>
          </a:prstGeom>
          <a:solidFill>
            <a:srgbClr val="38BDF8"/>
          </a:solidFill>
          <a:ln w="12700">
            <a:solidFill>
              <a:srgbClr val="38BDF8"/>
            </a:solidFill>
            <a:prstDash val="solid"/>
          </a:ln>
        </p:spPr>
      </p:sp>
      <p:sp>
        <p:nvSpPr>
          <p:cNvPr id="9" name="Text 6"/>
          <p:cNvSpPr/>
          <p:nvPr/>
        </p:nvSpPr>
        <p:spPr>
          <a:xfrm>
            <a:off x="8284464" y="2048256"/>
            <a:ext cx="3017520" cy="237744"/>
          </a:xfrm>
          <a:prstGeom prst="rect">
            <a:avLst/>
          </a:prstGeom>
          <a:noFill/>
          <a:ln/>
        </p:spPr>
        <p:txBody>
          <a:bodyPr wrap="square" lIns="0" tIns="0" rIns="0" bIns="0" rtlCol="0" anchor="ctr"/>
          <a:lstStyle/>
          <a:p>
            <a:pPr indent="0" marL="0">
              <a:buNone/>
            </a:pPr>
            <a:r>
              <a:rPr lang="en-US" sz="1100" spc="160" kern="0" dirty="0">
                <a:solidFill>
                  <a:srgbClr val="38BDF8"/>
                </a:solidFill>
                <a:latin typeface="Consolas" pitchFamily="34" charset="0"/>
                <a:ea typeface="Consolas" pitchFamily="34" charset="-122"/>
                <a:cs typeface="Consolas" pitchFamily="34" charset="-120"/>
              </a:rPr>
              <a:t>POR QUÉ SE RELAJA</a:t>
            </a:r>
            <a:endParaRPr lang="en-US" sz="1100" dirty="0"/>
          </a:p>
        </p:txBody>
      </p:sp>
      <p:sp>
        <p:nvSpPr>
          <p:cNvPr id="10" name="Text 7"/>
          <p:cNvSpPr/>
          <p:nvPr/>
        </p:nvSpPr>
        <p:spPr>
          <a:xfrm>
            <a:off x="8284464" y="2340864"/>
            <a:ext cx="3072384" cy="1005840"/>
          </a:xfrm>
          <a:prstGeom prst="rect">
            <a:avLst/>
          </a:prstGeom>
          <a:noFill/>
          <a:ln/>
        </p:spPr>
        <p:txBody>
          <a:bodyPr wrap="square" lIns="0" tIns="0" rIns="0" bIns="0" rtlCol="0" anchor="t"/>
          <a:lstStyle/>
          <a:p>
            <a:pPr algn="l" indent="0" marL="0">
              <a:lnSpc>
                <a:spcPct val="118000"/>
              </a:lnSpc>
              <a:buNone/>
            </a:pPr>
            <a:r>
              <a:rPr lang="en-US" sz="1150" dirty="0">
                <a:solidFill>
                  <a:srgbClr val="9DB2C4"/>
                </a:solidFill>
                <a:latin typeface="Calibri" pitchFamily="34" charset="0"/>
                <a:ea typeface="Calibri" pitchFamily="34" charset="-122"/>
                <a:cs typeface="Calibri" pitchFamily="34" charset="-120"/>
              </a:rPr>
              <a:t>Una empresa pequeña rara vez es barata, poco endeudada y de alto crecimiento a la vez. Con el listón de Peter, el filtro devuelve cero candidatos casi siempre.</a:t>
            </a:r>
            <a:endParaRPr lang="en-US" sz="1150" dirty="0"/>
          </a:p>
        </p:txBody>
      </p:sp>
      <p:sp>
        <p:nvSpPr>
          <p:cNvPr id="11" name="Shape 8"/>
          <p:cNvSpPr/>
          <p:nvPr/>
        </p:nvSpPr>
        <p:spPr>
          <a:xfrm>
            <a:off x="8028432" y="3566160"/>
            <a:ext cx="3566160" cy="1993392"/>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2" name="Shape 9"/>
          <p:cNvSpPr/>
          <p:nvPr/>
        </p:nvSpPr>
        <p:spPr>
          <a:xfrm>
            <a:off x="8028432" y="3566160"/>
            <a:ext cx="64008" cy="1993392"/>
          </a:xfrm>
          <a:prstGeom prst="rect">
            <a:avLst/>
          </a:prstGeom>
          <a:solidFill>
            <a:srgbClr val="F04438"/>
          </a:solidFill>
          <a:ln w="12700">
            <a:solidFill>
              <a:srgbClr val="F04438"/>
            </a:solidFill>
            <a:prstDash val="solid"/>
          </a:ln>
        </p:spPr>
      </p:sp>
      <p:sp>
        <p:nvSpPr>
          <p:cNvPr id="13" name="Text 10"/>
          <p:cNvSpPr/>
          <p:nvPr/>
        </p:nvSpPr>
        <p:spPr>
          <a:xfrm>
            <a:off x="8284464" y="3730752"/>
            <a:ext cx="3017520" cy="237744"/>
          </a:xfrm>
          <a:prstGeom prst="rect">
            <a:avLst/>
          </a:prstGeom>
          <a:noFill/>
          <a:ln/>
        </p:spPr>
        <p:txBody>
          <a:bodyPr wrap="square" lIns="0" tIns="0" rIns="0" bIns="0" rtlCol="0" anchor="ctr"/>
          <a:lstStyle/>
          <a:p>
            <a:pPr indent="0" marL="0">
              <a:buNone/>
            </a:pPr>
            <a:r>
              <a:rPr lang="en-US" sz="1100" spc="160" kern="0" dirty="0">
                <a:solidFill>
                  <a:srgbClr val="F04438"/>
                </a:solidFill>
                <a:latin typeface="Consolas" pitchFamily="34" charset="0"/>
                <a:ea typeface="Consolas" pitchFamily="34" charset="-122"/>
                <a:cs typeface="Consolas" pitchFamily="34" charset="-120"/>
              </a:rPr>
              <a:t>LO QUE CUESTA RELAJARLO</a:t>
            </a:r>
            <a:endParaRPr lang="en-US" sz="1100" dirty="0"/>
          </a:p>
        </p:txBody>
      </p:sp>
      <p:sp>
        <p:nvSpPr>
          <p:cNvPr id="14" name="Text 11"/>
          <p:cNvSpPr/>
          <p:nvPr/>
        </p:nvSpPr>
        <p:spPr>
          <a:xfrm>
            <a:off x="8284464" y="4023360"/>
            <a:ext cx="3072384" cy="1463040"/>
          </a:xfrm>
          <a:prstGeom prst="rect">
            <a:avLst/>
          </a:prstGeom>
          <a:noFill/>
          <a:ln/>
        </p:spPr>
        <p:txBody>
          <a:bodyPr wrap="square" lIns="0" tIns="0" rIns="0" bIns="0" rtlCol="0" anchor="t"/>
          <a:lstStyle/>
          <a:p>
            <a:pPr algn="l" indent="0" marL="0">
              <a:lnSpc>
                <a:spcPct val="118000"/>
              </a:lnSpc>
              <a:buNone/>
            </a:pPr>
            <a:r>
              <a:rPr lang="en-US" sz="1050" dirty="0">
                <a:solidFill>
                  <a:srgbClr val="9DB2C4"/>
                </a:solidFill>
                <a:latin typeface="Calibri" pitchFamily="34" charset="0"/>
                <a:ea typeface="Calibri" pitchFamily="34" charset="-122"/>
                <a:cs typeface="Calibri" pitchFamily="34" charset="-120"/>
              </a:rPr>
              <a:t>Menos exigencia significa más candidatos y más falsos positivos. Se compensa por el otro lado: mismo umbral de proyección, mismo momentum y misma convicción mínima de 7. La relajación afecta al filtro, nunca al tamaño de la apuesta.</a:t>
            </a:r>
            <a:endParaRPr lang="en-US" sz="1050" dirty="0"/>
          </a:p>
        </p:txBody>
      </p:sp>
      <p:sp>
        <p:nvSpPr>
          <p:cNvPr id="15" name="Text 12"/>
          <p:cNvSpPr/>
          <p:nvPr/>
        </p:nvSpPr>
        <p:spPr>
          <a:xfrm>
            <a:off x="566928" y="5925312"/>
            <a:ext cx="11057839" cy="365760"/>
          </a:xfrm>
          <a:prstGeom prst="rect">
            <a:avLst/>
          </a:prstGeom>
          <a:noFill/>
          <a:ln/>
        </p:spPr>
        <p:txBody>
          <a:bodyPr wrap="square" lIns="0" tIns="0" rIns="0" bIns="0" rtlCol="0" anchor="t"/>
          <a:lstStyle/>
          <a:p>
            <a:pPr indent="0" marL="0">
              <a:buNone/>
            </a:pPr>
            <a:r>
              <a:rPr lang="en-US" sz="1050" i="1" dirty="0">
                <a:solidFill>
                  <a:srgbClr val="6B8299"/>
                </a:solidFill>
                <a:latin typeface="Calibri" pitchFamily="34" charset="0"/>
                <a:ea typeface="Calibri" pitchFamily="34" charset="-122"/>
                <a:cs typeface="Calibri" pitchFamily="34" charset="-120"/>
              </a:rPr>
              <a:t>La categoría se sigue guardando en base de datos como SMALL_CAPS por continuidad histórica de los registros anteriores al cambio de nombre.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LOS AGENTES</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14</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Agente Gamma · convicción apalancada</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No busca ideas nuevas: coge las que Peter y Small ya han aprobado y las traduce a un contrato de opciones.</a:t>
            </a:r>
            <a:endParaRPr lang="en-US" sz="1450" dirty="0"/>
          </a:p>
        </p:txBody>
      </p:sp>
      <p:sp>
        <p:nvSpPr>
          <p:cNvPr id="6" name="Shape 4"/>
          <p:cNvSpPr/>
          <p:nvPr/>
        </p:nvSpPr>
        <p:spPr>
          <a:xfrm>
            <a:off x="566928" y="1938528"/>
            <a:ext cx="2011680" cy="1152144"/>
          </a:xfrm>
          <a:prstGeom prst="rect">
            <a:avLst/>
          </a:prstGeom>
          <a:solidFill>
            <a:srgbClr val="12293B"/>
          </a:solidFill>
          <a:ln w="13970">
            <a:solidFill>
              <a:srgbClr val="8B8FF0"/>
            </a:solidFill>
            <a:prstDash val="solid"/>
          </a:ln>
        </p:spPr>
      </p:sp>
      <p:sp>
        <p:nvSpPr>
          <p:cNvPr id="7" name="Text 5"/>
          <p:cNvSpPr/>
          <p:nvPr/>
        </p:nvSpPr>
        <p:spPr>
          <a:xfrm>
            <a:off x="694944"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1 · Universo</a:t>
            </a:r>
            <a:endParaRPr lang="en-US" sz="1200" dirty="0"/>
          </a:p>
        </p:txBody>
      </p:sp>
      <p:sp>
        <p:nvSpPr>
          <p:cNvPr id="8" name="Text 6"/>
          <p:cNvSpPr/>
          <p:nvPr/>
        </p:nvSpPr>
        <p:spPr>
          <a:xfrm>
            <a:off x="694944"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Las posiciones vivas</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de Peter y Small</a:t>
            </a:r>
            <a:endParaRPr lang="en-US" sz="950" dirty="0"/>
          </a:p>
        </p:txBody>
      </p:sp>
      <p:sp>
        <p:nvSpPr>
          <p:cNvPr id="9" name="Shape 7"/>
          <p:cNvSpPr/>
          <p:nvPr/>
        </p:nvSpPr>
        <p:spPr>
          <a:xfrm>
            <a:off x="2633472" y="2414016"/>
            <a:ext cx="274320" cy="201168"/>
          </a:xfrm>
          <a:prstGeom prst="rightArrow">
            <a:avLst/>
          </a:prstGeom>
          <a:solidFill>
            <a:srgbClr val="8B8FF0"/>
          </a:solidFill>
          <a:ln w="12700">
            <a:solidFill>
              <a:srgbClr val="8B8FF0"/>
            </a:solidFill>
            <a:prstDash val="solid"/>
          </a:ln>
        </p:spPr>
      </p:sp>
      <p:sp>
        <p:nvSpPr>
          <p:cNvPr id="10" name="Shape 8"/>
          <p:cNvSpPr/>
          <p:nvPr/>
        </p:nvSpPr>
        <p:spPr>
          <a:xfrm>
            <a:off x="2816352" y="1938528"/>
            <a:ext cx="2011680" cy="1152144"/>
          </a:xfrm>
          <a:prstGeom prst="rect">
            <a:avLst/>
          </a:prstGeom>
          <a:solidFill>
            <a:srgbClr val="12293B"/>
          </a:solidFill>
          <a:ln w="13970">
            <a:solidFill>
              <a:srgbClr val="8B8FF0"/>
            </a:solidFill>
            <a:prstDash val="solid"/>
          </a:ln>
        </p:spPr>
      </p:sp>
      <p:sp>
        <p:nvSpPr>
          <p:cNvPr id="11" name="Text 9"/>
          <p:cNvSpPr/>
          <p:nvPr/>
        </p:nvSpPr>
        <p:spPr>
          <a:xfrm>
            <a:off x="2944368"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2 · Dirección</a:t>
            </a:r>
            <a:endParaRPr lang="en-US" sz="1200" dirty="0"/>
          </a:p>
        </p:txBody>
      </p:sp>
      <p:sp>
        <p:nvSpPr>
          <p:cNvPr id="12" name="Text 10"/>
          <p:cNvSpPr/>
          <p:nvPr/>
        </p:nvSpPr>
        <p:spPr>
          <a:xfrm>
            <a:off x="2944368"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 +2 % compra call</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 −3 % compra put</a:t>
            </a:r>
            <a:endParaRPr lang="en-US" sz="950" dirty="0"/>
          </a:p>
        </p:txBody>
      </p:sp>
      <p:sp>
        <p:nvSpPr>
          <p:cNvPr id="13" name="Shape 11"/>
          <p:cNvSpPr/>
          <p:nvPr/>
        </p:nvSpPr>
        <p:spPr>
          <a:xfrm>
            <a:off x="4882896" y="2414016"/>
            <a:ext cx="274320" cy="201168"/>
          </a:xfrm>
          <a:prstGeom prst="rightArrow">
            <a:avLst/>
          </a:prstGeom>
          <a:solidFill>
            <a:srgbClr val="8B8FF0"/>
          </a:solidFill>
          <a:ln w="12700">
            <a:solidFill>
              <a:srgbClr val="8B8FF0"/>
            </a:solidFill>
            <a:prstDash val="solid"/>
          </a:ln>
        </p:spPr>
      </p:sp>
      <p:sp>
        <p:nvSpPr>
          <p:cNvPr id="14" name="Shape 12"/>
          <p:cNvSpPr/>
          <p:nvPr/>
        </p:nvSpPr>
        <p:spPr>
          <a:xfrm>
            <a:off x="5065776" y="1938528"/>
            <a:ext cx="2011680" cy="1152144"/>
          </a:xfrm>
          <a:prstGeom prst="rect">
            <a:avLst/>
          </a:prstGeom>
          <a:solidFill>
            <a:srgbClr val="12293B"/>
          </a:solidFill>
          <a:ln w="13970">
            <a:solidFill>
              <a:srgbClr val="8B8FF0"/>
            </a:solidFill>
            <a:prstDash val="solid"/>
          </a:ln>
        </p:spPr>
      </p:sp>
      <p:sp>
        <p:nvSpPr>
          <p:cNvPr id="15" name="Text 13"/>
          <p:cNvSpPr/>
          <p:nvPr/>
        </p:nvSpPr>
        <p:spPr>
          <a:xfrm>
            <a:off x="5193792"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3 · Cadena</a:t>
            </a:r>
            <a:endParaRPr lang="en-US" sz="1200" dirty="0"/>
          </a:p>
        </p:txBody>
      </p:sp>
      <p:sp>
        <p:nvSpPr>
          <p:cNvPr id="16" name="Text 14"/>
          <p:cNvSpPr/>
          <p:nvPr/>
        </p:nvSpPr>
        <p:spPr>
          <a:xfrm>
            <a:off x="5193792"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Strikes a ±25 %</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vencimientos 21-75 días</a:t>
            </a:r>
            <a:endParaRPr lang="en-US" sz="950" dirty="0"/>
          </a:p>
        </p:txBody>
      </p:sp>
      <p:sp>
        <p:nvSpPr>
          <p:cNvPr id="17" name="Shape 15"/>
          <p:cNvSpPr/>
          <p:nvPr/>
        </p:nvSpPr>
        <p:spPr>
          <a:xfrm>
            <a:off x="7132320" y="2414016"/>
            <a:ext cx="274320" cy="201168"/>
          </a:xfrm>
          <a:prstGeom prst="rightArrow">
            <a:avLst/>
          </a:prstGeom>
          <a:solidFill>
            <a:srgbClr val="8B8FF0"/>
          </a:solidFill>
          <a:ln w="12700">
            <a:solidFill>
              <a:srgbClr val="8B8FF0"/>
            </a:solidFill>
            <a:prstDash val="solid"/>
          </a:ln>
        </p:spPr>
      </p:sp>
      <p:sp>
        <p:nvSpPr>
          <p:cNvPr id="18" name="Shape 16"/>
          <p:cNvSpPr/>
          <p:nvPr/>
        </p:nvSpPr>
        <p:spPr>
          <a:xfrm>
            <a:off x="7315200" y="1938528"/>
            <a:ext cx="2011680" cy="1152144"/>
          </a:xfrm>
          <a:prstGeom prst="rect">
            <a:avLst/>
          </a:prstGeom>
          <a:solidFill>
            <a:srgbClr val="12293B"/>
          </a:solidFill>
          <a:ln w="13970">
            <a:solidFill>
              <a:srgbClr val="8B8FF0"/>
            </a:solidFill>
            <a:prstDash val="solid"/>
          </a:ln>
        </p:spPr>
      </p:sp>
      <p:sp>
        <p:nvSpPr>
          <p:cNvPr id="19" name="Text 17"/>
          <p:cNvSpPr/>
          <p:nvPr/>
        </p:nvSpPr>
        <p:spPr>
          <a:xfrm>
            <a:off x="7443216"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4 · Calidad</a:t>
            </a:r>
            <a:endParaRPr lang="en-US" sz="1200" dirty="0"/>
          </a:p>
        </p:txBody>
      </p:sp>
      <p:sp>
        <p:nvSpPr>
          <p:cNvPr id="20" name="Text 18"/>
          <p:cNvSpPr/>
          <p:nvPr/>
        </p:nvSpPr>
        <p:spPr>
          <a:xfrm>
            <a:off x="7443216"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Delta, plazo y</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puntuación ≥ 50</a:t>
            </a:r>
            <a:endParaRPr lang="en-US" sz="950" dirty="0"/>
          </a:p>
        </p:txBody>
      </p:sp>
      <p:sp>
        <p:nvSpPr>
          <p:cNvPr id="21" name="Shape 19"/>
          <p:cNvSpPr/>
          <p:nvPr/>
        </p:nvSpPr>
        <p:spPr>
          <a:xfrm>
            <a:off x="9381744" y="2414016"/>
            <a:ext cx="274320" cy="201168"/>
          </a:xfrm>
          <a:prstGeom prst="rightArrow">
            <a:avLst/>
          </a:prstGeom>
          <a:solidFill>
            <a:srgbClr val="8B8FF0"/>
          </a:solidFill>
          <a:ln w="12700">
            <a:solidFill>
              <a:srgbClr val="8B8FF0"/>
            </a:solidFill>
            <a:prstDash val="solid"/>
          </a:ln>
        </p:spPr>
      </p:sp>
      <p:sp>
        <p:nvSpPr>
          <p:cNvPr id="22" name="Shape 20"/>
          <p:cNvSpPr/>
          <p:nvPr/>
        </p:nvSpPr>
        <p:spPr>
          <a:xfrm>
            <a:off x="9564624" y="1938528"/>
            <a:ext cx="2011680" cy="1152144"/>
          </a:xfrm>
          <a:prstGeom prst="rect">
            <a:avLst/>
          </a:prstGeom>
          <a:solidFill>
            <a:srgbClr val="12293B"/>
          </a:solidFill>
          <a:ln w="13970">
            <a:solidFill>
              <a:srgbClr val="8B8FF0"/>
            </a:solidFill>
            <a:prstDash val="solid"/>
          </a:ln>
        </p:spPr>
      </p:sp>
      <p:sp>
        <p:nvSpPr>
          <p:cNvPr id="23" name="Text 21"/>
          <p:cNvSpPr/>
          <p:nvPr/>
        </p:nvSpPr>
        <p:spPr>
          <a:xfrm>
            <a:off x="9692640"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5 · Juicio</a:t>
            </a:r>
            <a:endParaRPr lang="en-US" sz="1200" dirty="0"/>
          </a:p>
        </p:txBody>
      </p:sp>
      <p:sp>
        <p:nvSpPr>
          <p:cNvPr id="24" name="Text 22"/>
          <p:cNvSpPr/>
          <p:nvPr/>
        </p:nvSpPr>
        <p:spPr>
          <a:xfrm>
            <a:off x="9692640"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Convicción ≥ 7/10</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sobre el contrato</a:t>
            </a:r>
            <a:endParaRPr lang="en-US" sz="950" dirty="0"/>
          </a:p>
        </p:txBody>
      </p:sp>
      <p:sp>
        <p:nvSpPr>
          <p:cNvPr id="25" name="Text 23"/>
          <p:cNvSpPr/>
          <p:nvPr/>
        </p:nvSpPr>
        <p:spPr>
          <a:xfrm>
            <a:off x="566928" y="3401568"/>
            <a:ext cx="7315200" cy="237744"/>
          </a:xfrm>
          <a:prstGeom prst="rect">
            <a:avLst/>
          </a:prstGeom>
          <a:noFill/>
          <a:ln/>
        </p:spPr>
        <p:txBody>
          <a:bodyPr wrap="square" lIns="0" tIns="0" rIns="0" bIns="0" rtlCol="0" anchor="ctr"/>
          <a:lstStyle/>
          <a:p>
            <a:pPr indent="0" marL="0">
              <a:buNone/>
            </a:pPr>
            <a:r>
              <a:rPr lang="en-US" sz="1100" spc="160" kern="0" dirty="0">
                <a:solidFill>
                  <a:srgbClr val="8B8FF0"/>
                </a:solidFill>
                <a:latin typeface="Consolas" pitchFamily="34" charset="0"/>
                <a:ea typeface="Consolas" pitchFamily="34" charset="-122"/>
                <a:cs typeface="Consolas" pitchFamily="34" charset="-120"/>
              </a:rPr>
              <a:t>CÓMO SE ELIGE EL CONTRATO CONCRETO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3675888"/>
          <a:ext cx="11027664" cy="914400"/>
        </p:xfrm>
        <a:graphic>
          <a:graphicData uri="http://schemas.openxmlformats.org/drawingml/2006/table">
            <a:tbl>
              <a:tblPr/>
              <a:tblGrid>
                <a:gridCol w="3108960"/>
                <a:gridCol w="2286000"/>
                <a:gridCol w="5632704"/>
              </a:tblGrid>
              <a:tr h="310896">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Decisión</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00" b="1" dirty="0">
                          <a:solidFill>
                            <a:srgbClr val="F2F6FA"/>
                          </a:solidFill>
                          <a:latin typeface="Calibri" pitchFamily="34" charset="0"/>
                          <a:ea typeface="Calibri" pitchFamily="34" charset="-122"/>
                          <a:cs typeface="Calibri" pitchFamily="34" charset="-120"/>
                        </a:rPr>
                        <a:t>Regla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Razón</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Zona muerta de dirección</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entre −3 % y +2 %</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Sin convicción clara no se paga prima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Sensibilidad al precio (delta)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0,30 – 0,65</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Ni lotería barata ni acción disfrazada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Días hasta el vencimiento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21 – 90</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Tiempo para que la tesis se cumpla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Puntuación del contrato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 50 sobre 100</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Liquidez, plazo y prima justa frente al valor teórico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Objetivo y stop</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×2,5 y ×0,5 la prima</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Fijados al abrir, no negociados después</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bl>
          </a:graphicData>
        </a:graphic>
      </p:graphicFrame>
      <p:sp>
        <p:nvSpPr>
          <p:cNvPr id="27" name="Text 24"/>
          <p:cNvSpPr/>
          <p:nvPr/>
        </p:nvSpPr>
        <p:spPr>
          <a:xfrm>
            <a:off x="566928" y="5925312"/>
            <a:ext cx="11057839" cy="365760"/>
          </a:xfrm>
          <a:prstGeom prst="rect">
            <a:avLst/>
          </a:prstGeom>
          <a:noFill/>
          <a:ln/>
        </p:spPr>
        <p:txBody>
          <a:bodyPr wrap="square" lIns="0" tIns="0" rIns="0" bIns="0" rtlCol="0" anchor="t"/>
          <a:lstStyle/>
          <a:p>
            <a:pPr indent="0" marL="0">
              <a:buNone/>
            </a:pPr>
            <a:r>
              <a:rPr lang="en-US" sz="1050" i="1" dirty="0">
                <a:solidFill>
                  <a:srgbClr val="6B8299"/>
                </a:solidFill>
                <a:latin typeface="Calibri" pitchFamily="34" charset="0"/>
                <a:ea typeface="Calibri" pitchFamily="34" charset="-122"/>
                <a:cs typeface="Calibri" pitchFamily="34" charset="-120"/>
              </a:rPr>
              <a:t>Las griegas no se toman de la fuente de datos: se recalculan con el modelo propio a partir de la volatilidad implícita publicada, para que el criterio no dependa de un campo ajeno que puede venir vacío o mal.</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LOS AGENTES</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15</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Agente Theta · cobrar el paso del tiempo</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No apuesta por una dirección: vende prima cara y deja que el tiempo trabaje. Su riesgo no es equivocarse de rumbo, es un movimiento brusco.</a:t>
            </a:r>
            <a:endParaRPr lang="en-US" sz="1450" dirty="0"/>
          </a:p>
        </p:txBody>
      </p:sp>
      <p:sp>
        <p:nvSpPr>
          <p:cNvPr id="6" name="Shape 4"/>
          <p:cNvSpPr/>
          <p:nvPr/>
        </p:nvSpPr>
        <p:spPr>
          <a:xfrm>
            <a:off x="566928" y="1938528"/>
            <a:ext cx="2011680" cy="1152144"/>
          </a:xfrm>
          <a:prstGeom prst="rect">
            <a:avLst/>
          </a:prstGeom>
          <a:solidFill>
            <a:srgbClr val="12293B"/>
          </a:solidFill>
          <a:ln w="13970">
            <a:solidFill>
              <a:srgbClr val="E0A458"/>
            </a:solidFill>
            <a:prstDash val="solid"/>
          </a:ln>
        </p:spPr>
      </p:sp>
      <p:sp>
        <p:nvSpPr>
          <p:cNvPr id="7" name="Text 5"/>
          <p:cNvSpPr/>
          <p:nvPr/>
        </p:nvSpPr>
        <p:spPr>
          <a:xfrm>
            <a:off x="694944"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1 · Universo</a:t>
            </a:r>
            <a:endParaRPr lang="en-US" sz="1200" dirty="0"/>
          </a:p>
        </p:txBody>
      </p:sp>
      <p:sp>
        <p:nvSpPr>
          <p:cNvPr id="8" name="Text 6"/>
          <p:cNvSpPr/>
          <p:nvPr/>
        </p:nvSpPr>
        <p:spPr>
          <a:xfrm>
            <a:off x="694944"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36 subyacentes</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líquidos, lista fija</a:t>
            </a:r>
            <a:endParaRPr lang="en-US" sz="950" dirty="0"/>
          </a:p>
        </p:txBody>
      </p:sp>
      <p:sp>
        <p:nvSpPr>
          <p:cNvPr id="9" name="Shape 7"/>
          <p:cNvSpPr/>
          <p:nvPr/>
        </p:nvSpPr>
        <p:spPr>
          <a:xfrm>
            <a:off x="2633472" y="2414016"/>
            <a:ext cx="274320" cy="201168"/>
          </a:xfrm>
          <a:prstGeom prst="rightArrow">
            <a:avLst/>
          </a:prstGeom>
          <a:solidFill>
            <a:srgbClr val="E0A458"/>
          </a:solidFill>
          <a:ln w="12700">
            <a:solidFill>
              <a:srgbClr val="E0A458"/>
            </a:solidFill>
            <a:prstDash val="solid"/>
          </a:ln>
        </p:spPr>
      </p:sp>
      <p:sp>
        <p:nvSpPr>
          <p:cNvPr id="10" name="Shape 8"/>
          <p:cNvSpPr/>
          <p:nvPr/>
        </p:nvSpPr>
        <p:spPr>
          <a:xfrm>
            <a:off x="2816352" y="1938528"/>
            <a:ext cx="2011680" cy="1152144"/>
          </a:xfrm>
          <a:prstGeom prst="rect">
            <a:avLst/>
          </a:prstGeom>
          <a:solidFill>
            <a:srgbClr val="12293B"/>
          </a:solidFill>
          <a:ln w="13970">
            <a:solidFill>
              <a:srgbClr val="E0A458"/>
            </a:solidFill>
            <a:prstDash val="solid"/>
          </a:ln>
        </p:spPr>
      </p:sp>
      <p:sp>
        <p:nvSpPr>
          <p:cNvPr id="11" name="Text 9"/>
          <p:cNvSpPr/>
          <p:nvPr/>
        </p:nvSpPr>
        <p:spPr>
          <a:xfrm>
            <a:off x="2944368"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2 · Seguridad</a:t>
            </a:r>
            <a:endParaRPr lang="en-US" sz="1200" dirty="0"/>
          </a:p>
        </p:txBody>
      </p:sp>
      <p:sp>
        <p:nvSpPr>
          <p:cNvPr id="12" name="Text 10"/>
          <p:cNvSpPr/>
          <p:nvPr/>
        </p:nvSpPr>
        <p:spPr>
          <a:xfrm>
            <a:off x="2944368"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Descarta si se prevé</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un movimiento adverso</a:t>
            </a:r>
            <a:endParaRPr lang="en-US" sz="950" dirty="0"/>
          </a:p>
        </p:txBody>
      </p:sp>
      <p:sp>
        <p:nvSpPr>
          <p:cNvPr id="13" name="Shape 11"/>
          <p:cNvSpPr/>
          <p:nvPr/>
        </p:nvSpPr>
        <p:spPr>
          <a:xfrm>
            <a:off x="4882896" y="2414016"/>
            <a:ext cx="274320" cy="201168"/>
          </a:xfrm>
          <a:prstGeom prst="rightArrow">
            <a:avLst/>
          </a:prstGeom>
          <a:solidFill>
            <a:srgbClr val="E0A458"/>
          </a:solidFill>
          <a:ln w="12700">
            <a:solidFill>
              <a:srgbClr val="E0A458"/>
            </a:solidFill>
            <a:prstDash val="solid"/>
          </a:ln>
        </p:spPr>
      </p:sp>
      <p:sp>
        <p:nvSpPr>
          <p:cNvPr id="14" name="Shape 12"/>
          <p:cNvSpPr/>
          <p:nvPr/>
        </p:nvSpPr>
        <p:spPr>
          <a:xfrm>
            <a:off x="5065776" y="1938528"/>
            <a:ext cx="2011680" cy="1152144"/>
          </a:xfrm>
          <a:prstGeom prst="rect">
            <a:avLst/>
          </a:prstGeom>
          <a:solidFill>
            <a:srgbClr val="12293B"/>
          </a:solidFill>
          <a:ln w="13970">
            <a:solidFill>
              <a:srgbClr val="E0A458"/>
            </a:solidFill>
            <a:prstDash val="solid"/>
          </a:ln>
        </p:spPr>
      </p:sp>
      <p:sp>
        <p:nvSpPr>
          <p:cNvPr id="15" name="Text 13"/>
          <p:cNvSpPr/>
          <p:nvPr/>
        </p:nvSpPr>
        <p:spPr>
          <a:xfrm>
            <a:off x="5193792"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3 · Estrategia</a:t>
            </a:r>
            <a:endParaRPr lang="en-US" sz="1200" dirty="0"/>
          </a:p>
        </p:txBody>
      </p:sp>
      <p:sp>
        <p:nvSpPr>
          <p:cNvPr id="16" name="Text 14"/>
          <p:cNvSpPr/>
          <p:nvPr/>
        </p:nvSpPr>
        <p:spPr>
          <a:xfrm>
            <a:off x="5193792"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Put vendida o</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call cubierta</a:t>
            </a:r>
            <a:endParaRPr lang="en-US" sz="950" dirty="0"/>
          </a:p>
        </p:txBody>
      </p:sp>
      <p:sp>
        <p:nvSpPr>
          <p:cNvPr id="17" name="Shape 15"/>
          <p:cNvSpPr/>
          <p:nvPr/>
        </p:nvSpPr>
        <p:spPr>
          <a:xfrm>
            <a:off x="7132320" y="2414016"/>
            <a:ext cx="274320" cy="201168"/>
          </a:xfrm>
          <a:prstGeom prst="rightArrow">
            <a:avLst/>
          </a:prstGeom>
          <a:solidFill>
            <a:srgbClr val="E0A458"/>
          </a:solidFill>
          <a:ln w="12700">
            <a:solidFill>
              <a:srgbClr val="E0A458"/>
            </a:solidFill>
            <a:prstDash val="solid"/>
          </a:ln>
        </p:spPr>
      </p:sp>
      <p:sp>
        <p:nvSpPr>
          <p:cNvPr id="18" name="Shape 16"/>
          <p:cNvSpPr/>
          <p:nvPr/>
        </p:nvSpPr>
        <p:spPr>
          <a:xfrm>
            <a:off x="7315200" y="1938528"/>
            <a:ext cx="2011680" cy="1152144"/>
          </a:xfrm>
          <a:prstGeom prst="rect">
            <a:avLst/>
          </a:prstGeom>
          <a:solidFill>
            <a:srgbClr val="12293B"/>
          </a:solidFill>
          <a:ln w="13970">
            <a:solidFill>
              <a:srgbClr val="E0A458"/>
            </a:solidFill>
            <a:prstDash val="solid"/>
          </a:ln>
        </p:spPr>
      </p:sp>
      <p:sp>
        <p:nvSpPr>
          <p:cNvPr id="19" name="Text 17"/>
          <p:cNvSpPr/>
          <p:nvPr/>
        </p:nvSpPr>
        <p:spPr>
          <a:xfrm>
            <a:off x="7443216"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4 · Prima</a:t>
            </a:r>
            <a:endParaRPr lang="en-US" sz="1200" dirty="0"/>
          </a:p>
        </p:txBody>
      </p:sp>
      <p:sp>
        <p:nvSpPr>
          <p:cNvPr id="20" name="Text 18"/>
          <p:cNvSpPr/>
          <p:nvPr/>
        </p:nvSpPr>
        <p:spPr>
          <a:xfrm>
            <a:off x="7443216"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Volatilidad &gt; 30 %</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y puntuación ≥ 60</a:t>
            </a:r>
            <a:endParaRPr lang="en-US" sz="950" dirty="0"/>
          </a:p>
        </p:txBody>
      </p:sp>
      <p:sp>
        <p:nvSpPr>
          <p:cNvPr id="21" name="Shape 19"/>
          <p:cNvSpPr/>
          <p:nvPr/>
        </p:nvSpPr>
        <p:spPr>
          <a:xfrm>
            <a:off x="9381744" y="2414016"/>
            <a:ext cx="274320" cy="201168"/>
          </a:xfrm>
          <a:prstGeom prst="rightArrow">
            <a:avLst/>
          </a:prstGeom>
          <a:solidFill>
            <a:srgbClr val="E0A458"/>
          </a:solidFill>
          <a:ln w="12700">
            <a:solidFill>
              <a:srgbClr val="E0A458"/>
            </a:solidFill>
            <a:prstDash val="solid"/>
          </a:ln>
        </p:spPr>
      </p:sp>
      <p:sp>
        <p:nvSpPr>
          <p:cNvPr id="22" name="Shape 20"/>
          <p:cNvSpPr/>
          <p:nvPr/>
        </p:nvSpPr>
        <p:spPr>
          <a:xfrm>
            <a:off x="9564624" y="1938528"/>
            <a:ext cx="2011680" cy="1152144"/>
          </a:xfrm>
          <a:prstGeom prst="rect">
            <a:avLst/>
          </a:prstGeom>
          <a:solidFill>
            <a:srgbClr val="12293B"/>
          </a:solidFill>
          <a:ln w="13970">
            <a:solidFill>
              <a:srgbClr val="E0A458"/>
            </a:solidFill>
            <a:prstDash val="solid"/>
          </a:ln>
        </p:spPr>
      </p:sp>
      <p:sp>
        <p:nvSpPr>
          <p:cNvPr id="23" name="Text 21"/>
          <p:cNvSpPr/>
          <p:nvPr/>
        </p:nvSpPr>
        <p:spPr>
          <a:xfrm>
            <a:off x="9692640" y="2029968"/>
            <a:ext cx="1755648" cy="29260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5 · Juicio</a:t>
            </a:r>
            <a:endParaRPr lang="en-US" sz="1200" dirty="0"/>
          </a:p>
        </p:txBody>
      </p:sp>
      <p:sp>
        <p:nvSpPr>
          <p:cNvPr id="24" name="Text 22"/>
          <p:cNvSpPr/>
          <p:nvPr/>
        </p:nvSpPr>
        <p:spPr>
          <a:xfrm>
            <a:off x="9692640" y="2322576"/>
            <a:ext cx="1755648" cy="676656"/>
          </a:xfrm>
          <a:prstGeom prst="rect">
            <a:avLst/>
          </a:prstGeom>
          <a:noFill/>
          <a:ln/>
        </p:spPr>
        <p:txBody>
          <a:bodyPr wrap="square" lIns="0" tIns="0" rIns="0" bIns="0" rtlCol="0" anchor="t"/>
          <a:lstStyle/>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Convicción ≥ 7/10</a:t>
            </a:r>
            <a:endParaRPr lang="en-US" sz="950" dirty="0"/>
          </a:p>
          <a:p>
            <a:pPr indent="0" marL="0">
              <a:lnSpc>
                <a:spcPct val="112000"/>
              </a:lnSpc>
              <a:buNone/>
            </a:pPr>
            <a:r>
              <a:rPr lang="en-US" sz="950" dirty="0">
                <a:solidFill>
                  <a:srgbClr val="9DB2C4"/>
                </a:solidFill>
                <a:latin typeface="Consolas" pitchFamily="34" charset="0"/>
                <a:ea typeface="Consolas" pitchFamily="34" charset="-122"/>
                <a:cs typeface="Consolas" pitchFamily="34" charset="-120"/>
              </a:rPr>
              <a:t>sobre el riesgo</a:t>
            </a:r>
            <a:endParaRPr lang="en-US" sz="950" dirty="0"/>
          </a:p>
        </p:txBody>
      </p:sp>
      <p:sp>
        <p:nvSpPr>
          <p:cNvPr id="25" name="Text 23"/>
          <p:cNvSpPr/>
          <p:nvPr/>
        </p:nvSpPr>
        <p:spPr>
          <a:xfrm>
            <a:off x="566928" y="3401568"/>
            <a:ext cx="7315200" cy="237744"/>
          </a:xfrm>
          <a:prstGeom prst="rect">
            <a:avLst/>
          </a:prstGeom>
          <a:noFill/>
          <a:ln/>
        </p:spPr>
        <p:txBody>
          <a:bodyPr wrap="square" lIns="0" tIns="0" rIns="0" bIns="0" rtlCol="0" anchor="ctr"/>
          <a:lstStyle/>
          <a:p>
            <a:pPr indent="0" marL="0">
              <a:buNone/>
            </a:pPr>
            <a:r>
              <a:rPr lang="en-US" sz="1100" spc="160" kern="0" dirty="0">
                <a:solidFill>
                  <a:srgbClr val="E0A458"/>
                </a:solidFill>
                <a:latin typeface="Consolas" pitchFamily="34" charset="0"/>
                <a:ea typeface="Consolas" pitchFamily="34" charset="-122"/>
                <a:cs typeface="Consolas" pitchFamily="34" charset="-120"/>
              </a:rPr>
              <a:t>EL FILTRO DE LA PRIMA: POR QUÉ ES MÁS EXIGENTE QUE EL DE GAMMA</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3675888"/>
          <a:ext cx="11027664" cy="914400"/>
        </p:xfrm>
        <a:graphic>
          <a:graphicData uri="http://schemas.openxmlformats.org/drawingml/2006/table">
            <a:tbl>
              <a:tblPr/>
              <a:tblGrid>
                <a:gridCol w="3108960"/>
                <a:gridCol w="2286000"/>
                <a:gridCol w="5632704"/>
              </a:tblGrid>
              <a:tr h="310896">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Decisión</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00" b="1" dirty="0">
                          <a:solidFill>
                            <a:srgbClr val="F2F6FA"/>
                          </a:solidFill>
                          <a:latin typeface="Calibri" pitchFamily="34" charset="0"/>
                          <a:ea typeface="Calibri" pitchFamily="34" charset="-122"/>
                          <a:cs typeface="Calibri" pitchFamily="34" charset="-120"/>
                        </a:rPr>
                        <a:t>Regla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Razón</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Volatilidad implícita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&gt; 30 %</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Vender prima barata es asumir riesgo sin cobrarlo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Sensibilidad al precio (delta)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0,15 – 0,35</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Probabilidad alta de que expire sin valor</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Días hasta el vencimiento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21 – 45</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El tramo donde el tiempo se paga más rápido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Puntuación del contrato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 60 sobre 100</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Diez puntos por encima de Gamma: el riesgo es asimétrico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Objetivo y stop</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recomprar al 50 % / cortar al 200 %</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No se espera al vencimiento por costumbre</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bl>
          </a:graphicData>
        </a:graphic>
      </p:graphicFrame>
      <p:sp>
        <p:nvSpPr>
          <p:cNvPr id="27" name="Text 24"/>
          <p:cNvSpPr/>
          <p:nvPr/>
        </p:nvSpPr>
        <p:spPr>
          <a:xfrm>
            <a:off x="566928" y="5925312"/>
            <a:ext cx="11057839" cy="365760"/>
          </a:xfrm>
          <a:prstGeom prst="rect">
            <a:avLst/>
          </a:prstGeom>
          <a:noFill/>
          <a:ln/>
        </p:spPr>
        <p:txBody>
          <a:bodyPr wrap="square" lIns="0" tIns="0" rIns="0" bIns="0" rtlCol="0" anchor="t"/>
          <a:lstStyle/>
          <a:p>
            <a:pPr indent="0" marL="0">
              <a:buNone/>
            </a:pPr>
            <a:r>
              <a:rPr lang="en-US" sz="1050" i="1" dirty="0">
                <a:solidFill>
                  <a:srgbClr val="6B8299"/>
                </a:solidFill>
                <a:latin typeface="Calibri" pitchFamily="34" charset="0"/>
                <a:ea typeface="Calibri" pitchFamily="34" charset="-122"/>
                <a:cs typeface="Calibri" pitchFamily="34" charset="-120"/>
              </a:rPr>
              <a:t>El filtro de seguridad direccional no busca acertar: solo descarta vender una put cuando se anticipa una caída superior al 5 %, o una call cubierta cuando se anticipa una subida superior al 8 %.</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LOS AGENTES</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16</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Cómo se puntúa una opción</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Todo contrato parte de 50 puntos y sube o baja según seis factores. Es lo que impide elegir «la opción que más se mueve».</a:t>
            </a:r>
            <a:endParaRPr lang="en-US" sz="1450" dirty="0"/>
          </a:p>
        </p:txBody>
      </p:sp>
      <p:sp>
        <p:nvSpPr>
          <p:cNvPr id="6" name="Shape 4"/>
          <p:cNvSpPr/>
          <p:nvPr/>
        </p:nvSpPr>
        <p:spPr>
          <a:xfrm>
            <a:off x="6092517" y="1883664"/>
            <a:ext cx="0" cy="3145536"/>
          </a:xfrm>
          <a:prstGeom prst="line">
            <a:avLst/>
          </a:prstGeom>
          <a:noFill/>
          <a:ln w="12700">
            <a:solidFill>
              <a:srgbClr val="24405A"/>
            </a:solidFill>
            <a:prstDash val="solid"/>
          </a:ln>
        </p:spPr>
      </p:sp>
      <p:sp>
        <p:nvSpPr>
          <p:cNvPr id="7" name="Shape 5"/>
          <p:cNvSpPr/>
          <p:nvPr/>
        </p:nvSpPr>
        <p:spPr>
          <a:xfrm>
            <a:off x="6092517" y="2057400"/>
            <a:ext cx="783771" cy="155448"/>
          </a:xfrm>
          <a:prstGeom prst="rect">
            <a:avLst/>
          </a:prstGeom>
          <a:solidFill>
            <a:srgbClr val="4D95D0"/>
          </a:solidFill>
          <a:ln w="12700">
            <a:solidFill>
              <a:srgbClr val="4D95D0"/>
            </a:solidFill>
            <a:prstDash val="solid"/>
          </a:ln>
        </p:spPr>
      </p:sp>
      <p:sp>
        <p:nvSpPr>
          <p:cNvPr id="8" name="Text 6"/>
          <p:cNvSpPr/>
          <p:nvPr/>
        </p:nvSpPr>
        <p:spPr>
          <a:xfrm>
            <a:off x="566928" y="2011680"/>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Liquidez sobrada</a:t>
            </a:r>
            <a:endParaRPr lang="en-US" sz="950" dirty="0"/>
          </a:p>
        </p:txBody>
      </p:sp>
      <p:sp>
        <p:nvSpPr>
          <p:cNvPr id="9" name="Text 7"/>
          <p:cNvSpPr/>
          <p:nvPr/>
        </p:nvSpPr>
        <p:spPr>
          <a:xfrm>
            <a:off x="6931152" y="2011680"/>
            <a:ext cx="548640" cy="246888"/>
          </a:xfrm>
          <a:prstGeom prst="rect">
            <a:avLst/>
          </a:prstGeom>
          <a:noFill/>
          <a:ln/>
        </p:spPr>
        <p:txBody>
          <a:bodyPr wrap="square" lIns="0" tIns="0" rIns="0" bIns="0" rtlCol="0" anchor="ctr"/>
          <a:lstStyle/>
          <a:p>
            <a:pPr algn="l" indent="0" marL="0">
              <a:buNone/>
            </a:pPr>
            <a:r>
              <a:rPr lang="en-US" sz="1000" b="1" dirty="0">
                <a:solidFill>
                  <a:srgbClr val="4D95D0"/>
                </a:solidFill>
                <a:latin typeface="Consolas" pitchFamily="34" charset="0"/>
                <a:ea typeface="Consolas" pitchFamily="34" charset="-122"/>
                <a:cs typeface="Consolas" pitchFamily="34" charset="-120"/>
              </a:rPr>
              <a:t>+18</a:t>
            </a:r>
            <a:endParaRPr lang="en-US" sz="1000" dirty="0"/>
          </a:p>
        </p:txBody>
      </p:sp>
      <p:sp>
        <p:nvSpPr>
          <p:cNvPr id="10" name="Shape 8"/>
          <p:cNvSpPr/>
          <p:nvPr/>
        </p:nvSpPr>
        <p:spPr>
          <a:xfrm>
            <a:off x="6092517" y="2304288"/>
            <a:ext cx="609600" cy="155448"/>
          </a:xfrm>
          <a:prstGeom prst="rect">
            <a:avLst/>
          </a:prstGeom>
          <a:solidFill>
            <a:srgbClr val="4D95D0"/>
          </a:solidFill>
          <a:ln w="12700">
            <a:solidFill>
              <a:srgbClr val="4D95D0"/>
            </a:solidFill>
            <a:prstDash val="solid"/>
          </a:ln>
        </p:spPr>
      </p:sp>
      <p:sp>
        <p:nvSpPr>
          <p:cNvPr id="11" name="Text 9"/>
          <p:cNvSpPr/>
          <p:nvPr/>
        </p:nvSpPr>
        <p:spPr>
          <a:xfrm>
            <a:off x="566928" y="2258568"/>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Delta en el rango objetivo</a:t>
            </a:r>
            <a:endParaRPr lang="en-US" sz="950" dirty="0"/>
          </a:p>
        </p:txBody>
      </p:sp>
      <p:sp>
        <p:nvSpPr>
          <p:cNvPr id="12" name="Text 10"/>
          <p:cNvSpPr/>
          <p:nvPr/>
        </p:nvSpPr>
        <p:spPr>
          <a:xfrm>
            <a:off x="6756981" y="2258568"/>
            <a:ext cx="548640" cy="246888"/>
          </a:xfrm>
          <a:prstGeom prst="rect">
            <a:avLst/>
          </a:prstGeom>
          <a:noFill/>
          <a:ln/>
        </p:spPr>
        <p:txBody>
          <a:bodyPr wrap="square" lIns="0" tIns="0" rIns="0" bIns="0" rtlCol="0" anchor="ctr"/>
          <a:lstStyle/>
          <a:p>
            <a:pPr algn="l" indent="0" marL="0">
              <a:buNone/>
            </a:pPr>
            <a:r>
              <a:rPr lang="en-US" sz="1000" b="1" dirty="0">
                <a:solidFill>
                  <a:srgbClr val="4D95D0"/>
                </a:solidFill>
                <a:latin typeface="Consolas" pitchFamily="34" charset="0"/>
                <a:ea typeface="Consolas" pitchFamily="34" charset="-122"/>
                <a:cs typeface="Consolas" pitchFamily="34" charset="-120"/>
              </a:rPr>
              <a:t>+14</a:t>
            </a:r>
            <a:endParaRPr lang="en-US" sz="1000" dirty="0"/>
          </a:p>
        </p:txBody>
      </p:sp>
      <p:sp>
        <p:nvSpPr>
          <p:cNvPr id="13" name="Shape 11"/>
          <p:cNvSpPr/>
          <p:nvPr/>
        </p:nvSpPr>
        <p:spPr>
          <a:xfrm>
            <a:off x="6092517" y="2551176"/>
            <a:ext cx="522514" cy="155448"/>
          </a:xfrm>
          <a:prstGeom prst="rect">
            <a:avLst/>
          </a:prstGeom>
          <a:solidFill>
            <a:srgbClr val="4D95D0"/>
          </a:solidFill>
          <a:ln w="12700">
            <a:solidFill>
              <a:srgbClr val="4D95D0"/>
            </a:solidFill>
            <a:prstDash val="solid"/>
          </a:ln>
        </p:spPr>
      </p:sp>
      <p:sp>
        <p:nvSpPr>
          <p:cNvPr id="14" name="Text 12"/>
          <p:cNvSpPr/>
          <p:nvPr/>
        </p:nvSpPr>
        <p:spPr>
          <a:xfrm>
            <a:off x="566928" y="2505456"/>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Ubicación técnica favorable</a:t>
            </a:r>
            <a:endParaRPr lang="en-US" sz="950" dirty="0"/>
          </a:p>
        </p:txBody>
      </p:sp>
      <p:sp>
        <p:nvSpPr>
          <p:cNvPr id="15" name="Text 13"/>
          <p:cNvSpPr/>
          <p:nvPr/>
        </p:nvSpPr>
        <p:spPr>
          <a:xfrm>
            <a:off x="6669895" y="2505456"/>
            <a:ext cx="548640" cy="246888"/>
          </a:xfrm>
          <a:prstGeom prst="rect">
            <a:avLst/>
          </a:prstGeom>
          <a:noFill/>
          <a:ln/>
        </p:spPr>
        <p:txBody>
          <a:bodyPr wrap="square" lIns="0" tIns="0" rIns="0" bIns="0" rtlCol="0" anchor="ctr"/>
          <a:lstStyle/>
          <a:p>
            <a:pPr algn="l" indent="0" marL="0">
              <a:buNone/>
            </a:pPr>
            <a:r>
              <a:rPr lang="en-US" sz="1000" b="1" dirty="0">
                <a:solidFill>
                  <a:srgbClr val="4D95D0"/>
                </a:solidFill>
                <a:latin typeface="Consolas" pitchFamily="34" charset="0"/>
                <a:ea typeface="Consolas" pitchFamily="34" charset="-122"/>
                <a:cs typeface="Consolas" pitchFamily="34" charset="-120"/>
              </a:rPr>
              <a:t>+12</a:t>
            </a:r>
            <a:endParaRPr lang="en-US" sz="1000" dirty="0"/>
          </a:p>
        </p:txBody>
      </p:sp>
      <p:sp>
        <p:nvSpPr>
          <p:cNvPr id="16" name="Shape 14"/>
          <p:cNvSpPr/>
          <p:nvPr/>
        </p:nvSpPr>
        <p:spPr>
          <a:xfrm>
            <a:off x="6092517" y="2798064"/>
            <a:ext cx="435429" cy="155448"/>
          </a:xfrm>
          <a:prstGeom prst="rect">
            <a:avLst/>
          </a:prstGeom>
          <a:solidFill>
            <a:srgbClr val="4D95D0"/>
          </a:solidFill>
          <a:ln w="12700">
            <a:solidFill>
              <a:srgbClr val="4D95D0"/>
            </a:solidFill>
            <a:prstDash val="solid"/>
          </a:ln>
        </p:spPr>
      </p:sp>
      <p:sp>
        <p:nvSpPr>
          <p:cNvPr id="17" name="Text 15"/>
          <p:cNvSpPr/>
          <p:nvPr/>
        </p:nvSpPr>
        <p:spPr>
          <a:xfrm>
            <a:off x="566928" y="2752344"/>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Prima barata frente al valor teórico</a:t>
            </a:r>
            <a:endParaRPr lang="en-US" sz="950" dirty="0"/>
          </a:p>
        </p:txBody>
      </p:sp>
      <p:sp>
        <p:nvSpPr>
          <p:cNvPr id="18" name="Text 16"/>
          <p:cNvSpPr/>
          <p:nvPr/>
        </p:nvSpPr>
        <p:spPr>
          <a:xfrm>
            <a:off x="6582809" y="2752344"/>
            <a:ext cx="548640" cy="246888"/>
          </a:xfrm>
          <a:prstGeom prst="rect">
            <a:avLst/>
          </a:prstGeom>
          <a:noFill/>
          <a:ln/>
        </p:spPr>
        <p:txBody>
          <a:bodyPr wrap="square" lIns="0" tIns="0" rIns="0" bIns="0" rtlCol="0" anchor="ctr"/>
          <a:lstStyle/>
          <a:p>
            <a:pPr algn="l" indent="0" marL="0">
              <a:buNone/>
            </a:pPr>
            <a:r>
              <a:rPr lang="en-US" sz="1000" b="1" dirty="0">
                <a:solidFill>
                  <a:srgbClr val="4D95D0"/>
                </a:solidFill>
                <a:latin typeface="Consolas" pitchFamily="34" charset="0"/>
                <a:ea typeface="Consolas" pitchFamily="34" charset="-122"/>
                <a:cs typeface="Consolas" pitchFamily="34" charset="-120"/>
              </a:rPr>
              <a:t>+10</a:t>
            </a:r>
            <a:endParaRPr lang="en-US" sz="1000" dirty="0"/>
          </a:p>
        </p:txBody>
      </p:sp>
      <p:sp>
        <p:nvSpPr>
          <p:cNvPr id="19" name="Shape 17"/>
          <p:cNvSpPr/>
          <p:nvPr/>
        </p:nvSpPr>
        <p:spPr>
          <a:xfrm>
            <a:off x="6092517" y="3044952"/>
            <a:ext cx="435429" cy="155448"/>
          </a:xfrm>
          <a:prstGeom prst="rect">
            <a:avLst/>
          </a:prstGeom>
          <a:solidFill>
            <a:srgbClr val="4D95D0"/>
          </a:solidFill>
          <a:ln w="12700">
            <a:solidFill>
              <a:srgbClr val="4D95D0"/>
            </a:solidFill>
            <a:prstDash val="solid"/>
          </a:ln>
        </p:spPr>
      </p:sp>
      <p:sp>
        <p:nvSpPr>
          <p:cNvPr id="20" name="Text 18"/>
          <p:cNvSpPr/>
          <p:nvPr/>
        </p:nvSpPr>
        <p:spPr>
          <a:xfrm>
            <a:off x="566928" y="2999232"/>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Vencimiento óptimo</a:t>
            </a:r>
            <a:endParaRPr lang="en-US" sz="950" dirty="0"/>
          </a:p>
        </p:txBody>
      </p:sp>
      <p:sp>
        <p:nvSpPr>
          <p:cNvPr id="21" name="Text 19"/>
          <p:cNvSpPr/>
          <p:nvPr/>
        </p:nvSpPr>
        <p:spPr>
          <a:xfrm>
            <a:off x="6582809" y="2999232"/>
            <a:ext cx="548640" cy="246888"/>
          </a:xfrm>
          <a:prstGeom prst="rect">
            <a:avLst/>
          </a:prstGeom>
          <a:noFill/>
          <a:ln/>
        </p:spPr>
        <p:txBody>
          <a:bodyPr wrap="square" lIns="0" tIns="0" rIns="0" bIns="0" rtlCol="0" anchor="ctr"/>
          <a:lstStyle/>
          <a:p>
            <a:pPr algn="l" indent="0" marL="0">
              <a:buNone/>
            </a:pPr>
            <a:r>
              <a:rPr lang="en-US" sz="1000" b="1" dirty="0">
                <a:solidFill>
                  <a:srgbClr val="4D95D0"/>
                </a:solidFill>
                <a:latin typeface="Consolas" pitchFamily="34" charset="0"/>
                <a:ea typeface="Consolas" pitchFamily="34" charset="-122"/>
                <a:cs typeface="Consolas" pitchFamily="34" charset="-120"/>
              </a:rPr>
              <a:t>+10</a:t>
            </a:r>
            <a:endParaRPr lang="en-US" sz="1000" dirty="0"/>
          </a:p>
        </p:txBody>
      </p:sp>
      <p:sp>
        <p:nvSpPr>
          <p:cNvPr id="22" name="Shape 20"/>
          <p:cNvSpPr/>
          <p:nvPr/>
        </p:nvSpPr>
        <p:spPr>
          <a:xfrm>
            <a:off x="6092517" y="3291840"/>
            <a:ext cx="348343" cy="155448"/>
          </a:xfrm>
          <a:prstGeom prst="rect">
            <a:avLst/>
          </a:prstGeom>
          <a:solidFill>
            <a:srgbClr val="4D95D0"/>
          </a:solidFill>
          <a:ln w="12700">
            <a:solidFill>
              <a:srgbClr val="4D95D0"/>
            </a:solidFill>
            <a:prstDash val="solid"/>
          </a:ln>
        </p:spPr>
      </p:sp>
      <p:sp>
        <p:nvSpPr>
          <p:cNvPr id="23" name="Text 21"/>
          <p:cNvSpPr/>
          <p:nvPr/>
        </p:nvSpPr>
        <p:spPr>
          <a:xfrm>
            <a:off x="566928" y="3246120"/>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Sesgo fundamental a favor</a:t>
            </a:r>
            <a:endParaRPr lang="en-US" sz="950" dirty="0"/>
          </a:p>
        </p:txBody>
      </p:sp>
      <p:sp>
        <p:nvSpPr>
          <p:cNvPr id="24" name="Text 22"/>
          <p:cNvSpPr/>
          <p:nvPr/>
        </p:nvSpPr>
        <p:spPr>
          <a:xfrm>
            <a:off x="6495723" y="3246120"/>
            <a:ext cx="548640" cy="246888"/>
          </a:xfrm>
          <a:prstGeom prst="rect">
            <a:avLst/>
          </a:prstGeom>
          <a:noFill/>
          <a:ln/>
        </p:spPr>
        <p:txBody>
          <a:bodyPr wrap="square" lIns="0" tIns="0" rIns="0" bIns="0" rtlCol="0" anchor="ctr"/>
          <a:lstStyle/>
          <a:p>
            <a:pPr algn="l" indent="0" marL="0">
              <a:buNone/>
            </a:pPr>
            <a:r>
              <a:rPr lang="en-US" sz="1000" b="1" dirty="0">
                <a:solidFill>
                  <a:srgbClr val="4D95D0"/>
                </a:solidFill>
                <a:latin typeface="Consolas" pitchFamily="34" charset="0"/>
                <a:ea typeface="Consolas" pitchFamily="34" charset="-122"/>
                <a:cs typeface="Consolas" pitchFamily="34" charset="-120"/>
              </a:rPr>
              <a:t>+8</a:t>
            </a:r>
            <a:endParaRPr lang="en-US" sz="1000" dirty="0"/>
          </a:p>
        </p:txBody>
      </p:sp>
      <p:sp>
        <p:nvSpPr>
          <p:cNvPr id="25" name="Shape 23"/>
          <p:cNvSpPr/>
          <p:nvPr/>
        </p:nvSpPr>
        <p:spPr>
          <a:xfrm>
            <a:off x="5874802" y="3538728"/>
            <a:ext cx="217714" cy="155448"/>
          </a:xfrm>
          <a:prstGeom prst="rect">
            <a:avLst/>
          </a:prstGeom>
          <a:solidFill>
            <a:srgbClr val="F04438"/>
          </a:solidFill>
          <a:ln w="12700">
            <a:solidFill>
              <a:srgbClr val="F04438"/>
            </a:solidFill>
            <a:prstDash val="solid"/>
          </a:ln>
        </p:spPr>
      </p:sp>
      <p:sp>
        <p:nvSpPr>
          <p:cNvPr id="26" name="Text 24"/>
          <p:cNvSpPr/>
          <p:nvPr/>
        </p:nvSpPr>
        <p:spPr>
          <a:xfrm>
            <a:off x="566928" y="3493008"/>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Sesgo fundamental en contra</a:t>
            </a:r>
            <a:endParaRPr lang="en-US" sz="950" dirty="0"/>
          </a:p>
        </p:txBody>
      </p:sp>
      <p:sp>
        <p:nvSpPr>
          <p:cNvPr id="27" name="Text 25"/>
          <p:cNvSpPr/>
          <p:nvPr/>
        </p:nvSpPr>
        <p:spPr>
          <a:xfrm>
            <a:off x="5271298" y="3493008"/>
            <a:ext cx="548640" cy="246888"/>
          </a:xfrm>
          <a:prstGeom prst="rect">
            <a:avLst/>
          </a:prstGeom>
          <a:noFill/>
          <a:ln/>
        </p:spPr>
        <p:txBody>
          <a:bodyPr wrap="square" lIns="0" tIns="0" rIns="0" bIns="0" rtlCol="0" anchor="ctr"/>
          <a:lstStyle/>
          <a:p>
            <a:pPr algn="r" indent="0" marL="0">
              <a:buNone/>
            </a:pPr>
            <a:r>
              <a:rPr lang="en-US" sz="1000" b="1" dirty="0">
                <a:solidFill>
                  <a:srgbClr val="F04438"/>
                </a:solidFill>
                <a:latin typeface="Consolas" pitchFamily="34" charset="0"/>
                <a:ea typeface="Consolas" pitchFamily="34" charset="-122"/>
                <a:cs typeface="Consolas" pitchFamily="34" charset="-120"/>
              </a:rPr>
              <a:t>−5</a:t>
            </a:r>
            <a:endParaRPr lang="en-US" sz="1000" dirty="0"/>
          </a:p>
        </p:txBody>
      </p:sp>
      <p:sp>
        <p:nvSpPr>
          <p:cNvPr id="28" name="Shape 26"/>
          <p:cNvSpPr/>
          <p:nvPr/>
        </p:nvSpPr>
        <p:spPr>
          <a:xfrm>
            <a:off x="5657088" y="3785616"/>
            <a:ext cx="435429" cy="155448"/>
          </a:xfrm>
          <a:prstGeom prst="rect">
            <a:avLst/>
          </a:prstGeom>
          <a:solidFill>
            <a:srgbClr val="F04438"/>
          </a:solidFill>
          <a:ln w="12700">
            <a:solidFill>
              <a:srgbClr val="F04438"/>
            </a:solidFill>
            <a:prstDash val="solid"/>
          </a:ln>
        </p:spPr>
      </p:sp>
      <p:sp>
        <p:nvSpPr>
          <p:cNvPr id="29" name="Text 27"/>
          <p:cNvSpPr/>
          <p:nvPr/>
        </p:nvSpPr>
        <p:spPr>
          <a:xfrm>
            <a:off x="566928" y="3739896"/>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Delta fuera de rango</a:t>
            </a:r>
            <a:endParaRPr lang="en-US" sz="950" dirty="0"/>
          </a:p>
        </p:txBody>
      </p:sp>
      <p:sp>
        <p:nvSpPr>
          <p:cNvPr id="30" name="Text 28"/>
          <p:cNvSpPr/>
          <p:nvPr/>
        </p:nvSpPr>
        <p:spPr>
          <a:xfrm>
            <a:off x="5053584" y="3739896"/>
            <a:ext cx="548640" cy="246888"/>
          </a:xfrm>
          <a:prstGeom prst="rect">
            <a:avLst/>
          </a:prstGeom>
          <a:noFill/>
          <a:ln/>
        </p:spPr>
        <p:txBody>
          <a:bodyPr wrap="square" lIns="0" tIns="0" rIns="0" bIns="0" rtlCol="0" anchor="ctr"/>
          <a:lstStyle/>
          <a:p>
            <a:pPr algn="r" indent="0" marL="0">
              <a:buNone/>
            </a:pPr>
            <a:r>
              <a:rPr lang="en-US" sz="1000" b="1" dirty="0">
                <a:solidFill>
                  <a:srgbClr val="F04438"/>
                </a:solidFill>
                <a:latin typeface="Consolas" pitchFamily="34" charset="0"/>
                <a:ea typeface="Consolas" pitchFamily="34" charset="-122"/>
                <a:cs typeface="Consolas" pitchFamily="34" charset="-120"/>
              </a:rPr>
              <a:t>−10</a:t>
            </a:r>
            <a:endParaRPr lang="en-US" sz="1000" dirty="0"/>
          </a:p>
        </p:txBody>
      </p:sp>
      <p:sp>
        <p:nvSpPr>
          <p:cNvPr id="31" name="Shape 29"/>
          <p:cNvSpPr/>
          <p:nvPr/>
        </p:nvSpPr>
        <p:spPr>
          <a:xfrm>
            <a:off x="5657088" y="4032504"/>
            <a:ext cx="435429" cy="155448"/>
          </a:xfrm>
          <a:prstGeom prst="rect">
            <a:avLst/>
          </a:prstGeom>
          <a:solidFill>
            <a:srgbClr val="F04438"/>
          </a:solidFill>
          <a:ln w="12700">
            <a:solidFill>
              <a:srgbClr val="F04438"/>
            </a:solidFill>
            <a:prstDash val="solid"/>
          </a:ln>
        </p:spPr>
      </p:sp>
      <p:sp>
        <p:nvSpPr>
          <p:cNvPr id="32" name="Text 30"/>
          <p:cNvSpPr/>
          <p:nvPr/>
        </p:nvSpPr>
        <p:spPr>
          <a:xfrm>
            <a:off x="566928" y="3986784"/>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Prima cara frente al valor teórico</a:t>
            </a:r>
            <a:endParaRPr lang="en-US" sz="950" dirty="0"/>
          </a:p>
        </p:txBody>
      </p:sp>
      <p:sp>
        <p:nvSpPr>
          <p:cNvPr id="33" name="Text 31"/>
          <p:cNvSpPr/>
          <p:nvPr/>
        </p:nvSpPr>
        <p:spPr>
          <a:xfrm>
            <a:off x="5053584" y="3986784"/>
            <a:ext cx="548640" cy="246888"/>
          </a:xfrm>
          <a:prstGeom prst="rect">
            <a:avLst/>
          </a:prstGeom>
          <a:noFill/>
          <a:ln/>
        </p:spPr>
        <p:txBody>
          <a:bodyPr wrap="square" lIns="0" tIns="0" rIns="0" bIns="0" rtlCol="0" anchor="ctr"/>
          <a:lstStyle/>
          <a:p>
            <a:pPr algn="r" indent="0" marL="0">
              <a:buNone/>
            </a:pPr>
            <a:r>
              <a:rPr lang="en-US" sz="1000" b="1" dirty="0">
                <a:solidFill>
                  <a:srgbClr val="F04438"/>
                </a:solidFill>
                <a:latin typeface="Consolas" pitchFamily="34" charset="0"/>
                <a:ea typeface="Consolas" pitchFamily="34" charset="-122"/>
                <a:cs typeface="Consolas" pitchFamily="34" charset="-120"/>
              </a:rPr>
              <a:t>−10</a:t>
            </a:r>
            <a:endParaRPr lang="en-US" sz="1000" dirty="0"/>
          </a:p>
        </p:txBody>
      </p:sp>
      <p:sp>
        <p:nvSpPr>
          <p:cNvPr id="34" name="Shape 32"/>
          <p:cNvSpPr/>
          <p:nvPr/>
        </p:nvSpPr>
        <p:spPr>
          <a:xfrm>
            <a:off x="5308745" y="4279392"/>
            <a:ext cx="783771" cy="155448"/>
          </a:xfrm>
          <a:prstGeom prst="rect">
            <a:avLst/>
          </a:prstGeom>
          <a:solidFill>
            <a:srgbClr val="F04438"/>
          </a:solidFill>
          <a:ln w="12700">
            <a:solidFill>
              <a:srgbClr val="F04438"/>
            </a:solidFill>
            <a:prstDash val="solid"/>
          </a:ln>
        </p:spPr>
      </p:sp>
      <p:sp>
        <p:nvSpPr>
          <p:cNvPr id="35" name="Text 33"/>
          <p:cNvSpPr/>
          <p:nvPr/>
        </p:nvSpPr>
        <p:spPr>
          <a:xfrm>
            <a:off x="566928" y="4233672"/>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Vencimiento demasiado corto</a:t>
            </a:r>
            <a:endParaRPr lang="en-US" sz="950" dirty="0"/>
          </a:p>
        </p:txBody>
      </p:sp>
      <p:sp>
        <p:nvSpPr>
          <p:cNvPr id="36" name="Text 34"/>
          <p:cNvSpPr/>
          <p:nvPr/>
        </p:nvSpPr>
        <p:spPr>
          <a:xfrm>
            <a:off x="4705241" y="4233672"/>
            <a:ext cx="548640" cy="246888"/>
          </a:xfrm>
          <a:prstGeom prst="rect">
            <a:avLst/>
          </a:prstGeom>
          <a:noFill/>
          <a:ln/>
        </p:spPr>
        <p:txBody>
          <a:bodyPr wrap="square" lIns="0" tIns="0" rIns="0" bIns="0" rtlCol="0" anchor="ctr"/>
          <a:lstStyle/>
          <a:p>
            <a:pPr algn="r" indent="0" marL="0">
              <a:buNone/>
            </a:pPr>
            <a:r>
              <a:rPr lang="en-US" sz="1000" b="1" dirty="0">
                <a:solidFill>
                  <a:srgbClr val="F04438"/>
                </a:solidFill>
                <a:latin typeface="Consolas" pitchFamily="34" charset="0"/>
                <a:ea typeface="Consolas" pitchFamily="34" charset="-122"/>
                <a:cs typeface="Consolas" pitchFamily="34" charset="-120"/>
              </a:rPr>
              <a:t>−18</a:t>
            </a:r>
            <a:endParaRPr lang="en-US" sz="1000" dirty="0"/>
          </a:p>
        </p:txBody>
      </p:sp>
      <p:sp>
        <p:nvSpPr>
          <p:cNvPr id="37" name="Shape 35"/>
          <p:cNvSpPr/>
          <p:nvPr/>
        </p:nvSpPr>
        <p:spPr>
          <a:xfrm>
            <a:off x="4873317" y="4526280"/>
            <a:ext cx="1219200" cy="155448"/>
          </a:xfrm>
          <a:prstGeom prst="rect">
            <a:avLst/>
          </a:prstGeom>
          <a:solidFill>
            <a:srgbClr val="F04438"/>
          </a:solidFill>
          <a:ln w="12700">
            <a:solidFill>
              <a:srgbClr val="F04438"/>
            </a:solidFill>
            <a:prstDash val="solid"/>
          </a:ln>
        </p:spPr>
      </p:sp>
      <p:sp>
        <p:nvSpPr>
          <p:cNvPr id="38" name="Text 36"/>
          <p:cNvSpPr/>
          <p:nvPr/>
        </p:nvSpPr>
        <p:spPr>
          <a:xfrm>
            <a:off x="566928" y="4480560"/>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Liquidez insuficiente</a:t>
            </a:r>
            <a:endParaRPr lang="en-US" sz="950" dirty="0"/>
          </a:p>
        </p:txBody>
      </p:sp>
      <p:sp>
        <p:nvSpPr>
          <p:cNvPr id="39" name="Text 37"/>
          <p:cNvSpPr/>
          <p:nvPr/>
        </p:nvSpPr>
        <p:spPr>
          <a:xfrm>
            <a:off x="4269813" y="4480560"/>
            <a:ext cx="548640" cy="246888"/>
          </a:xfrm>
          <a:prstGeom prst="rect">
            <a:avLst/>
          </a:prstGeom>
          <a:noFill/>
          <a:ln/>
        </p:spPr>
        <p:txBody>
          <a:bodyPr wrap="square" lIns="0" tIns="0" rIns="0" bIns="0" rtlCol="0" anchor="ctr"/>
          <a:lstStyle/>
          <a:p>
            <a:pPr algn="r" indent="0" marL="0">
              <a:buNone/>
            </a:pPr>
            <a:r>
              <a:rPr lang="en-US" sz="1000" b="1" dirty="0">
                <a:solidFill>
                  <a:srgbClr val="F04438"/>
                </a:solidFill>
                <a:latin typeface="Consolas" pitchFamily="34" charset="0"/>
                <a:ea typeface="Consolas" pitchFamily="34" charset="-122"/>
                <a:cs typeface="Consolas" pitchFamily="34" charset="-120"/>
              </a:rPr>
              <a:t>−28</a:t>
            </a:r>
            <a:endParaRPr lang="en-US" sz="1000" dirty="0"/>
          </a:p>
        </p:txBody>
      </p:sp>
      <p:sp>
        <p:nvSpPr>
          <p:cNvPr id="40" name="Shape 38"/>
          <p:cNvSpPr/>
          <p:nvPr/>
        </p:nvSpPr>
        <p:spPr>
          <a:xfrm>
            <a:off x="4133088" y="4773168"/>
            <a:ext cx="1959429" cy="155448"/>
          </a:xfrm>
          <a:prstGeom prst="rect">
            <a:avLst/>
          </a:prstGeom>
          <a:solidFill>
            <a:srgbClr val="F04438"/>
          </a:solidFill>
          <a:ln w="12700">
            <a:solidFill>
              <a:srgbClr val="F04438"/>
            </a:solidFill>
            <a:prstDash val="solid"/>
          </a:ln>
        </p:spPr>
      </p:sp>
      <p:sp>
        <p:nvSpPr>
          <p:cNvPr id="41" name="Text 39"/>
          <p:cNvSpPr/>
          <p:nvPr/>
        </p:nvSpPr>
        <p:spPr>
          <a:xfrm>
            <a:off x="566928" y="4727448"/>
            <a:ext cx="2834640" cy="246888"/>
          </a:xfrm>
          <a:prstGeom prst="rect">
            <a:avLst/>
          </a:prstGeom>
          <a:noFill/>
          <a:ln/>
        </p:spPr>
        <p:txBody>
          <a:bodyPr wrap="square" lIns="0" tIns="0" rIns="0" bIns="0" rtlCol="0" anchor="ctr"/>
          <a:lstStyle/>
          <a:p>
            <a:pPr algn="r" indent="0" marL="0">
              <a:buNone/>
            </a:pPr>
            <a:r>
              <a:rPr lang="en-US" sz="950" dirty="0">
                <a:solidFill>
                  <a:srgbClr val="9DB2C4"/>
                </a:solidFill>
                <a:latin typeface="Calibri" pitchFamily="34" charset="0"/>
                <a:ea typeface="Calibri" pitchFamily="34" charset="-122"/>
                <a:cs typeface="Calibri" pitchFamily="34" charset="-120"/>
              </a:rPr>
              <a:t>Tipo de contrato erróneo</a:t>
            </a:r>
            <a:endParaRPr lang="en-US" sz="950" dirty="0"/>
          </a:p>
        </p:txBody>
      </p:sp>
      <p:sp>
        <p:nvSpPr>
          <p:cNvPr id="42" name="Text 40"/>
          <p:cNvSpPr/>
          <p:nvPr/>
        </p:nvSpPr>
        <p:spPr>
          <a:xfrm>
            <a:off x="3529584" y="4727448"/>
            <a:ext cx="548640" cy="246888"/>
          </a:xfrm>
          <a:prstGeom prst="rect">
            <a:avLst/>
          </a:prstGeom>
          <a:noFill/>
          <a:ln/>
        </p:spPr>
        <p:txBody>
          <a:bodyPr wrap="square" lIns="0" tIns="0" rIns="0" bIns="0" rtlCol="0" anchor="ctr"/>
          <a:lstStyle/>
          <a:p>
            <a:pPr algn="r" indent="0" marL="0">
              <a:buNone/>
            </a:pPr>
            <a:r>
              <a:rPr lang="en-US" sz="1000" b="1" dirty="0">
                <a:solidFill>
                  <a:srgbClr val="F04438"/>
                </a:solidFill>
                <a:latin typeface="Consolas" pitchFamily="34" charset="0"/>
                <a:ea typeface="Consolas" pitchFamily="34" charset="-122"/>
                <a:cs typeface="Consolas" pitchFamily="34" charset="-120"/>
              </a:rPr>
              <a:t>−45</a:t>
            </a:r>
            <a:endParaRPr lang="en-US" sz="1000" dirty="0"/>
          </a:p>
        </p:txBody>
      </p:sp>
      <p:sp>
        <p:nvSpPr>
          <p:cNvPr id="43" name="Text 41"/>
          <p:cNvSpPr/>
          <p:nvPr/>
        </p:nvSpPr>
        <p:spPr>
          <a:xfrm>
            <a:off x="4133088" y="5047488"/>
            <a:ext cx="2743200" cy="274320"/>
          </a:xfrm>
          <a:prstGeom prst="rect">
            <a:avLst/>
          </a:prstGeom>
          <a:noFill/>
          <a:ln/>
        </p:spPr>
        <p:txBody>
          <a:bodyPr wrap="square" lIns="0" tIns="0" rIns="0" bIns="0" rtlCol="0" anchor="ctr"/>
          <a:lstStyle/>
          <a:p>
            <a:pPr algn="ctr" indent="0" marL="0">
              <a:buNone/>
            </a:pPr>
            <a:r>
              <a:rPr lang="en-US" sz="1000" i="1" dirty="0">
                <a:solidFill>
                  <a:srgbClr val="6B8299"/>
                </a:solidFill>
                <a:latin typeface="Calibri" pitchFamily="34" charset="0"/>
                <a:ea typeface="Calibri" pitchFamily="34" charset="-122"/>
                <a:cs typeface="Calibri" pitchFamily="34" charset="-120"/>
              </a:rPr>
              <a:t>puntos sobre la base de 50</a:t>
            </a:r>
            <a:endParaRPr lang="en-US" sz="1000" dirty="0"/>
          </a:p>
        </p:txBody>
      </p:sp>
      <p:sp>
        <p:nvSpPr>
          <p:cNvPr id="44" name="Shape 42"/>
          <p:cNvSpPr/>
          <p:nvPr/>
        </p:nvSpPr>
        <p:spPr>
          <a:xfrm>
            <a:off x="7662672" y="1993392"/>
            <a:ext cx="3931920" cy="166420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45" name="Shape 43"/>
          <p:cNvSpPr/>
          <p:nvPr/>
        </p:nvSpPr>
        <p:spPr>
          <a:xfrm>
            <a:off x="7662672" y="1993392"/>
            <a:ext cx="64008" cy="1664208"/>
          </a:xfrm>
          <a:prstGeom prst="rect">
            <a:avLst/>
          </a:prstGeom>
          <a:solidFill>
            <a:srgbClr val="E0A458"/>
          </a:solidFill>
          <a:ln w="12700">
            <a:solidFill>
              <a:srgbClr val="E0A458"/>
            </a:solidFill>
            <a:prstDash val="solid"/>
          </a:ln>
        </p:spPr>
      </p:sp>
      <p:sp>
        <p:nvSpPr>
          <p:cNvPr id="46" name="Text 44"/>
          <p:cNvSpPr/>
          <p:nvPr/>
        </p:nvSpPr>
        <p:spPr>
          <a:xfrm>
            <a:off x="7918704" y="2157984"/>
            <a:ext cx="3383280" cy="237744"/>
          </a:xfrm>
          <a:prstGeom prst="rect">
            <a:avLst/>
          </a:prstGeom>
          <a:noFill/>
          <a:ln/>
        </p:spPr>
        <p:txBody>
          <a:bodyPr wrap="square" lIns="0" tIns="0" rIns="0" bIns="0" rtlCol="0" anchor="ctr"/>
          <a:lstStyle/>
          <a:p>
            <a:pPr indent="0" marL="0">
              <a:buNone/>
            </a:pPr>
            <a:r>
              <a:rPr lang="en-US" sz="1100" spc="160" kern="0" dirty="0">
                <a:solidFill>
                  <a:srgbClr val="E0A458"/>
                </a:solidFill>
                <a:latin typeface="Consolas" pitchFamily="34" charset="0"/>
                <a:ea typeface="Consolas" pitchFamily="34" charset="-122"/>
                <a:cs typeface="Consolas" pitchFamily="34" charset="-120"/>
              </a:rPr>
              <a:t>PRIMA JUSTA</a:t>
            </a:r>
            <a:endParaRPr lang="en-US" sz="1100" dirty="0"/>
          </a:p>
        </p:txBody>
      </p:sp>
      <p:sp>
        <p:nvSpPr>
          <p:cNvPr id="47" name="Text 45"/>
          <p:cNvSpPr/>
          <p:nvPr/>
        </p:nvSpPr>
        <p:spPr>
          <a:xfrm>
            <a:off x="7918704" y="2450592"/>
            <a:ext cx="3438144" cy="1097280"/>
          </a:xfrm>
          <a:prstGeom prst="rect">
            <a:avLst/>
          </a:prstGeom>
          <a:noFill/>
          <a:ln/>
        </p:spPr>
        <p:txBody>
          <a:bodyPr wrap="square" lIns="0" tIns="0" rIns="0" bIns="0" rtlCol="0" anchor="t"/>
          <a:lstStyle/>
          <a:p>
            <a:pPr algn="l" indent="0" marL="0">
              <a:lnSpc>
                <a:spcPct val="118000"/>
              </a:lnSpc>
              <a:buNone/>
            </a:pPr>
            <a:r>
              <a:rPr lang="en-US" sz="1150" dirty="0">
                <a:solidFill>
                  <a:srgbClr val="9DB2C4"/>
                </a:solidFill>
                <a:latin typeface="Calibri" pitchFamily="34" charset="0"/>
                <a:ea typeface="Calibri" pitchFamily="34" charset="-122"/>
                <a:cs typeface="Calibri" pitchFamily="34" charset="-120"/>
              </a:rPr>
              <a:t>El sistema compara la prima que pide el mercado con la que arroja el modelo propio. Por debajo del 0,88 la considera barata; por encima del 1,15, cara. Comprar caro o vender barato resta puntos.</a:t>
            </a:r>
            <a:endParaRPr lang="en-US" sz="1150" dirty="0"/>
          </a:p>
        </p:txBody>
      </p:sp>
      <p:sp>
        <p:nvSpPr>
          <p:cNvPr id="48" name="Shape 46"/>
          <p:cNvSpPr/>
          <p:nvPr/>
        </p:nvSpPr>
        <p:spPr>
          <a:xfrm>
            <a:off x="7662672" y="3803904"/>
            <a:ext cx="3931920" cy="1719072"/>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49" name="Shape 47"/>
          <p:cNvSpPr/>
          <p:nvPr/>
        </p:nvSpPr>
        <p:spPr>
          <a:xfrm>
            <a:off x="7662672" y="3803904"/>
            <a:ext cx="64008" cy="1719072"/>
          </a:xfrm>
          <a:prstGeom prst="rect">
            <a:avLst/>
          </a:prstGeom>
          <a:solidFill>
            <a:srgbClr val="F04438"/>
          </a:solidFill>
          <a:ln w="12700">
            <a:solidFill>
              <a:srgbClr val="F04438"/>
            </a:solidFill>
            <a:prstDash val="solid"/>
          </a:ln>
        </p:spPr>
      </p:sp>
      <p:sp>
        <p:nvSpPr>
          <p:cNvPr id="50" name="Text 48"/>
          <p:cNvSpPr/>
          <p:nvPr/>
        </p:nvSpPr>
        <p:spPr>
          <a:xfrm>
            <a:off x="7918704" y="3968496"/>
            <a:ext cx="3383280" cy="237744"/>
          </a:xfrm>
          <a:prstGeom prst="rect">
            <a:avLst/>
          </a:prstGeom>
          <a:noFill/>
          <a:ln/>
        </p:spPr>
        <p:txBody>
          <a:bodyPr wrap="square" lIns="0" tIns="0" rIns="0" bIns="0" rtlCol="0" anchor="ctr"/>
          <a:lstStyle/>
          <a:p>
            <a:pPr indent="0" marL="0">
              <a:buNone/>
            </a:pPr>
            <a:r>
              <a:rPr lang="en-US" sz="1100" spc="160" kern="0" dirty="0">
                <a:solidFill>
                  <a:srgbClr val="F04438"/>
                </a:solidFill>
                <a:latin typeface="Consolas" pitchFamily="34" charset="0"/>
                <a:ea typeface="Consolas" pitchFamily="34" charset="-122"/>
                <a:cs typeface="Consolas" pitchFamily="34" charset="-120"/>
              </a:rPr>
              <a:t>EL VETO DE LA LIQUIDEZ</a:t>
            </a:r>
            <a:endParaRPr lang="en-US" sz="1100" dirty="0"/>
          </a:p>
        </p:txBody>
      </p:sp>
      <p:sp>
        <p:nvSpPr>
          <p:cNvPr id="51" name="Text 49"/>
          <p:cNvSpPr/>
          <p:nvPr/>
        </p:nvSpPr>
        <p:spPr>
          <a:xfrm>
            <a:off x="7918704" y="4261104"/>
            <a:ext cx="3438144" cy="1170432"/>
          </a:xfrm>
          <a:prstGeom prst="rect">
            <a:avLst/>
          </a:prstGeom>
          <a:noFill/>
          <a:ln/>
        </p:spPr>
        <p:txBody>
          <a:bodyPr wrap="square" lIns="0" tIns="0" rIns="0" bIns="0" rtlCol="0" anchor="t"/>
          <a:lstStyle/>
          <a:p>
            <a:pPr algn="l" indent="0" marL="0">
              <a:lnSpc>
                <a:spcPct val="118000"/>
              </a:lnSpc>
              <a:buNone/>
            </a:pPr>
            <a:r>
              <a:rPr lang="en-US" sz="1150" dirty="0">
                <a:solidFill>
                  <a:srgbClr val="9DB2C4"/>
                </a:solidFill>
                <a:latin typeface="Calibri" pitchFamily="34" charset="0"/>
                <a:ea typeface="Calibri" pitchFamily="34" charset="-122"/>
                <a:cs typeface="Calibri" pitchFamily="34" charset="-120"/>
              </a:rPr>
              <a:t>Si un contrato no tiene interés abierto, volumen y una horquilla razonable, su puntuación queda limitada a 40 por bueno que sea todo lo demás. Un contrato del que no se puede salir no es una oportunidad.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LOS AGENTES</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17</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Qué pasa después de recomendar</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La diferencia entre una lista de ideas y una mesa que gestiona.</a:t>
            </a:r>
            <a:endParaRPr lang="en-US" sz="1450" dirty="0"/>
          </a:p>
        </p:txBody>
      </p:sp>
      <p:sp>
        <p:nvSpPr>
          <p:cNvPr id="6" name="Shape 4"/>
          <p:cNvSpPr/>
          <p:nvPr/>
        </p:nvSpPr>
        <p:spPr>
          <a:xfrm>
            <a:off x="566928" y="1975104"/>
            <a:ext cx="2606040" cy="22860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975104"/>
            <a:ext cx="64008" cy="2286000"/>
          </a:xfrm>
          <a:prstGeom prst="rect">
            <a:avLst/>
          </a:prstGeom>
          <a:solidFill>
            <a:srgbClr val="10B981"/>
          </a:solidFill>
          <a:ln w="12700">
            <a:solidFill>
              <a:srgbClr val="10B981"/>
            </a:solidFill>
            <a:prstDash val="solid"/>
          </a:ln>
        </p:spPr>
      </p:sp>
      <p:sp>
        <p:nvSpPr>
          <p:cNvPr id="8" name="Shape 6"/>
          <p:cNvSpPr/>
          <p:nvPr/>
        </p:nvSpPr>
        <p:spPr>
          <a:xfrm>
            <a:off x="804672" y="2176272"/>
            <a:ext cx="310896" cy="310896"/>
          </a:xfrm>
          <a:prstGeom prst="ellipse">
            <a:avLst/>
          </a:prstGeom>
          <a:solidFill>
            <a:srgbClr val="10B981"/>
          </a:solidFill>
          <a:ln w="12700">
            <a:solidFill>
              <a:srgbClr val="10B981"/>
            </a:solidFill>
            <a:prstDash val="solid"/>
          </a:ln>
        </p:spPr>
      </p:sp>
      <p:sp>
        <p:nvSpPr>
          <p:cNvPr id="9" name="Text 7"/>
          <p:cNvSpPr/>
          <p:nvPr/>
        </p:nvSpPr>
        <p:spPr>
          <a:xfrm>
            <a:off x="804672" y="2176272"/>
            <a:ext cx="310896" cy="310896"/>
          </a:xfrm>
          <a:prstGeom prst="rect">
            <a:avLst/>
          </a:prstGeom>
          <a:noFill/>
          <a:ln/>
        </p:spPr>
        <p:txBody>
          <a:bodyPr wrap="square" lIns="0" tIns="0" rIns="0" bIns="0" rtlCol="0" anchor="ctr"/>
          <a:lstStyle/>
          <a:p>
            <a:pPr algn="ctr" indent="0" marL="0">
              <a:buNone/>
            </a:pPr>
            <a:r>
              <a:rPr lang="en-US" sz="1200" b="1" dirty="0">
                <a:solidFill>
                  <a:srgbClr val="071522"/>
                </a:solidFill>
                <a:latin typeface="Consolas" pitchFamily="34" charset="0"/>
                <a:ea typeface="Consolas" pitchFamily="34" charset="-122"/>
                <a:cs typeface="Consolas" pitchFamily="34" charset="-120"/>
              </a:rPr>
              <a:t>1</a:t>
            </a:r>
            <a:endParaRPr lang="en-US" sz="1200" dirty="0"/>
          </a:p>
        </p:txBody>
      </p:sp>
      <p:sp>
        <p:nvSpPr>
          <p:cNvPr id="10" name="Text 8"/>
          <p:cNvSpPr/>
          <p:nvPr/>
        </p:nvSpPr>
        <p:spPr>
          <a:xfrm>
            <a:off x="1207008" y="2194560"/>
            <a:ext cx="1828800" cy="237744"/>
          </a:xfrm>
          <a:prstGeom prst="rect">
            <a:avLst/>
          </a:prstGeom>
          <a:noFill/>
          <a:ln/>
        </p:spPr>
        <p:txBody>
          <a:bodyPr wrap="square" lIns="0" tIns="0" rIns="0" bIns="0" rtlCol="0" anchor="ctr"/>
          <a:lstStyle/>
          <a:p>
            <a:pPr indent="0" marL="0">
              <a:buNone/>
            </a:pPr>
            <a:r>
              <a:rPr lang="en-US" sz="1050" spc="160" kern="0" dirty="0">
                <a:solidFill>
                  <a:srgbClr val="10B981"/>
                </a:solidFill>
                <a:latin typeface="Consolas" pitchFamily="34" charset="0"/>
                <a:ea typeface="Consolas" pitchFamily="34" charset="-122"/>
                <a:cs typeface="Consolas" pitchFamily="34" charset="-120"/>
              </a:rPr>
              <a:t>ALTA</a:t>
            </a:r>
            <a:endParaRPr lang="en-US" sz="1050" dirty="0"/>
          </a:p>
        </p:txBody>
      </p:sp>
      <p:sp>
        <p:nvSpPr>
          <p:cNvPr id="11" name="Text 9"/>
          <p:cNvSpPr/>
          <p:nvPr/>
        </p:nvSpPr>
        <p:spPr>
          <a:xfrm>
            <a:off x="804672" y="2633472"/>
            <a:ext cx="2212848" cy="1463040"/>
          </a:xfrm>
          <a:prstGeom prst="rect">
            <a:avLst/>
          </a:prstGeom>
          <a:noFill/>
          <a:ln/>
        </p:spPr>
        <p:txBody>
          <a:bodyPr wrap="square" lIns="0" tIns="0" rIns="0" bIns="0" rtlCol="0" anchor="t"/>
          <a:lstStyle/>
          <a:p>
            <a:pPr indent="0" marL="0">
              <a:lnSpc>
                <a:spcPct val="114000"/>
              </a:lnSpc>
              <a:buNone/>
            </a:pPr>
            <a:r>
              <a:rPr lang="en-US" sz="1100" dirty="0">
                <a:solidFill>
                  <a:srgbClr val="9DB2C4"/>
                </a:solidFill>
                <a:latin typeface="Calibri" pitchFamily="34" charset="0"/>
                <a:ea typeface="Calibri" pitchFamily="34" charset="-122"/>
                <a:cs typeface="Calibri" pitchFamily="34" charset="-120"/>
              </a:rPr>
              <a:t>Se registra con precio real, objetivo, stop y motivo. Si ya existe una posición viva del mismo valor, no se duplica.</a:t>
            </a:r>
            <a:endParaRPr lang="en-US" sz="1100" dirty="0"/>
          </a:p>
        </p:txBody>
      </p:sp>
      <p:sp>
        <p:nvSpPr>
          <p:cNvPr id="12" name="Shape 10"/>
          <p:cNvSpPr/>
          <p:nvPr/>
        </p:nvSpPr>
        <p:spPr>
          <a:xfrm>
            <a:off x="3355848" y="1975104"/>
            <a:ext cx="2606040" cy="22860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3" name="Shape 11"/>
          <p:cNvSpPr/>
          <p:nvPr/>
        </p:nvSpPr>
        <p:spPr>
          <a:xfrm>
            <a:off x="3355848" y="1975104"/>
            <a:ext cx="64008" cy="2286000"/>
          </a:xfrm>
          <a:prstGeom prst="rect">
            <a:avLst/>
          </a:prstGeom>
          <a:solidFill>
            <a:srgbClr val="4D95D0"/>
          </a:solidFill>
          <a:ln w="12700">
            <a:solidFill>
              <a:srgbClr val="4D95D0"/>
            </a:solidFill>
            <a:prstDash val="solid"/>
          </a:ln>
        </p:spPr>
      </p:sp>
      <p:sp>
        <p:nvSpPr>
          <p:cNvPr id="14" name="Shape 12"/>
          <p:cNvSpPr/>
          <p:nvPr/>
        </p:nvSpPr>
        <p:spPr>
          <a:xfrm>
            <a:off x="3593592" y="2176272"/>
            <a:ext cx="310896" cy="310896"/>
          </a:xfrm>
          <a:prstGeom prst="ellipse">
            <a:avLst/>
          </a:prstGeom>
          <a:solidFill>
            <a:srgbClr val="4D95D0"/>
          </a:solidFill>
          <a:ln w="12700">
            <a:solidFill>
              <a:srgbClr val="4D95D0"/>
            </a:solidFill>
            <a:prstDash val="solid"/>
          </a:ln>
        </p:spPr>
      </p:sp>
      <p:sp>
        <p:nvSpPr>
          <p:cNvPr id="15" name="Text 13"/>
          <p:cNvSpPr/>
          <p:nvPr/>
        </p:nvSpPr>
        <p:spPr>
          <a:xfrm>
            <a:off x="3593592" y="2176272"/>
            <a:ext cx="310896" cy="310896"/>
          </a:xfrm>
          <a:prstGeom prst="rect">
            <a:avLst/>
          </a:prstGeom>
          <a:noFill/>
          <a:ln/>
        </p:spPr>
        <p:txBody>
          <a:bodyPr wrap="square" lIns="0" tIns="0" rIns="0" bIns="0" rtlCol="0" anchor="ctr"/>
          <a:lstStyle/>
          <a:p>
            <a:pPr algn="ctr" indent="0" marL="0">
              <a:buNone/>
            </a:pPr>
            <a:r>
              <a:rPr lang="en-US" sz="1200" b="1" dirty="0">
                <a:solidFill>
                  <a:srgbClr val="071522"/>
                </a:solidFill>
                <a:latin typeface="Consolas" pitchFamily="34" charset="0"/>
                <a:ea typeface="Consolas" pitchFamily="34" charset="-122"/>
                <a:cs typeface="Consolas" pitchFamily="34" charset="-120"/>
              </a:rPr>
              <a:t>2</a:t>
            </a:r>
            <a:endParaRPr lang="en-US" sz="1200" dirty="0"/>
          </a:p>
        </p:txBody>
      </p:sp>
      <p:sp>
        <p:nvSpPr>
          <p:cNvPr id="16" name="Text 14"/>
          <p:cNvSpPr/>
          <p:nvPr/>
        </p:nvSpPr>
        <p:spPr>
          <a:xfrm>
            <a:off x="3995928" y="2194560"/>
            <a:ext cx="1828800" cy="237744"/>
          </a:xfrm>
          <a:prstGeom prst="rect">
            <a:avLst/>
          </a:prstGeom>
          <a:noFill/>
          <a:ln/>
        </p:spPr>
        <p:txBody>
          <a:bodyPr wrap="square" lIns="0" tIns="0" rIns="0" bIns="0" rtlCol="0" anchor="ctr"/>
          <a:lstStyle/>
          <a:p>
            <a:pPr indent="0" marL="0">
              <a:buNone/>
            </a:pPr>
            <a:r>
              <a:rPr lang="en-US" sz="1050" spc="160" kern="0" dirty="0">
                <a:solidFill>
                  <a:srgbClr val="4D95D0"/>
                </a:solidFill>
                <a:latin typeface="Consolas" pitchFamily="34" charset="0"/>
                <a:ea typeface="Consolas" pitchFamily="34" charset="-122"/>
                <a:cs typeface="Consolas" pitchFamily="34" charset="-120"/>
              </a:rPr>
              <a:t>CADA 30 MIN</a:t>
            </a:r>
            <a:endParaRPr lang="en-US" sz="1050" dirty="0"/>
          </a:p>
        </p:txBody>
      </p:sp>
      <p:sp>
        <p:nvSpPr>
          <p:cNvPr id="17" name="Text 15"/>
          <p:cNvSpPr/>
          <p:nvPr/>
        </p:nvSpPr>
        <p:spPr>
          <a:xfrm>
            <a:off x="3593592" y="2633472"/>
            <a:ext cx="2212848" cy="1463040"/>
          </a:xfrm>
          <a:prstGeom prst="rect">
            <a:avLst/>
          </a:prstGeom>
          <a:noFill/>
          <a:ln/>
        </p:spPr>
        <p:txBody>
          <a:bodyPr wrap="square" lIns="0" tIns="0" rIns="0" bIns="0" rtlCol="0" anchor="t"/>
          <a:lstStyle/>
          <a:p>
            <a:pPr indent="0" marL="0">
              <a:lnSpc>
                <a:spcPct val="114000"/>
              </a:lnSpc>
              <a:buNone/>
            </a:pPr>
            <a:r>
              <a:rPr lang="en-US" sz="1100" dirty="0">
                <a:solidFill>
                  <a:srgbClr val="9DB2C4"/>
                </a:solidFill>
                <a:latin typeface="Calibri" pitchFamily="34" charset="0"/>
                <a:ea typeface="Calibri" pitchFamily="34" charset="-122"/>
                <a:cs typeface="Calibri" pitchFamily="34" charset="-120"/>
              </a:rPr>
              <a:t>Durante la sesión, un proceso automático cotiza cada contrato abierto por el punto medio de horquilla y compara con sus niveles.</a:t>
            </a:r>
            <a:endParaRPr lang="en-US" sz="1100" dirty="0"/>
          </a:p>
        </p:txBody>
      </p:sp>
      <p:sp>
        <p:nvSpPr>
          <p:cNvPr id="18" name="Shape 16"/>
          <p:cNvSpPr/>
          <p:nvPr/>
        </p:nvSpPr>
        <p:spPr>
          <a:xfrm>
            <a:off x="6144768" y="1975104"/>
            <a:ext cx="2606040" cy="22860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9" name="Shape 17"/>
          <p:cNvSpPr/>
          <p:nvPr/>
        </p:nvSpPr>
        <p:spPr>
          <a:xfrm>
            <a:off x="6144768" y="1975104"/>
            <a:ext cx="64008" cy="2286000"/>
          </a:xfrm>
          <a:prstGeom prst="rect">
            <a:avLst/>
          </a:prstGeom>
          <a:solidFill>
            <a:srgbClr val="E0A458"/>
          </a:solidFill>
          <a:ln w="12700">
            <a:solidFill>
              <a:srgbClr val="E0A458"/>
            </a:solidFill>
            <a:prstDash val="solid"/>
          </a:ln>
        </p:spPr>
      </p:sp>
      <p:sp>
        <p:nvSpPr>
          <p:cNvPr id="20" name="Shape 18"/>
          <p:cNvSpPr/>
          <p:nvPr/>
        </p:nvSpPr>
        <p:spPr>
          <a:xfrm>
            <a:off x="6382512" y="2176272"/>
            <a:ext cx="310896" cy="310896"/>
          </a:xfrm>
          <a:prstGeom prst="ellipse">
            <a:avLst/>
          </a:prstGeom>
          <a:solidFill>
            <a:srgbClr val="E0A458"/>
          </a:solidFill>
          <a:ln w="12700">
            <a:solidFill>
              <a:srgbClr val="E0A458"/>
            </a:solidFill>
            <a:prstDash val="solid"/>
          </a:ln>
        </p:spPr>
      </p:sp>
      <p:sp>
        <p:nvSpPr>
          <p:cNvPr id="21" name="Text 19"/>
          <p:cNvSpPr/>
          <p:nvPr/>
        </p:nvSpPr>
        <p:spPr>
          <a:xfrm>
            <a:off x="6382512" y="2176272"/>
            <a:ext cx="310896" cy="310896"/>
          </a:xfrm>
          <a:prstGeom prst="rect">
            <a:avLst/>
          </a:prstGeom>
          <a:noFill/>
          <a:ln/>
        </p:spPr>
        <p:txBody>
          <a:bodyPr wrap="square" lIns="0" tIns="0" rIns="0" bIns="0" rtlCol="0" anchor="ctr"/>
          <a:lstStyle/>
          <a:p>
            <a:pPr algn="ctr" indent="0" marL="0">
              <a:buNone/>
            </a:pPr>
            <a:r>
              <a:rPr lang="en-US" sz="1200" b="1" dirty="0">
                <a:solidFill>
                  <a:srgbClr val="071522"/>
                </a:solidFill>
                <a:latin typeface="Consolas" pitchFamily="34" charset="0"/>
                <a:ea typeface="Consolas" pitchFamily="34" charset="-122"/>
                <a:cs typeface="Consolas" pitchFamily="34" charset="-120"/>
              </a:rPr>
              <a:t>3</a:t>
            </a:r>
            <a:endParaRPr lang="en-US" sz="1200" dirty="0"/>
          </a:p>
        </p:txBody>
      </p:sp>
      <p:sp>
        <p:nvSpPr>
          <p:cNvPr id="22" name="Text 20"/>
          <p:cNvSpPr/>
          <p:nvPr/>
        </p:nvSpPr>
        <p:spPr>
          <a:xfrm>
            <a:off x="6784848" y="2194560"/>
            <a:ext cx="1828800" cy="237744"/>
          </a:xfrm>
          <a:prstGeom prst="rect">
            <a:avLst/>
          </a:prstGeom>
          <a:noFill/>
          <a:ln/>
        </p:spPr>
        <p:txBody>
          <a:bodyPr wrap="square" lIns="0" tIns="0" rIns="0" bIns="0" rtlCol="0" anchor="ctr"/>
          <a:lstStyle/>
          <a:p>
            <a:pPr indent="0" marL="0">
              <a:buNone/>
            </a:pPr>
            <a:r>
              <a:rPr lang="en-US" sz="1050" spc="160" kern="0" dirty="0">
                <a:solidFill>
                  <a:srgbClr val="E0A458"/>
                </a:solidFill>
                <a:latin typeface="Consolas" pitchFamily="34" charset="0"/>
                <a:ea typeface="Consolas" pitchFamily="34" charset="-122"/>
                <a:cs typeface="Consolas" pitchFamily="34" charset="-120"/>
              </a:rPr>
              <a:t>SALIDA</a:t>
            </a:r>
            <a:endParaRPr lang="en-US" sz="1050" dirty="0"/>
          </a:p>
        </p:txBody>
      </p:sp>
      <p:sp>
        <p:nvSpPr>
          <p:cNvPr id="23" name="Text 21"/>
          <p:cNvSpPr/>
          <p:nvPr/>
        </p:nvSpPr>
        <p:spPr>
          <a:xfrm>
            <a:off x="6382512" y="2633472"/>
            <a:ext cx="2212848" cy="1463040"/>
          </a:xfrm>
          <a:prstGeom prst="rect">
            <a:avLst/>
          </a:prstGeom>
          <a:noFill/>
          <a:ln/>
        </p:spPr>
        <p:txBody>
          <a:bodyPr wrap="square" lIns="0" tIns="0" rIns="0" bIns="0" rtlCol="0" anchor="t"/>
          <a:lstStyle/>
          <a:p>
            <a:pPr indent="0" marL="0">
              <a:lnSpc>
                <a:spcPct val="114000"/>
              </a:lnSpc>
              <a:buNone/>
            </a:pPr>
            <a:r>
              <a:rPr lang="en-US" sz="1100" dirty="0">
                <a:solidFill>
                  <a:srgbClr val="9DB2C4"/>
                </a:solidFill>
                <a:latin typeface="Calibri" pitchFamily="34" charset="0"/>
                <a:ea typeface="Calibri" pitchFamily="34" charset="-122"/>
                <a:cs typeface="Calibri" pitchFamily="34" charset="-120"/>
              </a:rPr>
              <a:t>Si toca objetivo o stop, se cierra y se registra la rentabilidad y la fecha. En acciones, el cierre lo dispara el deterioro de 2 de 3 condiciones.</a:t>
            </a:r>
            <a:endParaRPr lang="en-US" sz="1100" dirty="0"/>
          </a:p>
        </p:txBody>
      </p:sp>
      <p:sp>
        <p:nvSpPr>
          <p:cNvPr id="24" name="Shape 22"/>
          <p:cNvSpPr/>
          <p:nvPr/>
        </p:nvSpPr>
        <p:spPr>
          <a:xfrm>
            <a:off x="8933688" y="1975104"/>
            <a:ext cx="2606040" cy="228600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5" name="Shape 23"/>
          <p:cNvSpPr/>
          <p:nvPr/>
        </p:nvSpPr>
        <p:spPr>
          <a:xfrm>
            <a:off x="8933688" y="1975104"/>
            <a:ext cx="64008" cy="2286000"/>
          </a:xfrm>
          <a:prstGeom prst="rect">
            <a:avLst/>
          </a:prstGeom>
          <a:solidFill>
            <a:srgbClr val="8B8FF0"/>
          </a:solidFill>
          <a:ln w="12700">
            <a:solidFill>
              <a:srgbClr val="8B8FF0"/>
            </a:solidFill>
            <a:prstDash val="solid"/>
          </a:ln>
        </p:spPr>
      </p:sp>
      <p:sp>
        <p:nvSpPr>
          <p:cNvPr id="26" name="Shape 24"/>
          <p:cNvSpPr/>
          <p:nvPr/>
        </p:nvSpPr>
        <p:spPr>
          <a:xfrm>
            <a:off x="9171432" y="2176272"/>
            <a:ext cx="310896" cy="310896"/>
          </a:xfrm>
          <a:prstGeom prst="ellipse">
            <a:avLst/>
          </a:prstGeom>
          <a:solidFill>
            <a:srgbClr val="8B8FF0"/>
          </a:solidFill>
          <a:ln w="12700">
            <a:solidFill>
              <a:srgbClr val="8B8FF0"/>
            </a:solidFill>
            <a:prstDash val="solid"/>
          </a:ln>
        </p:spPr>
      </p:sp>
      <p:sp>
        <p:nvSpPr>
          <p:cNvPr id="27" name="Text 25"/>
          <p:cNvSpPr/>
          <p:nvPr/>
        </p:nvSpPr>
        <p:spPr>
          <a:xfrm>
            <a:off x="9171432" y="2176272"/>
            <a:ext cx="310896" cy="310896"/>
          </a:xfrm>
          <a:prstGeom prst="rect">
            <a:avLst/>
          </a:prstGeom>
          <a:noFill/>
          <a:ln/>
        </p:spPr>
        <p:txBody>
          <a:bodyPr wrap="square" lIns="0" tIns="0" rIns="0" bIns="0" rtlCol="0" anchor="ctr"/>
          <a:lstStyle/>
          <a:p>
            <a:pPr algn="ctr" indent="0" marL="0">
              <a:buNone/>
            </a:pPr>
            <a:r>
              <a:rPr lang="en-US" sz="1200" b="1" dirty="0">
                <a:solidFill>
                  <a:srgbClr val="071522"/>
                </a:solidFill>
                <a:latin typeface="Consolas" pitchFamily="34" charset="0"/>
                <a:ea typeface="Consolas" pitchFamily="34" charset="-122"/>
                <a:cs typeface="Consolas" pitchFamily="34" charset="-120"/>
              </a:rPr>
              <a:t>4</a:t>
            </a:r>
            <a:endParaRPr lang="en-US" sz="1200" dirty="0"/>
          </a:p>
        </p:txBody>
      </p:sp>
      <p:sp>
        <p:nvSpPr>
          <p:cNvPr id="28" name="Text 26"/>
          <p:cNvSpPr/>
          <p:nvPr/>
        </p:nvSpPr>
        <p:spPr>
          <a:xfrm>
            <a:off x="9573768" y="2194560"/>
            <a:ext cx="1828800" cy="237744"/>
          </a:xfrm>
          <a:prstGeom prst="rect">
            <a:avLst/>
          </a:prstGeom>
          <a:noFill/>
          <a:ln/>
        </p:spPr>
        <p:txBody>
          <a:bodyPr wrap="square" lIns="0" tIns="0" rIns="0" bIns="0" rtlCol="0" anchor="ctr"/>
          <a:lstStyle/>
          <a:p>
            <a:pPr indent="0" marL="0">
              <a:buNone/>
            </a:pPr>
            <a:r>
              <a:rPr lang="en-US" sz="1050" spc="160" kern="0" dirty="0">
                <a:solidFill>
                  <a:srgbClr val="8B8FF0"/>
                </a:solidFill>
                <a:latin typeface="Consolas" pitchFamily="34" charset="0"/>
                <a:ea typeface="Consolas" pitchFamily="34" charset="-122"/>
                <a:cs typeface="Consolas" pitchFamily="34" charset="-120"/>
              </a:rPr>
              <a:t>VENCIMIENTO</a:t>
            </a:r>
            <a:endParaRPr lang="en-US" sz="1050" dirty="0"/>
          </a:p>
        </p:txBody>
      </p:sp>
      <p:sp>
        <p:nvSpPr>
          <p:cNvPr id="29" name="Text 27"/>
          <p:cNvSpPr/>
          <p:nvPr/>
        </p:nvSpPr>
        <p:spPr>
          <a:xfrm>
            <a:off x="9171432" y="2633472"/>
            <a:ext cx="2212848" cy="1463040"/>
          </a:xfrm>
          <a:prstGeom prst="rect">
            <a:avLst/>
          </a:prstGeom>
          <a:noFill/>
          <a:ln/>
        </p:spPr>
        <p:txBody>
          <a:bodyPr wrap="square" lIns="0" tIns="0" rIns="0" bIns="0" rtlCol="0" anchor="t"/>
          <a:lstStyle/>
          <a:p>
            <a:pPr indent="0" marL="0">
              <a:lnSpc>
                <a:spcPct val="114000"/>
              </a:lnSpc>
              <a:buNone/>
            </a:pPr>
            <a:r>
              <a:rPr lang="en-US" sz="1100" dirty="0">
                <a:solidFill>
                  <a:srgbClr val="9DB2C4"/>
                </a:solidFill>
                <a:latin typeface="Calibri" pitchFamily="34" charset="0"/>
                <a:ea typeface="Calibri" pitchFamily="34" charset="-122"/>
                <a:cs typeface="Calibri" pitchFamily="34" charset="-120"/>
              </a:rPr>
              <a:t>Los contratos que expiran se liquidan a su valor intrínseco real contra el cierre del subyacente de ese día, no a una estimación.</a:t>
            </a:r>
            <a:endParaRPr lang="en-US" sz="1100" dirty="0"/>
          </a:p>
        </p:txBody>
      </p:sp>
      <p:sp>
        <p:nvSpPr>
          <p:cNvPr id="30" name="Shape 28"/>
          <p:cNvSpPr/>
          <p:nvPr/>
        </p:nvSpPr>
        <p:spPr>
          <a:xfrm>
            <a:off x="566928" y="4480560"/>
            <a:ext cx="11027664" cy="100584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1" name="Shape 29"/>
          <p:cNvSpPr/>
          <p:nvPr/>
        </p:nvSpPr>
        <p:spPr>
          <a:xfrm>
            <a:off x="566928" y="4480560"/>
            <a:ext cx="64008" cy="1005840"/>
          </a:xfrm>
          <a:prstGeom prst="rect">
            <a:avLst/>
          </a:prstGeom>
          <a:solidFill>
            <a:srgbClr val="E0A458"/>
          </a:solidFill>
          <a:ln w="12700">
            <a:solidFill>
              <a:srgbClr val="E0A458"/>
            </a:solidFill>
            <a:prstDash val="solid"/>
          </a:ln>
        </p:spPr>
      </p:sp>
      <p:sp>
        <p:nvSpPr>
          <p:cNvPr id="32" name="Text 30"/>
          <p:cNvSpPr/>
          <p:nvPr/>
        </p:nvSpPr>
        <p:spPr>
          <a:xfrm>
            <a:off x="841248" y="4480560"/>
            <a:ext cx="10515600" cy="1005840"/>
          </a:xfrm>
          <a:prstGeom prst="rect">
            <a:avLst/>
          </a:prstGeom>
          <a:noFill/>
          <a:ln/>
        </p:spPr>
        <p:txBody>
          <a:bodyPr wrap="square" lIns="0" tIns="0" rIns="0" bIns="0" rtlCol="0" anchor="ctr"/>
          <a:lstStyle/>
          <a:p>
            <a:pPr indent="0" marL="0">
              <a:lnSpc>
                <a:spcPct val="112000"/>
              </a:lnSpc>
              <a:buNone/>
            </a:pPr>
            <a:r>
              <a:rPr lang="en-US" sz="1200" b="1" dirty="0">
                <a:solidFill>
                  <a:srgbClr val="E0A458"/>
                </a:solidFill>
                <a:latin typeface="Calibri" pitchFamily="34" charset="0"/>
                <a:ea typeface="Calibri" pitchFamily="34" charset="-122"/>
                <a:cs typeface="Calibri" pitchFamily="34" charset="-120"/>
              </a:rPr>
              <a:t>El detalle que separa un prototipo de una mesa:  </a:t>
            </a:r>
            <a:pPr indent="0" marL="0">
              <a:lnSpc>
                <a:spcPct val="112000"/>
              </a:lnSpc>
              <a:buNone/>
            </a:pPr>
            <a:r>
              <a:rPr lang="en-US" sz="1200" dirty="0">
                <a:solidFill>
                  <a:srgbClr val="9DB2C4"/>
                </a:solidFill>
                <a:latin typeface="Calibri" pitchFamily="34" charset="0"/>
                <a:ea typeface="Calibri" pitchFamily="34" charset="-122"/>
                <a:cs typeface="Calibri" pitchFamily="34" charset="-120"/>
              </a:rPr>
              <a:t>la liquidación al vencimiento se hace contra el precio real de cierre del subyacente. Suena obvio, pero una versión anterior daba por bueno un ±100 % fijo, y esa cifra falsa se habría propagado a todas las estadísticas de la cartera.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1522"/>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LA PREGUNTA INCÓMODA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18</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Estos cuatro agentes no tienen backtest</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Y no es una tarea pendiente: es una decisión, y prefiero explicarla antes de que me la preguntéis.</a:t>
            </a:r>
            <a:endParaRPr lang="en-US" sz="1450" dirty="0"/>
          </a:p>
        </p:txBody>
      </p:sp>
      <p:sp>
        <p:nvSpPr>
          <p:cNvPr id="6" name="Shape 4"/>
          <p:cNvSpPr/>
          <p:nvPr/>
        </p:nvSpPr>
        <p:spPr>
          <a:xfrm>
            <a:off x="566928" y="2011680"/>
            <a:ext cx="5413248" cy="2139696"/>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2011680"/>
            <a:ext cx="64008" cy="2139696"/>
          </a:xfrm>
          <a:prstGeom prst="rect">
            <a:avLst/>
          </a:prstGeom>
          <a:solidFill>
            <a:srgbClr val="F04438"/>
          </a:solidFill>
          <a:ln w="12700">
            <a:solidFill>
              <a:srgbClr val="F04438"/>
            </a:solidFill>
            <a:prstDash val="solid"/>
          </a:ln>
        </p:spPr>
      </p:sp>
      <p:sp>
        <p:nvSpPr>
          <p:cNvPr id="8" name="Text 6"/>
          <p:cNvSpPr/>
          <p:nvPr/>
        </p:nvSpPr>
        <p:spPr>
          <a:xfrm>
            <a:off x="841248" y="2176272"/>
            <a:ext cx="4846320" cy="329184"/>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RAZÓN 1 · Los fundamentales no tienen memoria</a:t>
            </a:r>
            <a:endParaRPr lang="en-US" sz="1350" dirty="0"/>
          </a:p>
        </p:txBody>
      </p:sp>
      <p:sp>
        <p:nvSpPr>
          <p:cNvPr id="9" name="Text 7"/>
          <p:cNvSpPr/>
          <p:nvPr/>
        </p:nvSpPr>
        <p:spPr>
          <a:xfrm>
            <a:off x="841248" y="2578608"/>
            <a:ext cx="4882896" cy="1207008"/>
          </a:xfrm>
          <a:prstGeom prst="rect">
            <a:avLst/>
          </a:prstGeom>
          <a:noFill/>
          <a:ln/>
        </p:spPr>
        <p:txBody>
          <a:bodyPr wrap="square" lIns="0" tIns="0" rIns="0" bIns="0" rtlCol="0" anchor="t"/>
          <a:lstStyle/>
          <a:p>
            <a:pPr algn="l" indent="0" marL="0">
              <a:lnSpc>
                <a:spcPct val="118000"/>
              </a:lnSpc>
              <a:buNone/>
            </a:pPr>
            <a:r>
              <a:rPr lang="en-US" sz="1150" dirty="0">
                <a:solidFill>
                  <a:srgbClr val="9DB2C4"/>
                </a:solidFill>
                <a:latin typeface="Calibri" pitchFamily="34" charset="0"/>
                <a:ea typeface="Calibri" pitchFamily="34" charset="-122"/>
                <a:cs typeface="Calibri" pitchFamily="34" charset="-120"/>
              </a:rPr>
              <a:t>La fuente de datos devuelve el PER, el PEG y la deuda de HOY. No los que se publicaron en 2019. Si simulase el filtro de Peter sobre 2019 con los datos de hoy, el sistema estaría eligiendo empresas sabiendo ya cómo acabó la historia.</a:t>
            </a:r>
            <a:endParaRPr lang="en-US" sz="1150" dirty="0"/>
          </a:p>
        </p:txBody>
      </p:sp>
      <p:sp>
        <p:nvSpPr>
          <p:cNvPr id="10" name="Shape 8"/>
          <p:cNvSpPr/>
          <p:nvPr/>
        </p:nvSpPr>
        <p:spPr>
          <a:xfrm>
            <a:off x="841248" y="3749040"/>
            <a:ext cx="2286000" cy="310896"/>
          </a:xfrm>
          <a:prstGeom prst="roundRect">
            <a:avLst>
              <a:gd name="adj" fmla="val 50000"/>
            </a:avLst>
          </a:prstGeom>
          <a:solidFill>
            <a:srgbClr val="12293B"/>
          </a:solidFill>
          <a:ln w="12700">
            <a:solidFill>
              <a:srgbClr val="F04438"/>
            </a:solidFill>
            <a:prstDash val="solid"/>
          </a:ln>
        </p:spPr>
      </p:sp>
      <p:sp>
        <p:nvSpPr>
          <p:cNvPr id="11" name="Text 9"/>
          <p:cNvSpPr/>
          <p:nvPr/>
        </p:nvSpPr>
        <p:spPr>
          <a:xfrm>
            <a:off x="841248" y="3749040"/>
            <a:ext cx="2286000" cy="310896"/>
          </a:xfrm>
          <a:prstGeom prst="rect">
            <a:avLst/>
          </a:prstGeom>
          <a:noFill/>
          <a:ln/>
        </p:spPr>
        <p:txBody>
          <a:bodyPr wrap="square" lIns="0" tIns="0" rIns="0" bIns="0" rtlCol="0" anchor="ctr"/>
          <a:lstStyle/>
          <a:p>
            <a:pPr algn="ctr" indent="0" marL="0">
              <a:buNone/>
            </a:pPr>
            <a:r>
              <a:rPr lang="en-US" sz="1050" dirty="0">
                <a:solidFill>
                  <a:srgbClr val="F04438"/>
                </a:solidFill>
                <a:latin typeface="Consolas" pitchFamily="34" charset="0"/>
                <a:ea typeface="Consolas" pitchFamily="34" charset="-122"/>
                <a:cs typeface="Consolas" pitchFamily="34" charset="-120"/>
              </a:rPr>
              <a:t>Sesgo de anticipación</a:t>
            </a:r>
            <a:endParaRPr lang="en-US" sz="1050" dirty="0"/>
          </a:p>
        </p:txBody>
      </p:sp>
      <p:sp>
        <p:nvSpPr>
          <p:cNvPr id="12" name="Shape 10"/>
          <p:cNvSpPr/>
          <p:nvPr/>
        </p:nvSpPr>
        <p:spPr>
          <a:xfrm>
            <a:off x="6181344" y="2011680"/>
            <a:ext cx="5413248" cy="2139696"/>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3" name="Shape 11"/>
          <p:cNvSpPr/>
          <p:nvPr/>
        </p:nvSpPr>
        <p:spPr>
          <a:xfrm>
            <a:off x="6181344" y="2011680"/>
            <a:ext cx="64008" cy="2139696"/>
          </a:xfrm>
          <a:prstGeom prst="rect">
            <a:avLst/>
          </a:prstGeom>
          <a:solidFill>
            <a:srgbClr val="F04438"/>
          </a:solidFill>
          <a:ln w="12700">
            <a:solidFill>
              <a:srgbClr val="F04438"/>
            </a:solidFill>
            <a:prstDash val="solid"/>
          </a:ln>
        </p:spPr>
      </p:sp>
      <p:sp>
        <p:nvSpPr>
          <p:cNvPr id="14" name="Text 12"/>
          <p:cNvSpPr/>
          <p:nvPr/>
        </p:nvSpPr>
        <p:spPr>
          <a:xfrm>
            <a:off x="6455664" y="2176272"/>
            <a:ext cx="4846320" cy="329184"/>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RAZÓN 2 · El universo son los supervivientes</a:t>
            </a:r>
            <a:endParaRPr lang="en-US" sz="1350" dirty="0"/>
          </a:p>
        </p:txBody>
      </p:sp>
      <p:sp>
        <p:nvSpPr>
          <p:cNvPr id="15" name="Text 13"/>
          <p:cNvSpPr/>
          <p:nvPr/>
        </p:nvSpPr>
        <p:spPr>
          <a:xfrm>
            <a:off x="6455664" y="2578608"/>
            <a:ext cx="4882896" cy="1207008"/>
          </a:xfrm>
          <a:prstGeom prst="rect">
            <a:avLst/>
          </a:prstGeom>
          <a:noFill/>
          <a:ln/>
        </p:spPr>
        <p:txBody>
          <a:bodyPr wrap="square" lIns="0" tIns="0" rIns="0" bIns="0" rtlCol="0" anchor="t"/>
          <a:lstStyle/>
          <a:p>
            <a:pPr algn="l" indent="0" marL="0">
              <a:lnSpc>
                <a:spcPct val="118000"/>
              </a:lnSpc>
              <a:buNone/>
            </a:pPr>
            <a:r>
              <a:rPr lang="en-US" sz="1150" dirty="0">
                <a:solidFill>
                  <a:srgbClr val="9DB2C4"/>
                </a:solidFill>
                <a:latin typeface="Calibri" pitchFamily="34" charset="0"/>
                <a:ea typeface="Calibri" pitchFamily="34" charset="-122"/>
                <a:cs typeface="Calibri" pitchFamily="34" charset="-120"/>
              </a:rPr>
              <a:t>La lista de 443 y 307 valores contiene los que están en el índice hoy. Las compañías que quebraron o fueron excluidas no aparecen. Un backtest sobre esa lista solo puede mirar a las que sobrevivieron.</a:t>
            </a:r>
            <a:endParaRPr lang="en-US" sz="1150" dirty="0"/>
          </a:p>
        </p:txBody>
      </p:sp>
      <p:sp>
        <p:nvSpPr>
          <p:cNvPr id="16" name="Shape 14"/>
          <p:cNvSpPr/>
          <p:nvPr/>
        </p:nvSpPr>
        <p:spPr>
          <a:xfrm>
            <a:off x="6455664" y="3749040"/>
            <a:ext cx="2286000" cy="310896"/>
          </a:xfrm>
          <a:prstGeom prst="roundRect">
            <a:avLst>
              <a:gd name="adj" fmla="val 50000"/>
            </a:avLst>
          </a:prstGeom>
          <a:solidFill>
            <a:srgbClr val="12293B"/>
          </a:solidFill>
          <a:ln w="12700">
            <a:solidFill>
              <a:srgbClr val="F04438"/>
            </a:solidFill>
            <a:prstDash val="solid"/>
          </a:ln>
        </p:spPr>
      </p:sp>
      <p:sp>
        <p:nvSpPr>
          <p:cNvPr id="17" name="Text 15"/>
          <p:cNvSpPr/>
          <p:nvPr/>
        </p:nvSpPr>
        <p:spPr>
          <a:xfrm>
            <a:off x="6455664" y="3749040"/>
            <a:ext cx="2286000" cy="310896"/>
          </a:xfrm>
          <a:prstGeom prst="rect">
            <a:avLst/>
          </a:prstGeom>
          <a:noFill/>
          <a:ln/>
        </p:spPr>
        <p:txBody>
          <a:bodyPr wrap="square" lIns="0" tIns="0" rIns="0" bIns="0" rtlCol="0" anchor="ctr"/>
          <a:lstStyle/>
          <a:p>
            <a:pPr algn="ctr" indent="0" marL="0">
              <a:buNone/>
            </a:pPr>
            <a:r>
              <a:rPr lang="en-US" sz="1050" dirty="0">
                <a:solidFill>
                  <a:srgbClr val="F04438"/>
                </a:solidFill>
                <a:latin typeface="Consolas" pitchFamily="34" charset="0"/>
                <a:ea typeface="Consolas" pitchFamily="34" charset="-122"/>
                <a:cs typeface="Consolas" pitchFamily="34" charset="-120"/>
              </a:rPr>
              <a:t>Sesgo de supervivencia</a:t>
            </a:r>
            <a:endParaRPr lang="en-US" sz="1050" dirty="0"/>
          </a:p>
        </p:txBody>
      </p:sp>
      <p:sp>
        <p:nvSpPr>
          <p:cNvPr id="18" name="Shape 16"/>
          <p:cNvSpPr/>
          <p:nvPr/>
        </p:nvSpPr>
        <p:spPr>
          <a:xfrm>
            <a:off x="566928" y="4352544"/>
            <a:ext cx="11027664" cy="1133856"/>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9" name="Shape 17"/>
          <p:cNvSpPr/>
          <p:nvPr/>
        </p:nvSpPr>
        <p:spPr>
          <a:xfrm>
            <a:off x="566928" y="4352544"/>
            <a:ext cx="64008" cy="1133856"/>
          </a:xfrm>
          <a:prstGeom prst="rect">
            <a:avLst/>
          </a:prstGeom>
          <a:solidFill>
            <a:srgbClr val="E0A458"/>
          </a:solidFill>
          <a:ln w="12700">
            <a:solidFill>
              <a:srgbClr val="E0A458"/>
            </a:solidFill>
            <a:prstDash val="solid"/>
          </a:ln>
        </p:spPr>
      </p:sp>
      <p:sp>
        <p:nvSpPr>
          <p:cNvPr id="20" name="Text 18"/>
          <p:cNvSpPr/>
          <p:nvPr/>
        </p:nvSpPr>
        <p:spPr>
          <a:xfrm>
            <a:off x="877824" y="4425696"/>
            <a:ext cx="10424160" cy="512064"/>
          </a:xfrm>
          <a:prstGeom prst="rect">
            <a:avLst/>
          </a:prstGeom>
          <a:noFill/>
          <a:ln/>
        </p:spPr>
        <p:txBody>
          <a:bodyPr wrap="square" lIns="0" tIns="0" rIns="0" bIns="0" rtlCol="0" anchor="ctr"/>
          <a:lstStyle/>
          <a:p>
            <a:pPr indent="0" marL="0">
              <a:buNone/>
            </a:pPr>
            <a:r>
              <a:rPr lang="en-US" sz="1700" b="1" dirty="0">
                <a:solidFill>
                  <a:srgbClr val="E0A458"/>
                </a:solidFill>
                <a:latin typeface="Georgia" pitchFamily="34" charset="0"/>
                <a:ea typeface="Georgia" pitchFamily="34" charset="-122"/>
                <a:cs typeface="Georgia" pitchFamily="34" charset="-120"/>
              </a:rPr>
              <a:t>Un backtest construido así no daría un resultado dudoso: daría un resultado espectacular y falso. Y una cifra falsa con la que decidir es peor que no tener cifra.</a:t>
            </a:r>
            <a:endParaRPr lang="en-US" sz="1700" dirty="0"/>
          </a:p>
        </p:txBody>
      </p:sp>
      <p:sp>
        <p:nvSpPr>
          <p:cNvPr id="21" name="Text 19"/>
          <p:cNvSpPr/>
          <p:nvPr/>
        </p:nvSpPr>
        <p:spPr>
          <a:xfrm>
            <a:off x="877824" y="4956048"/>
            <a:ext cx="10424160" cy="438912"/>
          </a:xfrm>
          <a:prstGeom prst="rect">
            <a:avLst/>
          </a:prstGeom>
          <a:noFill/>
          <a:ln/>
        </p:spPr>
        <p:txBody>
          <a:bodyPr wrap="square" lIns="0" tIns="0" rIns="0" bIns="0" rtlCol="0" anchor="ctr"/>
          <a:lstStyle/>
          <a:p>
            <a:pPr indent="0" marL="0">
              <a:buNone/>
            </a:pPr>
            <a:r>
              <a:rPr lang="en-US" sz="1200" dirty="0">
                <a:solidFill>
                  <a:srgbClr val="9DB2C4"/>
                </a:solidFill>
                <a:latin typeface="Calibri" pitchFamily="34" charset="0"/>
                <a:ea typeface="Calibri" pitchFamily="34" charset="-122"/>
                <a:cs typeface="Calibri" pitchFamily="34" charset="-120"/>
              </a:rPr>
              <a:t>Lo que sí es verificable —la proyección y el momentum, que solo usan precio y volumen— está cubierto por pruebas automáticas. Lo que no se puede medir con honestidad, no se presenta medido.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LA PREGUNTA INCÓMODA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19</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Entonces, ¿por qué confiarles dinero?</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Porque lo que se compra es el proceso, no una promesa de rentabilidad.</a:t>
            </a:r>
            <a:endParaRPr lang="en-US" sz="1450" dirty="0"/>
          </a:p>
        </p:txBody>
      </p:sp>
      <p:sp>
        <p:nvSpPr>
          <p:cNvPr id="6" name="Shape 4"/>
          <p:cNvSpPr/>
          <p:nvPr/>
        </p:nvSpPr>
        <p:spPr>
          <a:xfrm>
            <a:off x="566928" y="1920240"/>
            <a:ext cx="3529584" cy="146304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920240"/>
            <a:ext cx="64008" cy="1463040"/>
          </a:xfrm>
          <a:prstGeom prst="rect">
            <a:avLst/>
          </a:prstGeom>
          <a:solidFill>
            <a:srgbClr val="10B981"/>
          </a:solidFill>
          <a:ln w="12700">
            <a:solidFill>
              <a:srgbClr val="10B981"/>
            </a:solidFill>
            <a:prstDash val="solid"/>
          </a:ln>
        </p:spPr>
      </p:sp>
      <p:sp>
        <p:nvSpPr>
          <p:cNvPr id="8" name="Text 6"/>
          <p:cNvSpPr/>
          <p:nvPr/>
        </p:nvSpPr>
        <p:spPr>
          <a:xfrm>
            <a:off x="822960" y="2066544"/>
            <a:ext cx="3017520" cy="310896"/>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Criterio fijado antes</a:t>
            </a:r>
            <a:endParaRPr lang="en-US" sz="1300" dirty="0"/>
          </a:p>
        </p:txBody>
      </p:sp>
      <p:sp>
        <p:nvSpPr>
          <p:cNvPr id="9" name="Text 7"/>
          <p:cNvSpPr/>
          <p:nvPr/>
        </p:nvSpPr>
        <p:spPr>
          <a:xfrm>
            <a:off x="822960" y="2414016"/>
            <a:ext cx="3054096" cy="859536"/>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Los umbrales están escritos en el código antes de ver un solo resultado. No se ajustan después para que el número quede bonito.</a:t>
            </a:r>
            <a:endParaRPr lang="en-US" sz="1050" dirty="0"/>
          </a:p>
        </p:txBody>
      </p:sp>
      <p:sp>
        <p:nvSpPr>
          <p:cNvPr id="10" name="Shape 8"/>
          <p:cNvSpPr/>
          <p:nvPr/>
        </p:nvSpPr>
        <p:spPr>
          <a:xfrm>
            <a:off x="4297680" y="1920240"/>
            <a:ext cx="3529584" cy="146304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1" name="Shape 9"/>
          <p:cNvSpPr/>
          <p:nvPr/>
        </p:nvSpPr>
        <p:spPr>
          <a:xfrm>
            <a:off x="4297680" y="1920240"/>
            <a:ext cx="64008" cy="1463040"/>
          </a:xfrm>
          <a:prstGeom prst="rect">
            <a:avLst/>
          </a:prstGeom>
          <a:solidFill>
            <a:srgbClr val="38BDF8"/>
          </a:solidFill>
          <a:ln w="12700">
            <a:solidFill>
              <a:srgbClr val="38BDF8"/>
            </a:solidFill>
            <a:prstDash val="solid"/>
          </a:ln>
        </p:spPr>
      </p:sp>
      <p:sp>
        <p:nvSpPr>
          <p:cNvPr id="12" name="Text 10"/>
          <p:cNvSpPr/>
          <p:nvPr/>
        </p:nvSpPr>
        <p:spPr>
          <a:xfrm>
            <a:off x="4553712" y="2066544"/>
            <a:ext cx="3017520" cy="310896"/>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Cero discrecionalidad</a:t>
            </a:r>
            <a:endParaRPr lang="en-US" sz="1300" dirty="0"/>
          </a:p>
        </p:txBody>
      </p:sp>
      <p:sp>
        <p:nvSpPr>
          <p:cNvPr id="13" name="Text 11"/>
          <p:cNvSpPr/>
          <p:nvPr/>
        </p:nvSpPr>
        <p:spPr>
          <a:xfrm>
            <a:off x="4553712" y="2414016"/>
            <a:ext cx="3054096" cy="859536"/>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El mismo dato de entrada produce la misma decisión el lunes y el viernes, con el mercado en calma o en pánico.</a:t>
            </a:r>
            <a:endParaRPr lang="en-US" sz="1050" dirty="0"/>
          </a:p>
        </p:txBody>
      </p:sp>
      <p:sp>
        <p:nvSpPr>
          <p:cNvPr id="14" name="Shape 12"/>
          <p:cNvSpPr/>
          <p:nvPr/>
        </p:nvSpPr>
        <p:spPr>
          <a:xfrm>
            <a:off x="8028432" y="1920240"/>
            <a:ext cx="3529584" cy="146304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5" name="Shape 13"/>
          <p:cNvSpPr/>
          <p:nvPr/>
        </p:nvSpPr>
        <p:spPr>
          <a:xfrm>
            <a:off x="8028432" y="1920240"/>
            <a:ext cx="64008" cy="1463040"/>
          </a:xfrm>
          <a:prstGeom prst="rect">
            <a:avLst/>
          </a:prstGeom>
          <a:solidFill>
            <a:srgbClr val="8B8FF0"/>
          </a:solidFill>
          <a:ln w="12700">
            <a:solidFill>
              <a:srgbClr val="8B8FF0"/>
            </a:solidFill>
            <a:prstDash val="solid"/>
          </a:ln>
        </p:spPr>
      </p:sp>
      <p:sp>
        <p:nvSpPr>
          <p:cNvPr id="16" name="Text 14"/>
          <p:cNvSpPr/>
          <p:nvPr/>
        </p:nvSpPr>
        <p:spPr>
          <a:xfrm>
            <a:off x="8284464" y="2066544"/>
            <a:ext cx="3017520" cy="310896"/>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Precio siempre real</a:t>
            </a:r>
            <a:endParaRPr lang="en-US" sz="1300" dirty="0"/>
          </a:p>
        </p:txBody>
      </p:sp>
      <p:sp>
        <p:nvSpPr>
          <p:cNvPr id="17" name="Text 15"/>
          <p:cNvSpPr/>
          <p:nvPr/>
        </p:nvSpPr>
        <p:spPr>
          <a:xfrm>
            <a:off x="8284464" y="2414016"/>
            <a:ext cx="3054096" cy="859536"/>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Nunca se registra una entrada estimada. Sin precio de mercado, no hay recomendación.</a:t>
            </a:r>
            <a:endParaRPr lang="en-US" sz="1050" dirty="0"/>
          </a:p>
        </p:txBody>
      </p:sp>
      <p:sp>
        <p:nvSpPr>
          <p:cNvPr id="18" name="Shape 16"/>
          <p:cNvSpPr/>
          <p:nvPr/>
        </p:nvSpPr>
        <p:spPr>
          <a:xfrm>
            <a:off x="566928" y="3547872"/>
            <a:ext cx="3529584" cy="146304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9" name="Shape 17"/>
          <p:cNvSpPr/>
          <p:nvPr/>
        </p:nvSpPr>
        <p:spPr>
          <a:xfrm>
            <a:off x="566928" y="3547872"/>
            <a:ext cx="64008" cy="1463040"/>
          </a:xfrm>
          <a:prstGeom prst="rect">
            <a:avLst/>
          </a:prstGeom>
          <a:solidFill>
            <a:srgbClr val="E0A458"/>
          </a:solidFill>
          <a:ln w="12700">
            <a:solidFill>
              <a:srgbClr val="E0A458"/>
            </a:solidFill>
            <a:prstDash val="solid"/>
          </a:ln>
        </p:spPr>
      </p:sp>
      <p:sp>
        <p:nvSpPr>
          <p:cNvPr id="20" name="Text 18"/>
          <p:cNvSpPr/>
          <p:nvPr/>
        </p:nvSpPr>
        <p:spPr>
          <a:xfrm>
            <a:off x="822960" y="3694176"/>
            <a:ext cx="3017520" cy="310896"/>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Trazabilidad completa</a:t>
            </a:r>
            <a:endParaRPr lang="en-US" sz="1300" dirty="0"/>
          </a:p>
        </p:txBody>
      </p:sp>
      <p:sp>
        <p:nvSpPr>
          <p:cNvPr id="21" name="Text 19"/>
          <p:cNvSpPr/>
          <p:nvPr/>
        </p:nvSpPr>
        <p:spPr>
          <a:xfrm>
            <a:off x="822960" y="4041648"/>
            <a:ext cx="3054096" cy="859536"/>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Cada alta guarda su motivo, su objetivo, su stop y su fuente. Cada cierre guarda su precio y su fecha.</a:t>
            </a:r>
            <a:endParaRPr lang="en-US" sz="1050" dirty="0"/>
          </a:p>
        </p:txBody>
      </p:sp>
      <p:sp>
        <p:nvSpPr>
          <p:cNvPr id="22" name="Shape 20"/>
          <p:cNvSpPr/>
          <p:nvPr/>
        </p:nvSpPr>
        <p:spPr>
          <a:xfrm>
            <a:off x="4297680" y="3547872"/>
            <a:ext cx="3529584" cy="146304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3" name="Shape 21"/>
          <p:cNvSpPr/>
          <p:nvPr/>
        </p:nvSpPr>
        <p:spPr>
          <a:xfrm>
            <a:off x="4297680" y="3547872"/>
            <a:ext cx="64008" cy="1463040"/>
          </a:xfrm>
          <a:prstGeom prst="rect">
            <a:avLst/>
          </a:prstGeom>
          <a:solidFill>
            <a:srgbClr val="4D95D0"/>
          </a:solidFill>
          <a:ln w="12700">
            <a:solidFill>
              <a:srgbClr val="4D95D0"/>
            </a:solidFill>
            <a:prstDash val="solid"/>
          </a:ln>
        </p:spPr>
      </p:sp>
      <p:sp>
        <p:nvSpPr>
          <p:cNvPr id="24" name="Text 22"/>
          <p:cNvSpPr/>
          <p:nvPr/>
        </p:nvSpPr>
        <p:spPr>
          <a:xfrm>
            <a:off x="4553712" y="3694176"/>
            <a:ext cx="3017520" cy="310896"/>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Riesgo acotado por diseño</a:t>
            </a:r>
            <a:endParaRPr lang="en-US" sz="1300" dirty="0"/>
          </a:p>
        </p:txBody>
      </p:sp>
      <p:sp>
        <p:nvSpPr>
          <p:cNvPr id="25" name="Text 23"/>
          <p:cNvSpPr/>
          <p:nvPr/>
        </p:nvSpPr>
        <p:spPr>
          <a:xfrm>
            <a:off x="4553712" y="4041648"/>
            <a:ext cx="3054096" cy="859536"/>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Capital separado por mesa, ticket fijo y un contrato por señal. Un error no puede escalar.</a:t>
            </a:r>
            <a:endParaRPr lang="en-US" sz="1050" dirty="0"/>
          </a:p>
        </p:txBody>
      </p:sp>
      <p:sp>
        <p:nvSpPr>
          <p:cNvPr id="26" name="Shape 24"/>
          <p:cNvSpPr/>
          <p:nvPr/>
        </p:nvSpPr>
        <p:spPr>
          <a:xfrm>
            <a:off x="8028432" y="3547872"/>
            <a:ext cx="3529584" cy="146304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7" name="Shape 25"/>
          <p:cNvSpPr/>
          <p:nvPr/>
        </p:nvSpPr>
        <p:spPr>
          <a:xfrm>
            <a:off x="8028432" y="3547872"/>
            <a:ext cx="64008" cy="1463040"/>
          </a:xfrm>
          <a:prstGeom prst="rect">
            <a:avLst/>
          </a:prstGeom>
          <a:solidFill>
            <a:srgbClr val="E0A458"/>
          </a:solidFill>
          <a:ln w="12700">
            <a:solidFill>
              <a:srgbClr val="E0A458"/>
            </a:solidFill>
            <a:prstDash val="solid"/>
          </a:ln>
        </p:spPr>
      </p:sp>
      <p:sp>
        <p:nvSpPr>
          <p:cNvPr id="28" name="Text 26"/>
          <p:cNvSpPr/>
          <p:nvPr/>
        </p:nvSpPr>
        <p:spPr>
          <a:xfrm>
            <a:off x="8284464" y="3694176"/>
            <a:ext cx="3017520" cy="310896"/>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Salida automática</a:t>
            </a:r>
            <a:endParaRPr lang="en-US" sz="1300" dirty="0"/>
          </a:p>
        </p:txBody>
      </p:sp>
      <p:sp>
        <p:nvSpPr>
          <p:cNvPr id="29" name="Text 27"/>
          <p:cNvSpPr/>
          <p:nvPr/>
        </p:nvSpPr>
        <p:spPr>
          <a:xfrm>
            <a:off x="8284464" y="4041648"/>
            <a:ext cx="3054096" cy="859536"/>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Se vende por deterioro objetivo de las condiciones, no por corazonada ni por aguantar «a que se recupere».</a:t>
            </a:r>
            <a:endParaRPr lang="en-US" sz="1050" dirty="0"/>
          </a:p>
        </p:txBody>
      </p:sp>
      <p:sp>
        <p:nvSpPr>
          <p:cNvPr id="30" name="Shape 28"/>
          <p:cNvSpPr/>
          <p:nvPr/>
        </p:nvSpPr>
        <p:spPr>
          <a:xfrm>
            <a:off x="566928" y="5230368"/>
            <a:ext cx="11027664" cy="640080"/>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1" name="Shape 29"/>
          <p:cNvSpPr/>
          <p:nvPr/>
        </p:nvSpPr>
        <p:spPr>
          <a:xfrm>
            <a:off x="566928" y="5230368"/>
            <a:ext cx="64008" cy="640080"/>
          </a:xfrm>
          <a:prstGeom prst="rect">
            <a:avLst/>
          </a:prstGeom>
          <a:solidFill>
            <a:srgbClr val="E0A458"/>
          </a:solidFill>
          <a:ln w="12700">
            <a:solidFill>
              <a:srgbClr val="E0A458"/>
            </a:solidFill>
            <a:prstDash val="solid"/>
          </a:ln>
        </p:spPr>
      </p:sp>
      <p:sp>
        <p:nvSpPr>
          <p:cNvPr id="32" name="Text 30"/>
          <p:cNvSpPr/>
          <p:nvPr/>
        </p:nvSpPr>
        <p:spPr>
          <a:xfrm>
            <a:off x="859536" y="5230368"/>
            <a:ext cx="10515600" cy="640080"/>
          </a:xfrm>
          <a:prstGeom prst="rect">
            <a:avLst/>
          </a:prstGeom>
          <a:noFill/>
          <a:ln/>
        </p:spPr>
        <p:txBody>
          <a:bodyPr wrap="square" lIns="0" tIns="0" rIns="0" bIns="0" rtlCol="0" anchor="ctr"/>
          <a:lstStyle/>
          <a:p>
            <a:pPr indent="0" marL="0">
              <a:buNone/>
            </a:pPr>
            <a:r>
              <a:rPr lang="en-US" sz="1450" i="1" dirty="0">
                <a:solidFill>
                  <a:srgbClr val="E0A458"/>
                </a:solidFill>
                <a:latin typeface="Georgia" pitchFamily="34" charset="0"/>
                <a:ea typeface="Georgia" pitchFamily="34" charset="-122"/>
                <a:cs typeface="Georgia" pitchFamily="34" charset="-120"/>
              </a:rPr>
              <a:t>La propuesta no es «esto gana un X %». Es: aquí está el criterio, aquí está el registro de cada decisión, y aquí está lo que todavía no sabemos.</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1522"/>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METODOLOGÍA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20</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De la idea al capital: cinco fases</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En futuros sí existe histórico limpio de precios, así que aquí sí se puede medir. Y se mide con un protocolo fijo.</a:t>
            </a:r>
            <a:endParaRPr lang="en-US" sz="1450" dirty="0"/>
          </a:p>
        </p:txBody>
      </p:sp>
      <p:sp>
        <p:nvSpPr>
          <p:cNvPr id="6" name="Shape 4"/>
          <p:cNvSpPr/>
          <p:nvPr/>
        </p:nvSpPr>
        <p:spPr>
          <a:xfrm>
            <a:off x="566928" y="1975104"/>
            <a:ext cx="2084832" cy="3072384"/>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975104"/>
            <a:ext cx="64008" cy="3072384"/>
          </a:xfrm>
          <a:prstGeom prst="rect">
            <a:avLst/>
          </a:prstGeom>
          <a:solidFill>
            <a:srgbClr val="4D95D0"/>
          </a:solidFill>
          <a:ln w="12700">
            <a:solidFill>
              <a:srgbClr val="4D95D0"/>
            </a:solidFill>
            <a:prstDash val="solid"/>
          </a:ln>
        </p:spPr>
      </p:sp>
      <p:sp>
        <p:nvSpPr>
          <p:cNvPr id="8" name="Shape 6"/>
          <p:cNvSpPr/>
          <p:nvPr/>
        </p:nvSpPr>
        <p:spPr>
          <a:xfrm>
            <a:off x="804672" y="2176272"/>
            <a:ext cx="420624" cy="420624"/>
          </a:xfrm>
          <a:prstGeom prst="rect">
            <a:avLst/>
          </a:prstGeom>
          <a:solidFill>
            <a:srgbClr val="4D95D0"/>
          </a:solidFill>
          <a:ln w="12700">
            <a:solidFill>
              <a:srgbClr val="4D95D0"/>
            </a:solidFill>
            <a:prstDash val="solid"/>
          </a:ln>
        </p:spPr>
      </p:sp>
      <p:sp>
        <p:nvSpPr>
          <p:cNvPr id="9" name="Text 7"/>
          <p:cNvSpPr/>
          <p:nvPr/>
        </p:nvSpPr>
        <p:spPr>
          <a:xfrm>
            <a:off x="804672" y="2176272"/>
            <a:ext cx="420624" cy="420624"/>
          </a:xfrm>
          <a:prstGeom prst="rect">
            <a:avLst/>
          </a:prstGeom>
          <a:noFill/>
          <a:ln/>
        </p:spPr>
        <p:txBody>
          <a:bodyPr wrap="square" lIns="0" tIns="0" rIns="0" bIns="0" rtlCol="0" anchor="ctr"/>
          <a:lstStyle/>
          <a:p>
            <a:pPr algn="ctr" indent="0" marL="0">
              <a:buNone/>
            </a:pPr>
            <a:r>
              <a:rPr lang="en-US" sz="1800" b="1" dirty="0">
                <a:solidFill>
                  <a:srgbClr val="071522"/>
                </a:solidFill>
                <a:latin typeface="Georgia" pitchFamily="34" charset="0"/>
                <a:ea typeface="Georgia" pitchFamily="34" charset="-122"/>
                <a:cs typeface="Georgia" pitchFamily="34" charset="-120"/>
              </a:rPr>
              <a:t>A</a:t>
            </a:r>
            <a:endParaRPr lang="en-US" sz="1800" dirty="0"/>
          </a:p>
        </p:txBody>
      </p:sp>
      <p:sp>
        <p:nvSpPr>
          <p:cNvPr id="10" name="Text 8"/>
          <p:cNvSpPr/>
          <p:nvPr/>
        </p:nvSpPr>
        <p:spPr>
          <a:xfrm>
            <a:off x="1316736" y="2231136"/>
            <a:ext cx="1280160" cy="237744"/>
          </a:xfrm>
          <a:prstGeom prst="rect">
            <a:avLst/>
          </a:prstGeom>
          <a:noFill/>
          <a:ln/>
        </p:spPr>
        <p:txBody>
          <a:bodyPr wrap="square" lIns="0" tIns="0" rIns="0" bIns="0" rtlCol="0" anchor="ctr"/>
          <a:lstStyle/>
          <a:p>
            <a:pPr indent="0" marL="0">
              <a:buNone/>
            </a:pPr>
            <a:r>
              <a:rPr lang="en-US" sz="950" spc="160" kern="0" dirty="0">
                <a:solidFill>
                  <a:srgbClr val="4D95D0"/>
                </a:solidFill>
                <a:latin typeface="Consolas" pitchFamily="34" charset="0"/>
                <a:ea typeface="Consolas" pitchFamily="34" charset="-122"/>
                <a:cs typeface="Consolas" pitchFamily="34" charset="-120"/>
              </a:rPr>
              <a:t>ESTRUCTURA</a:t>
            </a:r>
            <a:endParaRPr lang="en-US" sz="950" dirty="0"/>
          </a:p>
        </p:txBody>
      </p:sp>
      <p:sp>
        <p:nvSpPr>
          <p:cNvPr id="11" name="Text 9"/>
          <p:cNvSpPr/>
          <p:nvPr/>
        </p:nvSpPr>
        <p:spPr>
          <a:xfrm>
            <a:off x="804672" y="2724912"/>
            <a:ext cx="1682496" cy="1463040"/>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Se prueba el parámetro que define la estrategia (la ventana horaria, el umbral) contra todas sus alternativas razonables.</a:t>
            </a:r>
            <a:endParaRPr lang="en-US" sz="1050" dirty="0"/>
          </a:p>
        </p:txBody>
      </p:sp>
      <p:sp>
        <p:nvSpPr>
          <p:cNvPr id="12" name="Text 10"/>
          <p:cNvSpPr/>
          <p:nvPr/>
        </p:nvSpPr>
        <p:spPr>
          <a:xfrm>
            <a:off x="804672" y="4261104"/>
            <a:ext cx="1682496" cy="676656"/>
          </a:xfrm>
          <a:prstGeom prst="rect">
            <a:avLst/>
          </a:prstGeom>
          <a:noFill/>
          <a:ln/>
        </p:spPr>
        <p:txBody>
          <a:bodyPr wrap="square" lIns="0" tIns="0" rIns="0" bIns="0" rtlCol="0" anchor="t"/>
          <a:lstStyle/>
          <a:p>
            <a:pPr indent="0" marL="0">
              <a:lnSpc>
                <a:spcPct val="112000"/>
              </a:lnSpc>
              <a:buNone/>
            </a:pPr>
            <a:r>
              <a:rPr lang="en-US" sz="1050" i="1" dirty="0">
                <a:solidFill>
                  <a:srgbClr val="4D95D0"/>
                </a:solidFill>
                <a:latin typeface="Calibri" pitchFamily="34" charset="0"/>
                <a:ea typeface="Calibri" pitchFamily="34" charset="-122"/>
                <a:cs typeface="Calibri" pitchFamily="34" charset="-120"/>
              </a:rPr>
              <a:t>¿Es la mejor elección o solo una elección?</a:t>
            </a:r>
            <a:endParaRPr lang="en-US" sz="1050" dirty="0"/>
          </a:p>
        </p:txBody>
      </p:sp>
      <p:sp>
        <p:nvSpPr>
          <p:cNvPr id="13" name="Shape 11"/>
          <p:cNvSpPr/>
          <p:nvPr/>
        </p:nvSpPr>
        <p:spPr>
          <a:xfrm>
            <a:off x="2670048" y="3383280"/>
            <a:ext cx="109728" cy="201168"/>
          </a:xfrm>
          <a:prstGeom prst="rightArrow">
            <a:avLst/>
          </a:prstGeom>
          <a:solidFill>
            <a:srgbClr val="6B8299"/>
          </a:solidFill>
          <a:ln w="12700">
            <a:solidFill>
              <a:srgbClr val="6B8299"/>
            </a:solidFill>
            <a:prstDash val="solid"/>
          </a:ln>
        </p:spPr>
      </p:sp>
      <p:sp>
        <p:nvSpPr>
          <p:cNvPr id="14" name="Shape 12"/>
          <p:cNvSpPr/>
          <p:nvPr/>
        </p:nvSpPr>
        <p:spPr>
          <a:xfrm>
            <a:off x="2798064" y="1975104"/>
            <a:ext cx="2084832" cy="3072384"/>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5" name="Shape 13"/>
          <p:cNvSpPr/>
          <p:nvPr/>
        </p:nvSpPr>
        <p:spPr>
          <a:xfrm>
            <a:off x="2798064" y="1975104"/>
            <a:ext cx="64008" cy="3072384"/>
          </a:xfrm>
          <a:prstGeom prst="rect">
            <a:avLst/>
          </a:prstGeom>
          <a:solidFill>
            <a:srgbClr val="4D95D0"/>
          </a:solidFill>
          <a:ln w="12700">
            <a:solidFill>
              <a:srgbClr val="4D95D0"/>
            </a:solidFill>
            <a:prstDash val="solid"/>
          </a:ln>
        </p:spPr>
      </p:sp>
      <p:sp>
        <p:nvSpPr>
          <p:cNvPr id="16" name="Shape 14"/>
          <p:cNvSpPr/>
          <p:nvPr/>
        </p:nvSpPr>
        <p:spPr>
          <a:xfrm>
            <a:off x="3035808" y="2176272"/>
            <a:ext cx="420624" cy="420624"/>
          </a:xfrm>
          <a:prstGeom prst="rect">
            <a:avLst/>
          </a:prstGeom>
          <a:solidFill>
            <a:srgbClr val="4D95D0"/>
          </a:solidFill>
          <a:ln w="12700">
            <a:solidFill>
              <a:srgbClr val="4D95D0"/>
            </a:solidFill>
            <a:prstDash val="solid"/>
          </a:ln>
        </p:spPr>
      </p:sp>
      <p:sp>
        <p:nvSpPr>
          <p:cNvPr id="17" name="Text 15"/>
          <p:cNvSpPr/>
          <p:nvPr/>
        </p:nvSpPr>
        <p:spPr>
          <a:xfrm>
            <a:off x="3035808" y="2176272"/>
            <a:ext cx="420624" cy="420624"/>
          </a:xfrm>
          <a:prstGeom prst="rect">
            <a:avLst/>
          </a:prstGeom>
          <a:noFill/>
          <a:ln/>
        </p:spPr>
        <p:txBody>
          <a:bodyPr wrap="square" lIns="0" tIns="0" rIns="0" bIns="0" rtlCol="0" anchor="ctr"/>
          <a:lstStyle/>
          <a:p>
            <a:pPr algn="ctr" indent="0" marL="0">
              <a:buNone/>
            </a:pPr>
            <a:r>
              <a:rPr lang="en-US" sz="1800" b="1" dirty="0">
                <a:solidFill>
                  <a:srgbClr val="071522"/>
                </a:solidFill>
                <a:latin typeface="Georgia" pitchFamily="34" charset="0"/>
                <a:ea typeface="Georgia" pitchFamily="34" charset="-122"/>
                <a:cs typeface="Georgia" pitchFamily="34" charset="-120"/>
              </a:rPr>
              <a:t>B</a:t>
            </a:r>
            <a:endParaRPr lang="en-US" sz="1800" dirty="0"/>
          </a:p>
        </p:txBody>
      </p:sp>
      <p:sp>
        <p:nvSpPr>
          <p:cNvPr id="18" name="Text 16"/>
          <p:cNvSpPr/>
          <p:nvPr/>
        </p:nvSpPr>
        <p:spPr>
          <a:xfrm>
            <a:off x="3547872" y="2231136"/>
            <a:ext cx="1280160" cy="237744"/>
          </a:xfrm>
          <a:prstGeom prst="rect">
            <a:avLst/>
          </a:prstGeom>
          <a:noFill/>
          <a:ln/>
        </p:spPr>
        <p:txBody>
          <a:bodyPr wrap="square" lIns="0" tIns="0" rIns="0" bIns="0" rtlCol="0" anchor="ctr"/>
          <a:lstStyle/>
          <a:p>
            <a:pPr indent="0" marL="0">
              <a:buNone/>
            </a:pPr>
            <a:r>
              <a:rPr lang="en-US" sz="950" spc="160" kern="0" dirty="0">
                <a:solidFill>
                  <a:srgbClr val="4D95D0"/>
                </a:solidFill>
                <a:latin typeface="Consolas" pitchFamily="34" charset="0"/>
                <a:ea typeface="Consolas" pitchFamily="34" charset="-122"/>
                <a:cs typeface="Consolas" pitchFamily="34" charset="-120"/>
              </a:rPr>
              <a:t>VECINDAD</a:t>
            </a:r>
            <a:endParaRPr lang="en-US" sz="950" dirty="0"/>
          </a:p>
        </p:txBody>
      </p:sp>
      <p:sp>
        <p:nvSpPr>
          <p:cNvPr id="19" name="Text 17"/>
          <p:cNvSpPr/>
          <p:nvPr/>
        </p:nvSpPr>
        <p:spPr>
          <a:xfrm>
            <a:off x="3035808" y="2724912"/>
            <a:ext cx="1682496" cy="1463040"/>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Se mueven los parámetros alrededor del elegido. Si el vecino de al lado se derrumba, el resultado era un accidente.</a:t>
            </a:r>
            <a:endParaRPr lang="en-US" sz="1050" dirty="0"/>
          </a:p>
        </p:txBody>
      </p:sp>
      <p:sp>
        <p:nvSpPr>
          <p:cNvPr id="20" name="Text 18"/>
          <p:cNvSpPr/>
          <p:nvPr/>
        </p:nvSpPr>
        <p:spPr>
          <a:xfrm>
            <a:off x="3035808" y="4261104"/>
            <a:ext cx="1682496" cy="676656"/>
          </a:xfrm>
          <a:prstGeom prst="rect">
            <a:avLst/>
          </a:prstGeom>
          <a:noFill/>
          <a:ln/>
        </p:spPr>
        <p:txBody>
          <a:bodyPr wrap="square" lIns="0" tIns="0" rIns="0" bIns="0" rtlCol="0" anchor="t"/>
          <a:lstStyle/>
          <a:p>
            <a:pPr indent="0" marL="0">
              <a:lnSpc>
                <a:spcPct val="112000"/>
              </a:lnSpc>
              <a:buNone/>
            </a:pPr>
            <a:r>
              <a:rPr lang="en-US" sz="1050" i="1" dirty="0">
                <a:solidFill>
                  <a:srgbClr val="4D95D0"/>
                </a:solidFill>
                <a:latin typeface="Calibri" pitchFamily="34" charset="0"/>
                <a:ea typeface="Calibri" pitchFamily="34" charset="-122"/>
                <a:cs typeface="Calibri" pitchFamily="34" charset="-120"/>
              </a:rPr>
              <a:t>¿Sobrevive a que me equivoque un poco?</a:t>
            </a:r>
            <a:endParaRPr lang="en-US" sz="1050" dirty="0"/>
          </a:p>
        </p:txBody>
      </p:sp>
      <p:sp>
        <p:nvSpPr>
          <p:cNvPr id="21" name="Shape 19"/>
          <p:cNvSpPr/>
          <p:nvPr/>
        </p:nvSpPr>
        <p:spPr>
          <a:xfrm>
            <a:off x="4901184" y="3383280"/>
            <a:ext cx="109728" cy="201168"/>
          </a:xfrm>
          <a:prstGeom prst="rightArrow">
            <a:avLst/>
          </a:prstGeom>
          <a:solidFill>
            <a:srgbClr val="6B8299"/>
          </a:solidFill>
          <a:ln w="12700">
            <a:solidFill>
              <a:srgbClr val="6B8299"/>
            </a:solidFill>
            <a:prstDash val="solid"/>
          </a:ln>
        </p:spPr>
      </p:sp>
      <p:sp>
        <p:nvSpPr>
          <p:cNvPr id="22" name="Shape 20"/>
          <p:cNvSpPr/>
          <p:nvPr/>
        </p:nvSpPr>
        <p:spPr>
          <a:xfrm>
            <a:off x="5029200" y="1975104"/>
            <a:ext cx="2084832" cy="3072384"/>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3" name="Shape 21"/>
          <p:cNvSpPr/>
          <p:nvPr/>
        </p:nvSpPr>
        <p:spPr>
          <a:xfrm>
            <a:off x="5029200" y="1975104"/>
            <a:ext cx="64008" cy="3072384"/>
          </a:xfrm>
          <a:prstGeom prst="rect">
            <a:avLst/>
          </a:prstGeom>
          <a:solidFill>
            <a:srgbClr val="4D95D0"/>
          </a:solidFill>
          <a:ln w="12700">
            <a:solidFill>
              <a:srgbClr val="4D95D0"/>
            </a:solidFill>
            <a:prstDash val="solid"/>
          </a:ln>
        </p:spPr>
      </p:sp>
      <p:sp>
        <p:nvSpPr>
          <p:cNvPr id="24" name="Shape 22"/>
          <p:cNvSpPr/>
          <p:nvPr/>
        </p:nvSpPr>
        <p:spPr>
          <a:xfrm>
            <a:off x="5266944" y="2176272"/>
            <a:ext cx="420624" cy="420624"/>
          </a:xfrm>
          <a:prstGeom prst="rect">
            <a:avLst/>
          </a:prstGeom>
          <a:solidFill>
            <a:srgbClr val="4D95D0"/>
          </a:solidFill>
          <a:ln w="12700">
            <a:solidFill>
              <a:srgbClr val="4D95D0"/>
            </a:solidFill>
            <a:prstDash val="solid"/>
          </a:ln>
        </p:spPr>
      </p:sp>
      <p:sp>
        <p:nvSpPr>
          <p:cNvPr id="25" name="Text 23"/>
          <p:cNvSpPr/>
          <p:nvPr/>
        </p:nvSpPr>
        <p:spPr>
          <a:xfrm>
            <a:off x="5266944" y="2176272"/>
            <a:ext cx="420624" cy="420624"/>
          </a:xfrm>
          <a:prstGeom prst="rect">
            <a:avLst/>
          </a:prstGeom>
          <a:noFill/>
          <a:ln/>
        </p:spPr>
        <p:txBody>
          <a:bodyPr wrap="square" lIns="0" tIns="0" rIns="0" bIns="0" rtlCol="0" anchor="ctr"/>
          <a:lstStyle/>
          <a:p>
            <a:pPr algn="ctr" indent="0" marL="0">
              <a:buNone/>
            </a:pPr>
            <a:r>
              <a:rPr lang="en-US" sz="1800" b="1" dirty="0">
                <a:solidFill>
                  <a:srgbClr val="071522"/>
                </a:solidFill>
                <a:latin typeface="Georgia" pitchFamily="34" charset="0"/>
                <a:ea typeface="Georgia" pitchFamily="34" charset="-122"/>
                <a:cs typeface="Georgia" pitchFamily="34" charset="-120"/>
              </a:rPr>
              <a:t>C</a:t>
            </a:r>
            <a:endParaRPr lang="en-US" sz="1800" dirty="0"/>
          </a:p>
        </p:txBody>
      </p:sp>
      <p:sp>
        <p:nvSpPr>
          <p:cNvPr id="26" name="Text 24"/>
          <p:cNvSpPr/>
          <p:nvPr/>
        </p:nvSpPr>
        <p:spPr>
          <a:xfrm>
            <a:off x="5779008" y="2231136"/>
            <a:ext cx="1280160" cy="237744"/>
          </a:xfrm>
          <a:prstGeom prst="rect">
            <a:avLst/>
          </a:prstGeom>
          <a:noFill/>
          <a:ln/>
        </p:spPr>
        <p:txBody>
          <a:bodyPr wrap="square" lIns="0" tIns="0" rIns="0" bIns="0" rtlCol="0" anchor="ctr"/>
          <a:lstStyle/>
          <a:p>
            <a:pPr indent="0" marL="0">
              <a:buNone/>
            </a:pPr>
            <a:r>
              <a:rPr lang="en-US" sz="950" spc="160" kern="0" dirty="0">
                <a:solidFill>
                  <a:srgbClr val="4D95D0"/>
                </a:solidFill>
                <a:latin typeface="Consolas" pitchFamily="34" charset="0"/>
                <a:ea typeface="Consolas" pitchFamily="34" charset="-122"/>
                <a:cs typeface="Consolas" pitchFamily="34" charset="-120"/>
              </a:rPr>
              <a:t>FUERA DE MUESTRA</a:t>
            </a:r>
            <a:endParaRPr lang="en-US" sz="950" dirty="0"/>
          </a:p>
        </p:txBody>
      </p:sp>
      <p:sp>
        <p:nvSpPr>
          <p:cNvPr id="27" name="Text 25"/>
          <p:cNvSpPr/>
          <p:nvPr/>
        </p:nvSpPr>
        <p:spPr>
          <a:xfrm>
            <a:off x="5266944" y="2724912"/>
            <a:ext cx="1682496" cy="1463040"/>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Se ejecuta sobre un tramo de historia que nunca se usó para elegir nada.</a:t>
            </a:r>
            <a:endParaRPr lang="en-US" sz="1050" dirty="0"/>
          </a:p>
        </p:txBody>
      </p:sp>
      <p:sp>
        <p:nvSpPr>
          <p:cNvPr id="28" name="Text 26"/>
          <p:cNvSpPr/>
          <p:nvPr/>
        </p:nvSpPr>
        <p:spPr>
          <a:xfrm>
            <a:off x="5266944" y="4261104"/>
            <a:ext cx="1682496" cy="676656"/>
          </a:xfrm>
          <a:prstGeom prst="rect">
            <a:avLst/>
          </a:prstGeom>
          <a:noFill/>
          <a:ln/>
        </p:spPr>
        <p:txBody>
          <a:bodyPr wrap="square" lIns="0" tIns="0" rIns="0" bIns="0" rtlCol="0" anchor="t"/>
          <a:lstStyle/>
          <a:p>
            <a:pPr indent="0" marL="0">
              <a:lnSpc>
                <a:spcPct val="112000"/>
              </a:lnSpc>
              <a:buNone/>
            </a:pPr>
            <a:r>
              <a:rPr lang="en-US" sz="1050" i="1" dirty="0">
                <a:solidFill>
                  <a:srgbClr val="4D95D0"/>
                </a:solidFill>
                <a:latin typeface="Calibri" pitchFamily="34" charset="0"/>
                <a:ea typeface="Calibri" pitchFamily="34" charset="-122"/>
                <a:cs typeface="Calibri" pitchFamily="34" charset="-120"/>
              </a:rPr>
              <a:t>¿Funciona donde no la he entrenado?</a:t>
            </a:r>
            <a:endParaRPr lang="en-US" sz="1050" dirty="0"/>
          </a:p>
        </p:txBody>
      </p:sp>
      <p:sp>
        <p:nvSpPr>
          <p:cNvPr id="29" name="Shape 27"/>
          <p:cNvSpPr/>
          <p:nvPr/>
        </p:nvSpPr>
        <p:spPr>
          <a:xfrm>
            <a:off x="7132320" y="3383280"/>
            <a:ext cx="109728" cy="201168"/>
          </a:xfrm>
          <a:prstGeom prst="rightArrow">
            <a:avLst/>
          </a:prstGeom>
          <a:solidFill>
            <a:srgbClr val="6B8299"/>
          </a:solidFill>
          <a:ln w="12700">
            <a:solidFill>
              <a:srgbClr val="6B8299"/>
            </a:solidFill>
            <a:prstDash val="solid"/>
          </a:ln>
        </p:spPr>
      </p:sp>
      <p:sp>
        <p:nvSpPr>
          <p:cNvPr id="30" name="Shape 28"/>
          <p:cNvSpPr/>
          <p:nvPr/>
        </p:nvSpPr>
        <p:spPr>
          <a:xfrm>
            <a:off x="7260336" y="1975104"/>
            <a:ext cx="2084832" cy="3072384"/>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1" name="Shape 29"/>
          <p:cNvSpPr/>
          <p:nvPr/>
        </p:nvSpPr>
        <p:spPr>
          <a:xfrm>
            <a:off x="7260336" y="1975104"/>
            <a:ext cx="64008" cy="3072384"/>
          </a:xfrm>
          <a:prstGeom prst="rect">
            <a:avLst/>
          </a:prstGeom>
          <a:solidFill>
            <a:srgbClr val="4D95D0"/>
          </a:solidFill>
          <a:ln w="12700">
            <a:solidFill>
              <a:srgbClr val="4D95D0"/>
            </a:solidFill>
            <a:prstDash val="solid"/>
          </a:ln>
        </p:spPr>
      </p:sp>
      <p:sp>
        <p:nvSpPr>
          <p:cNvPr id="32" name="Shape 30"/>
          <p:cNvSpPr/>
          <p:nvPr/>
        </p:nvSpPr>
        <p:spPr>
          <a:xfrm>
            <a:off x="7498080" y="2176272"/>
            <a:ext cx="420624" cy="420624"/>
          </a:xfrm>
          <a:prstGeom prst="rect">
            <a:avLst/>
          </a:prstGeom>
          <a:solidFill>
            <a:srgbClr val="4D95D0"/>
          </a:solidFill>
          <a:ln w="12700">
            <a:solidFill>
              <a:srgbClr val="4D95D0"/>
            </a:solidFill>
            <a:prstDash val="solid"/>
          </a:ln>
        </p:spPr>
      </p:sp>
      <p:sp>
        <p:nvSpPr>
          <p:cNvPr id="33" name="Text 31"/>
          <p:cNvSpPr/>
          <p:nvPr/>
        </p:nvSpPr>
        <p:spPr>
          <a:xfrm>
            <a:off x="7498080" y="2176272"/>
            <a:ext cx="420624" cy="420624"/>
          </a:xfrm>
          <a:prstGeom prst="rect">
            <a:avLst/>
          </a:prstGeom>
          <a:noFill/>
          <a:ln/>
        </p:spPr>
        <p:txBody>
          <a:bodyPr wrap="square" lIns="0" tIns="0" rIns="0" bIns="0" rtlCol="0" anchor="ctr"/>
          <a:lstStyle/>
          <a:p>
            <a:pPr algn="ctr" indent="0" marL="0">
              <a:buNone/>
            </a:pPr>
            <a:r>
              <a:rPr lang="en-US" sz="1800" b="1" dirty="0">
                <a:solidFill>
                  <a:srgbClr val="071522"/>
                </a:solidFill>
                <a:latin typeface="Georgia" pitchFamily="34" charset="0"/>
                <a:ea typeface="Georgia" pitchFamily="34" charset="-122"/>
                <a:cs typeface="Georgia" pitchFamily="34" charset="-120"/>
              </a:rPr>
              <a:t>D</a:t>
            </a:r>
            <a:endParaRPr lang="en-US" sz="1800" dirty="0"/>
          </a:p>
        </p:txBody>
      </p:sp>
      <p:sp>
        <p:nvSpPr>
          <p:cNvPr id="34" name="Text 32"/>
          <p:cNvSpPr/>
          <p:nvPr/>
        </p:nvSpPr>
        <p:spPr>
          <a:xfrm>
            <a:off x="8010144" y="2231136"/>
            <a:ext cx="1280160" cy="237744"/>
          </a:xfrm>
          <a:prstGeom prst="rect">
            <a:avLst/>
          </a:prstGeom>
          <a:noFill/>
          <a:ln/>
        </p:spPr>
        <p:txBody>
          <a:bodyPr wrap="square" lIns="0" tIns="0" rIns="0" bIns="0" rtlCol="0" anchor="ctr"/>
          <a:lstStyle/>
          <a:p>
            <a:pPr indent="0" marL="0">
              <a:buNone/>
            </a:pPr>
            <a:r>
              <a:rPr lang="en-US" sz="950" spc="160" kern="0" dirty="0">
                <a:solidFill>
                  <a:srgbClr val="4D95D0"/>
                </a:solidFill>
                <a:latin typeface="Consolas" pitchFamily="34" charset="0"/>
                <a:ea typeface="Consolas" pitchFamily="34" charset="-122"/>
                <a:cs typeface="Consolas" pitchFamily="34" charset="-120"/>
              </a:rPr>
              <a:t>REGÍMENES</a:t>
            </a:r>
            <a:endParaRPr lang="en-US" sz="950" dirty="0"/>
          </a:p>
        </p:txBody>
      </p:sp>
      <p:sp>
        <p:nvSpPr>
          <p:cNvPr id="35" name="Text 33"/>
          <p:cNvSpPr/>
          <p:nvPr/>
        </p:nvSpPr>
        <p:spPr>
          <a:xfrm>
            <a:off x="7498080" y="2724912"/>
            <a:ext cx="1682496" cy="1463040"/>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Se parte la historia en bloques y se exige que la mayoría sean positivos.</a:t>
            </a:r>
            <a:endParaRPr lang="en-US" sz="1050" dirty="0"/>
          </a:p>
        </p:txBody>
      </p:sp>
      <p:sp>
        <p:nvSpPr>
          <p:cNvPr id="36" name="Text 34"/>
          <p:cNvSpPr/>
          <p:nvPr/>
        </p:nvSpPr>
        <p:spPr>
          <a:xfrm>
            <a:off x="7498080" y="4261104"/>
            <a:ext cx="1682496" cy="676656"/>
          </a:xfrm>
          <a:prstGeom prst="rect">
            <a:avLst/>
          </a:prstGeom>
          <a:noFill/>
          <a:ln/>
        </p:spPr>
        <p:txBody>
          <a:bodyPr wrap="square" lIns="0" tIns="0" rIns="0" bIns="0" rtlCol="0" anchor="t"/>
          <a:lstStyle/>
          <a:p>
            <a:pPr indent="0" marL="0">
              <a:lnSpc>
                <a:spcPct val="112000"/>
              </a:lnSpc>
              <a:buNone/>
            </a:pPr>
            <a:r>
              <a:rPr lang="en-US" sz="1050" i="1" dirty="0">
                <a:solidFill>
                  <a:srgbClr val="4D95D0"/>
                </a:solidFill>
                <a:latin typeface="Calibri" pitchFamily="34" charset="0"/>
                <a:ea typeface="Calibri" pitchFamily="34" charset="-122"/>
                <a:cs typeface="Calibri" pitchFamily="34" charset="-120"/>
              </a:rPr>
              <a:t>¿Depende de una sola época?</a:t>
            </a:r>
            <a:endParaRPr lang="en-US" sz="1050" dirty="0"/>
          </a:p>
        </p:txBody>
      </p:sp>
      <p:sp>
        <p:nvSpPr>
          <p:cNvPr id="37" name="Shape 35"/>
          <p:cNvSpPr/>
          <p:nvPr/>
        </p:nvSpPr>
        <p:spPr>
          <a:xfrm>
            <a:off x="9363456" y="3383280"/>
            <a:ext cx="109728" cy="201168"/>
          </a:xfrm>
          <a:prstGeom prst="rightArrow">
            <a:avLst/>
          </a:prstGeom>
          <a:solidFill>
            <a:srgbClr val="6B8299"/>
          </a:solidFill>
          <a:ln w="12700">
            <a:solidFill>
              <a:srgbClr val="6B8299"/>
            </a:solidFill>
            <a:prstDash val="solid"/>
          </a:ln>
        </p:spPr>
      </p:sp>
      <p:sp>
        <p:nvSpPr>
          <p:cNvPr id="38" name="Shape 36"/>
          <p:cNvSpPr/>
          <p:nvPr/>
        </p:nvSpPr>
        <p:spPr>
          <a:xfrm>
            <a:off x="9491472" y="1975104"/>
            <a:ext cx="2084832" cy="3072384"/>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9" name="Shape 37"/>
          <p:cNvSpPr/>
          <p:nvPr/>
        </p:nvSpPr>
        <p:spPr>
          <a:xfrm>
            <a:off x="9491472" y="1975104"/>
            <a:ext cx="64008" cy="3072384"/>
          </a:xfrm>
          <a:prstGeom prst="rect">
            <a:avLst/>
          </a:prstGeom>
          <a:solidFill>
            <a:srgbClr val="E0A458"/>
          </a:solidFill>
          <a:ln w="12700">
            <a:solidFill>
              <a:srgbClr val="E0A458"/>
            </a:solidFill>
            <a:prstDash val="solid"/>
          </a:ln>
        </p:spPr>
      </p:sp>
      <p:sp>
        <p:nvSpPr>
          <p:cNvPr id="40" name="Shape 38"/>
          <p:cNvSpPr/>
          <p:nvPr/>
        </p:nvSpPr>
        <p:spPr>
          <a:xfrm>
            <a:off x="9729216" y="2176272"/>
            <a:ext cx="420624" cy="420624"/>
          </a:xfrm>
          <a:prstGeom prst="rect">
            <a:avLst/>
          </a:prstGeom>
          <a:solidFill>
            <a:srgbClr val="E0A458"/>
          </a:solidFill>
          <a:ln w="12700">
            <a:solidFill>
              <a:srgbClr val="E0A458"/>
            </a:solidFill>
            <a:prstDash val="solid"/>
          </a:ln>
        </p:spPr>
      </p:sp>
      <p:sp>
        <p:nvSpPr>
          <p:cNvPr id="41" name="Text 39"/>
          <p:cNvSpPr/>
          <p:nvPr/>
        </p:nvSpPr>
        <p:spPr>
          <a:xfrm>
            <a:off x="9729216" y="2176272"/>
            <a:ext cx="420624" cy="420624"/>
          </a:xfrm>
          <a:prstGeom prst="rect">
            <a:avLst/>
          </a:prstGeom>
          <a:noFill/>
          <a:ln/>
        </p:spPr>
        <p:txBody>
          <a:bodyPr wrap="square" lIns="0" tIns="0" rIns="0" bIns="0" rtlCol="0" anchor="ctr"/>
          <a:lstStyle/>
          <a:p>
            <a:pPr algn="ctr" indent="0" marL="0">
              <a:buNone/>
            </a:pPr>
            <a:r>
              <a:rPr lang="en-US" sz="1800" b="1" dirty="0">
                <a:solidFill>
                  <a:srgbClr val="071522"/>
                </a:solidFill>
                <a:latin typeface="Georgia" pitchFamily="34" charset="0"/>
                <a:ea typeface="Georgia" pitchFamily="34" charset="-122"/>
                <a:cs typeface="Georgia" pitchFamily="34" charset="-120"/>
              </a:rPr>
              <a:t>E</a:t>
            </a:r>
            <a:endParaRPr lang="en-US" sz="1800" dirty="0"/>
          </a:p>
        </p:txBody>
      </p:sp>
      <p:sp>
        <p:nvSpPr>
          <p:cNvPr id="42" name="Text 40"/>
          <p:cNvSpPr/>
          <p:nvPr/>
        </p:nvSpPr>
        <p:spPr>
          <a:xfrm>
            <a:off x="10241280" y="2231136"/>
            <a:ext cx="1280160" cy="237744"/>
          </a:xfrm>
          <a:prstGeom prst="rect">
            <a:avLst/>
          </a:prstGeom>
          <a:noFill/>
          <a:ln/>
        </p:spPr>
        <p:txBody>
          <a:bodyPr wrap="square" lIns="0" tIns="0" rIns="0" bIns="0" rtlCol="0" anchor="ctr"/>
          <a:lstStyle/>
          <a:p>
            <a:pPr indent="0" marL="0">
              <a:buNone/>
            </a:pPr>
            <a:r>
              <a:rPr lang="en-US" sz="950" spc="160" kern="0" dirty="0">
                <a:solidFill>
                  <a:srgbClr val="E0A458"/>
                </a:solidFill>
                <a:latin typeface="Consolas" pitchFamily="34" charset="0"/>
                <a:ea typeface="Consolas" pitchFamily="34" charset="-122"/>
                <a:cs typeface="Consolas" pitchFamily="34" charset="-120"/>
              </a:rPr>
              <a:t>SIMULADO</a:t>
            </a:r>
            <a:endParaRPr lang="en-US" sz="950" dirty="0"/>
          </a:p>
        </p:txBody>
      </p:sp>
      <p:sp>
        <p:nvSpPr>
          <p:cNvPr id="43" name="Text 41"/>
          <p:cNvSpPr/>
          <p:nvPr/>
        </p:nvSpPr>
        <p:spPr>
          <a:xfrm>
            <a:off x="9729216" y="2724912"/>
            <a:ext cx="1682496" cy="1463040"/>
          </a:xfrm>
          <a:prstGeom prst="rect">
            <a:avLst/>
          </a:prstGeom>
          <a:noFill/>
          <a:ln/>
        </p:spPr>
        <p:txBody>
          <a:bodyPr wrap="square" lIns="0" tIns="0" rIns="0" bIns="0" rtlCol="0" anchor="t"/>
          <a:lstStyle/>
          <a:p>
            <a:pPr indent="0" marL="0">
              <a:lnSpc>
                <a:spcPct val="114000"/>
              </a:lnSpc>
              <a:buNone/>
            </a:pPr>
            <a:r>
              <a:rPr lang="en-US" sz="1050" dirty="0">
                <a:solidFill>
                  <a:srgbClr val="9DB2C4"/>
                </a:solidFill>
                <a:latin typeface="Calibri" pitchFamily="34" charset="0"/>
                <a:ea typeface="Calibri" pitchFamily="34" charset="-122"/>
                <a:cs typeface="Calibri" pitchFamily="34" charset="-120"/>
              </a:rPr>
              <a:t>Se pone a operar en tiempo real, sin dinero, y se compara con lo prometido.</a:t>
            </a:r>
            <a:endParaRPr lang="en-US" sz="1050" dirty="0"/>
          </a:p>
        </p:txBody>
      </p:sp>
      <p:sp>
        <p:nvSpPr>
          <p:cNvPr id="44" name="Text 42"/>
          <p:cNvSpPr/>
          <p:nvPr/>
        </p:nvSpPr>
        <p:spPr>
          <a:xfrm>
            <a:off x="9729216" y="4261104"/>
            <a:ext cx="1682496" cy="676656"/>
          </a:xfrm>
          <a:prstGeom prst="rect">
            <a:avLst/>
          </a:prstGeom>
          <a:noFill/>
          <a:ln/>
        </p:spPr>
        <p:txBody>
          <a:bodyPr wrap="square" lIns="0" tIns="0" rIns="0" bIns="0" rtlCol="0" anchor="t"/>
          <a:lstStyle/>
          <a:p>
            <a:pPr indent="0" marL="0">
              <a:lnSpc>
                <a:spcPct val="112000"/>
              </a:lnSpc>
              <a:buNone/>
            </a:pPr>
            <a:r>
              <a:rPr lang="en-US" sz="1050" i="1" dirty="0">
                <a:solidFill>
                  <a:srgbClr val="E0A458"/>
                </a:solidFill>
                <a:latin typeface="Calibri" pitchFamily="34" charset="0"/>
                <a:ea typeface="Calibri" pitchFamily="34" charset="-122"/>
                <a:cs typeface="Calibri" pitchFamily="34" charset="-120"/>
              </a:rPr>
              <a:t>¿Se comporta como decía el papel?</a:t>
            </a:r>
            <a:endParaRPr lang="en-US" sz="1050" dirty="0"/>
          </a:p>
        </p:txBody>
      </p:sp>
      <p:sp>
        <p:nvSpPr>
          <p:cNvPr id="45" name="Shape 43"/>
          <p:cNvSpPr/>
          <p:nvPr/>
        </p:nvSpPr>
        <p:spPr>
          <a:xfrm>
            <a:off x="566928" y="5230368"/>
            <a:ext cx="11027664" cy="65836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46" name="Shape 44"/>
          <p:cNvSpPr/>
          <p:nvPr/>
        </p:nvSpPr>
        <p:spPr>
          <a:xfrm>
            <a:off x="566928" y="5230368"/>
            <a:ext cx="64008" cy="658368"/>
          </a:xfrm>
          <a:prstGeom prst="rect">
            <a:avLst/>
          </a:prstGeom>
          <a:solidFill>
            <a:srgbClr val="F04438"/>
          </a:solidFill>
          <a:ln w="12700">
            <a:solidFill>
              <a:srgbClr val="F04438"/>
            </a:solidFill>
            <a:prstDash val="solid"/>
          </a:ln>
        </p:spPr>
      </p:sp>
      <p:sp>
        <p:nvSpPr>
          <p:cNvPr id="47" name="Text 45"/>
          <p:cNvSpPr/>
          <p:nvPr/>
        </p:nvSpPr>
        <p:spPr>
          <a:xfrm>
            <a:off x="859536" y="5230368"/>
            <a:ext cx="10515600" cy="658368"/>
          </a:xfrm>
          <a:prstGeom prst="rect">
            <a:avLst/>
          </a:prstGeom>
          <a:noFill/>
          <a:ln/>
        </p:spPr>
        <p:txBody>
          <a:bodyPr wrap="square" lIns="0" tIns="0" rIns="0" bIns="0" rtlCol="0" anchor="ctr"/>
          <a:lstStyle/>
          <a:p>
            <a:pPr indent="0" marL="0">
              <a:buNone/>
            </a:pPr>
            <a:r>
              <a:rPr lang="en-US" sz="1250" b="1" dirty="0">
                <a:solidFill>
                  <a:srgbClr val="F04438"/>
                </a:solidFill>
                <a:latin typeface="Calibri" pitchFamily="34" charset="0"/>
                <a:ea typeface="Calibri" pitchFamily="34" charset="-122"/>
                <a:cs typeface="Calibri" pitchFamily="34" charset="-120"/>
              </a:rPr>
              <a:t>La regla que sostiene todo el protocolo:  </a:t>
            </a:r>
            <a:pPr indent="0" marL="0">
              <a:buNone/>
            </a:pPr>
            <a:r>
              <a:rPr lang="en-US" sz="1250" dirty="0">
                <a:solidFill>
                  <a:srgbClr val="9DB2C4"/>
                </a:solidFill>
                <a:latin typeface="Calibri" pitchFamily="34" charset="0"/>
                <a:ea typeface="Calibri" pitchFamily="34" charset="-122"/>
                <a:cs typeface="Calibri" pitchFamily="34" charset="-120"/>
              </a:rPr>
              <a:t>el listón de aprobado se escribe ANTES de mirar el resultado. Si se fija después, el análisis deja de ser una prueba y pasa a ser una justificación.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METODOLOGÍA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21</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Tres términos que se confunden</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Y una lección aprendida cuatro veces.</a:t>
            </a:r>
            <a:endParaRPr lang="en-US" sz="1450" dirty="0"/>
          </a:p>
        </p:txBody>
      </p:sp>
      <p:sp>
        <p:nvSpPr>
          <p:cNvPr id="6" name="Shape 4"/>
          <p:cNvSpPr/>
          <p:nvPr/>
        </p:nvSpPr>
        <p:spPr>
          <a:xfrm>
            <a:off x="566928" y="1920240"/>
            <a:ext cx="3529584" cy="1700784"/>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920240"/>
            <a:ext cx="64008" cy="1700784"/>
          </a:xfrm>
          <a:prstGeom prst="rect">
            <a:avLst/>
          </a:prstGeom>
          <a:solidFill>
            <a:srgbClr val="6B8299"/>
          </a:solidFill>
          <a:ln w="12700">
            <a:solidFill>
              <a:srgbClr val="6B8299"/>
            </a:solidFill>
            <a:prstDash val="solid"/>
          </a:ln>
        </p:spPr>
      </p:sp>
      <p:sp>
        <p:nvSpPr>
          <p:cNvPr id="8" name="Text 6"/>
          <p:cNvSpPr/>
          <p:nvPr/>
        </p:nvSpPr>
        <p:spPr>
          <a:xfrm>
            <a:off x="822960" y="2084832"/>
            <a:ext cx="3017520" cy="237744"/>
          </a:xfrm>
          <a:prstGeom prst="rect">
            <a:avLst/>
          </a:prstGeom>
          <a:noFill/>
          <a:ln/>
        </p:spPr>
        <p:txBody>
          <a:bodyPr wrap="square" lIns="0" tIns="0" rIns="0" bIns="0" rtlCol="0" anchor="ctr"/>
          <a:lstStyle/>
          <a:p>
            <a:pPr indent="0" marL="0">
              <a:buNone/>
            </a:pPr>
            <a:r>
              <a:rPr lang="en-US" sz="1050" spc="160" kern="0" dirty="0">
                <a:solidFill>
                  <a:srgbClr val="6B8299"/>
                </a:solidFill>
                <a:latin typeface="Consolas" pitchFamily="34" charset="0"/>
                <a:ea typeface="Consolas" pitchFamily="34" charset="-122"/>
                <a:cs typeface="Consolas" pitchFamily="34" charset="-120"/>
              </a:rPr>
              <a:t>DENTRO DE MUESTRA</a:t>
            </a:r>
            <a:endParaRPr lang="en-US" sz="1050" dirty="0"/>
          </a:p>
        </p:txBody>
      </p:sp>
      <p:sp>
        <p:nvSpPr>
          <p:cNvPr id="9" name="Text 7"/>
          <p:cNvSpPr/>
          <p:nvPr/>
        </p:nvSpPr>
        <p:spPr>
          <a:xfrm>
            <a:off x="822960" y="2395728"/>
            <a:ext cx="3054096" cy="1097280"/>
          </a:xfrm>
          <a:prstGeom prst="rect">
            <a:avLst/>
          </a:prstGeom>
          <a:noFill/>
          <a:ln/>
        </p:spPr>
        <p:txBody>
          <a:bodyPr wrap="square" lIns="0" tIns="0" rIns="0" bIns="0" rtlCol="0" anchor="t"/>
          <a:lstStyle/>
          <a:p>
            <a:pPr algn="l" indent="0" marL="0">
              <a:lnSpc>
                <a:spcPct val="118000"/>
              </a:lnSpc>
              <a:buNone/>
            </a:pPr>
            <a:r>
              <a:rPr lang="en-US" sz="1150" dirty="0">
                <a:solidFill>
                  <a:srgbClr val="9DB2C4"/>
                </a:solidFill>
                <a:latin typeface="Calibri" pitchFamily="34" charset="0"/>
                <a:ea typeface="Calibri" pitchFamily="34" charset="-122"/>
                <a:cs typeface="Calibri" pitchFamily="34" charset="-120"/>
              </a:rPr>
              <a:t>El tramo con el que se eligen los parámetros. Aquí todo se ve bien: es donde se ha buscado. Ningún resultado de esta fase demuestra nada.</a:t>
            </a:r>
            <a:endParaRPr lang="en-US" sz="1150" dirty="0"/>
          </a:p>
        </p:txBody>
      </p:sp>
      <p:sp>
        <p:nvSpPr>
          <p:cNvPr id="10" name="Shape 8"/>
          <p:cNvSpPr/>
          <p:nvPr/>
        </p:nvSpPr>
        <p:spPr>
          <a:xfrm>
            <a:off x="4297680" y="1920240"/>
            <a:ext cx="3529584" cy="1700784"/>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1" name="Shape 9"/>
          <p:cNvSpPr/>
          <p:nvPr/>
        </p:nvSpPr>
        <p:spPr>
          <a:xfrm>
            <a:off x="4297680" y="1920240"/>
            <a:ext cx="64008" cy="1700784"/>
          </a:xfrm>
          <a:prstGeom prst="rect">
            <a:avLst/>
          </a:prstGeom>
          <a:solidFill>
            <a:srgbClr val="10B981"/>
          </a:solidFill>
          <a:ln w="12700">
            <a:solidFill>
              <a:srgbClr val="10B981"/>
            </a:solidFill>
            <a:prstDash val="solid"/>
          </a:ln>
        </p:spPr>
      </p:sp>
      <p:sp>
        <p:nvSpPr>
          <p:cNvPr id="12" name="Text 10"/>
          <p:cNvSpPr/>
          <p:nvPr/>
        </p:nvSpPr>
        <p:spPr>
          <a:xfrm>
            <a:off x="4553712" y="2084832"/>
            <a:ext cx="3017520" cy="237744"/>
          </a:xfrm>
          <a:prstGeom prst="rect">
            <a:avLst/>
          </a:prstGeom>
          <a:noFill/>
          <a:ln/>
        </p:spPr>
        <p:txBody>
          <a:bodyPr wrap="square" lIns="0" tIns="0" rIns="0" bIns="0" rtlCol="0" anchor="ctr"/>
          <a:lstStyle/>
          <a:p>
            <a:pPr indent="0" marL="0">
              <a:buNone/>
            </a:pPr>
            <a:r>
              <a:rPr lang="en-US" sz="1050" spc="160" kern="0" dirty="0">
                <a:solidFill>
                  <a:srgbClr val="10B981"/>
                </a:solidFill>
                <a:latin typeface="Consolas" pitchFamily="34" charset="0"/>
                <a:ea typeface="Consolas" pitchFamily="34" charset="-122"/>
                <a:cs typeface="Consolas" pitchFamily="34" charset="-120"/>
              </a:rPr>
              <a:t>FUERA DE MUESTRA</a:t>
            </a:r>
            <a:endParaRPr lang="en-US" sz="1050" dirty="0"/>
          </a:p>
        </p:txBody>
      </p:sp>
      <p:sp>
        <p:nvSpPr>
          <p:cNvPr id="13" name="Text 11"/>
          <p:cNvSpPr/>
          <p:nvPr/>
        </p:nvSpPr>
        <p:spPr>
          <a:xfrm>
            <a:off x="4553712" y="2395728"/>
            <a:ext cx="3054096" cy="1097280"/>
          </a:xfrm>
          <a:prstGeom prst="rect">
            <a:avLst/>
          </a:prstGeom>
          <a:noFill/>
          <a:ln/>
        </p:spPr>
        <p:txBody>
          <a:bodyPr wrap="square" lIns="0" tIns="0" rIns="0" bIns="0" rtlCol="0" anchor="t"/>
          <a:lstStyle/>
          <a:p>
            <a:pPr algn="l" indent="0" marL="0">
              <a:lnSpc>
                <a:spcPct val="118000"/>
              </a:lnSpc>
              <a:buNone/>
            </a:pPr>
            <a:r>
              <a:rPr lang="en-US" sz="1150" dirty="0">
                <a:solidFill>
                  <a:srgbClr val="9DB2C4"/>
                </a:solidFill>
                <a:latin typeface="Calibri" pitchFamily="34" charset="0"/>
                <a:ea typeface="Calibri" pitchFamily="34" charset="-122"/>
                <a:cs typeface="Calibri" pitchFamily="34" charset="-120"/>
              </a:rPr>
              <a:t>Un tramo apartado desde el principio y no tocado. Es el único juez real. Si la estrategia muere aquí, muere.</a:t>
            </a:r>
            <a:endParaRPr lang="en-US" sz="1150" dirty="0"/>
          </a:p>
        </p:txBody>
      </p:sp>
      <p:sp>
        <p:nvSpPr>
          <p:cNvPr id="14" name="Shape 12"/>
          <p:cNvSpPr/>
          <p:nvPr/>
        </p:nvSpPr>
        <p:spPr>
          <a:xfrm>
            <a:off x="8028432" y="1920240"/>
            <a:ext cx="3529584" cy="1700784"/>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5" name="Shape 13"/>
          <p:cNvSpPr/>
          <p:nvPr/>
        </p:nvSpPr>
        <p:spPr>
          <a:xfrm>
            <a:off x="8028432" y="1920240"/>
            <a:ext cx="64008" cy="1700784"/>
          </a:xfrm>
          <a:prstGeom prst="rect">
            <a:avLst/>
          </a:prstGeom>
          <a:solidFill>
            <a:srgbClr val="4D95D0"/>
          </a:solidFill>
          <a:ln w="12700">
            <a:solidFill>
              <a:srgbClr val="4D95D0"/>
            </a:solidFill>
            <a:prstDash val="solid"/>
          </a:ln>
        </p:spPr>
      </p:sp>
      <p:sp>
        <p:nvSpPr>
          <p:cNvPr id="16" name="Text 14"/>
          <p:cNvSpPr/>
          <p:nvPr/>
        </p:nvSpPr>
        <p:spPr>
          <a:xfrm>
            <a:off x="8284464" y="2084832"/>
            <a:ext cx="3017520" cy="237744"/>
          </a:xfrm>
          <a:prstGeom prst="rect">
            <a:avLst/>
          </a:prstGeom>
          <a:noFill/>
          <a:ln/>
        </p:spPr>
        <p:txBody>
          <a:bodyPr wrap="square" lIns="0" tIns="0" rIns="0" bIns="0" rtlCol="0" anchor="ctr"/>
          <a:lstStyle/>
          <a:p>
            <a:pPr indent="0" marL="0">
              <a:buNone/>
            </a:pPr>
            <a:r>
              <a:rPr lang="en-US" sz="1050" spc="160" kern="0" dirty="0">
                <a:solidFill>
                  <a:srgbClr val="4D95D0"/>
                </a:solidFill>
                <a:latin typeface="Consolas" pitchFamily="34" charset="0"/>
                <a:ea typeface="Consolas" pitchFamily="34" charset="-122"/>
                <a:cs typeface="Consolas" pitchFamily="34" charset="-120"/>
              </a:rPr>
              <a:t>WALK-FORWARD</a:t>
            </a:r>
            <a:endParaRPr lang="en-US" sz="1050" dirty="0"/>
          </a:p>
        </p:txBody>
      </p:sp>
      <p:sp>
        <p:nvSpPr>
          <p:cNvPr id="17" name="Text 15"/>
          <p:cNvSpPr/>
          <p:nvPr/>
        </p:nvSpPr>
        <p:spPr>
          <a:xfrm>
            <a:off x="8284464" y="2395728"/>
            <a:ext cx="3054096" cy="1097280"/>
          </a:xfrm>
          <a:prstGeom prst="rect">
            <a:avLst/>
          </a:prstGeom>
          <a:noFill/>
          <a:ln/>
        </p:spPr>
        <p:txBody>
          <a:bodyPr wrap="square" lIns="0" tIns="0" rIns="0" bIns="0" rtlCol="0" anchor="t"/>
          <a:lstStyle/>
          <a:p>
            <a:pPr algn="l" indent="0" marL="0">
              <a:lnSpc>
                <a:spcPct val="118000"/>
              </a:lnSpc>
              <a:buNone/>
            </a:pPr>
            <a:r>
              <a:rPr lang="en-US" sz="1150" dirty="0">
                <a:solidFill>
                  <a:srgbClr val="9DB2C4"/>
                </a:solidFill>
                <a:latin typeface="Calibri" pitchFamily="34" charset="0"/>
                <a:ea typeface="Calibri" pitchFamily="34" charset="-122"/>
                <a:cs typeface="Calibri" pitchFamily="34" charset="-120"/>
              </a:rPr>
              <a:t>Se repite el ciclo optimizar-validar deslizando una ventana por toda la historia. Simula al operador que reajusta cada cierto tiempo.</a:t>
            </a:r>
            <a:endParaRPr lang="en-US" sz="1150" dirty="0"/>
          </a:p>
        </p:txBody>
      </p:sp>
      <p:sp>
        <p:nvSpPr>
          <p:cNvPr id="18" name="Shape 16"/>
          <p:cNvSpPr/>
          <p:nvPr/>
        </p:nvSpPr>
        <p:spPr>
          <a:xfrm>
            <a:off x="566928" y="3840480"/>
            <a:ext cx="6583680" cy="1737360"/>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9" name="Shape 17"/>
          <p:cNvSpPr/>
          <p:nvPr/>
        </p:nvSpPr>
        <p:spPr>
          <a:xfrm>
            <a:off x="566928" y="3840480"/>
            <a:ext cx="64008" cy="1737360"/>
          </a:xfrm>
          <a:prstGeom prst="rect">
            <a:avLst/>
          </a:prstGeom>
          <a:solidFill>
            <a:srgbClr val="F04438"/>
          </a:solidFill>
          <a:ln w="12700">
            <a:solidFill>
              <a:srgbClr val="F04438"/>
            </a:solidFill>
            <a:prstDash val="solid"/>
          </a:ln>
        </p:spPr>
      </p:sp>
      <p:sp>
        <p:nvSpPr>
          <p:cNvPr id="20" name="Text 18"/>
          <p:cNvSpPr/>
          <p:nvPr/>
        </p:nvSpPr>
        <p:spPr>
          <a:xfrm>
            <a:off x="841248" y="4005072"/>
            <a:ext cx="5852160" cy="237744"/>
          </a:xfrm>
          <a:prstGeom prst="rect">
            <a:avLst/>
          </a:prstGeom>
          <a:noFill/>
          <a:ln/>
        </p:spPr>
        <p:txBody>
          <a:bodyPr wrap="square" lIns="0" tIns="0" rIns="0" bIns="0" rtlCol="0" anchor="ctr"/>
          <a:lstStyle/>
          <a:p>
            <a:pPr indent="0" marL="0">
              <a:buNone/>
            </a:pPr>
            <a:r>
              <a:rPr lang="en-US" sz="1100" spc="160" kern="0" dirty="0">
                <a:solidFill>
                  <a:srgbClr val="F04438"/>
                </a:solidFill>
                <a:latin typeface="Consolas" pitchFamily="34" charset="0"/>
                <a:ea typeface="Consolas" pitchFamily="34" charset="-122"/>
                <a:cs typeface="Consolas" pitchFamily="34" charset="-120"/>
              </a:rPr>
              <a:t>LA LECCIÓN, ANOTADA EN EL PROPIO CÓDIGO</a:t>
            </a:r>
            <a:endParaRPr lang="en-US" sz="1100" dirty="0"/>
          </a:p>
        </p:txBody>
      </p:sp>
      <p:sp>
        <p:nvSpPr>
          <p:cNvPr id="21" name="Text 19"/>
          <p:cNvSpPr/>
          <p:nvPr/>
        </p:nvSpPr>
        <p:spPr>
          <a:xfrm>
            <a:off x="841248" y="4279392"/>
            <a:ext cx="6053328" cy="603504"/>
          </a:xfrm>
          <a:prstGeom prst="rect">
            <a:avLst/>
          </a:prstGeom>
          <a:noFill/>
          <a:ln/>
        </p:spPr>
        <p:txBody>
          <a:bodyPr wrap="square" lIns="0" tIns="0" rIns="0" bIns="0" rtlCol="0" anchor="ctr"/>
          <a:lstStyle/>
          <a:p>
            <a:pPr indent="0" marL="0">
              <a:lnSpc>
                <a:spcPct val="110000"/>
              </a:lnSpc>
              <a:buNone/>
            </a:pPr>
            <a:r>
              <a:rPr lang="en-US" sz="1500" i="1" dirty="0">
                <a:solidFill>
                  <a:srgbClr val="F2F6FA"/>
                </a:solidFill>
                <a:latin typeface="Georgia" pitchFamily="34" charset="0"/>
                <a:ea typeface="Georgia" pitchFamily="34" charset="-122"/>
                <a:cs typeface="Georgia" pitchFamily="34" charset="-120"/>
              </a:rPr>
              <a:t>«Cuarta vez que el candidato del dentro-de-muestra muere en el fuera-de-muestra.»</a:t>
            </a:r>
            <a:endParaRPr lang="en-US" sz="1500" dirty="0"/>
          </a:p>
        </p:txBody>
      </p:sp>
      <p:sp>
        <p:nvSpPr>
          <p:cNvPr id="22" name="Text 20"/>
          <p:cNvSpPr/>
          <p:nvPr/>
        </p:nvSpPr>
        <p:spPr>
          <a:xfrm>
            <a:off x="841248" y="4901184"/>
            <a:ext cx="6053328" cy="548640"/>
          </a:xfrm>
          <a:prstGeom prst="rect">
            <a:avLst/>
          </a:prstGeom>
          <a:noFill/>
          <a:ln/>
        </p:spPr>
        <p:txBody>
          <a:bodyPr wrap="square" lIns="0" tIns="0" rIns="0" bIns="0" rtlCol="0" anchor="t"/>
          <a:lstStyle/>
          <a:p>
            <a:pPr algn="l" indent="0" marL="0">
              <a:lnSpc>
                <a:spcPct val="118000"/>
              </a:lnSpc>
              <a:buNone/>
            </a:pPr>
            <a:r>
              <a:rPr lang="en-US" sz="1100" dirty="0">
                <a:solidFill>
                  <a:srgbClr val="9DB2C4"/>
                </a:solidFill>
                <a:latin typeface="Calibri" pitchFamily="34" charset="0"/>
                <a:ea typeface="Calibri" pitchFamily="34" charset="-122"/>
                <a:cs typeface="Calibri" pitchFamily="34" charset="-120"/>
              </a:rPr>
              <a:t>Comentario en la estrategia Weekend Effect. La configuración ganadora en la fase de búsqueda fue rechazada al validarla, y se quedó con la sencilla.</a:t>
            </a:r>
            <a:endParaRPr lang="en-US" sz="1100" dirty="0"/>
          </a:p>
        </p:txBody>
      </p:sp>
      <p:sp>
        <p:nvSpPr>
          <p:cNvPr id="23" name="Shape 21"/>
          <p:cNvSpPr/>
          <p:nvPr/>
        </p:nvSpPr>
        <p:spPr>
          <a:xfrm>
            <a:off x="7388352" y="3840480"/>
            <a:ext cx="4206240" cy="173736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4" name="Shape 22"/>
          <p:cNvSpPr/>
          <p:nvPr/>
        </p:nvSpPr>
        <p:spPr>
          <a:xfrm>
            <a:off x="7388352" y="3840480"/>
            <a:ext cx="64008" cy="1737360"/>
          </a:xfrm>
          <a:prstGeom prst="rect">
            <a:avLst/>
          </a:prstGeom>
          <a:solidFill>
            <a:srgbClr val="E0A458"/>
          </a:solidFill>
          <a:ln w="12700">
            <a:solidFill>
              <a:srgbClr val="E0A458"/>
            </a:solidFill>
            <a:prstDash val="solid"/>
          </a:ln>
        </p:spPr>
      </p:sp>
      <p:sp>
        <p:nvSpPr>
          <p:cNvPr id="25" name="Text 23"/>
          <p:cNvSpPr/>
          <p:nvPr/>
        </p:nvSpPr>
        <p:spPr>
          <a:xfrm>
            <a:off x="7644384" y="4005072"/>
            <a:ext cx="3657600" cy="237744"/>
          </a:xfrm>
          <a:prstGeom prst="rect">
            <a:avLst/>
          </a:prstGeom>
          <a:noFill/>
          <a:ln/>
        </p:spPr>
        <p:txBody>
          <a:bodyPr wrap="square" lIns="0" tIns="0" rIns="0" bIns="0" rtlCol="0" anchor="ctr"/>
          <a:lstStyle/>
          <a:p>
            <a:pPr indent="0" marL="0">
              <a:buNone/>
            </a:pPr>
            <a:r>
              <a:rPr lang="en-US" sz="1100" spc="160" kern="0" dirty="0">
                <a:solidFill>
                  <a:srgbClr val="E0A458"/>
                </a:solidFill>
                <a:latin typeface="Consolas" pitchFamily="34" charset="0"/>
                <a:ea typeface="Consolas" pitchFamily="34" charset="-122"/>
                <a:cs typeface="Consolas" pitchFamily="34" charset="-120"/>
              </a:rPr>
              <a:t>CUÁNDO EL WALK-FORWARD NO SIRVE</a:t>
            </a:r>
            <a:endParaRPr lang="en-US" sz="1100" dirty="0"/>
          </a:p>
        </p:txBody>
      </p:sp>
      <p:sp>
        <p:nvSpPr>
          <p:cNvPr id="26" name="Text 24"/>
          <p:cNvSpPr/>
          <p:nvPr/>
        </p:nvSpPr>
        <p:spPr>
          <a:xfrm>
            <a:off x="7644384" y="4297680"/>
            <a:ext cx="3712464" cy="1152144"/>
          </a:xfrm>
          <a:prstGeom prst="rect">
            <a:avLst/>
          </a:prstGeom>
          <a:noFill/>
          <a:ln/>
        </p:spPr>
        <p:txBody>
          <a:bodyPr wrap="square" lIns="0" tIns="0" rIns="0" bIns="0" rtlCol="0" anchor="t"/>
          <a:lstStyle/>
          <a:p>
            <a:pPr algn="l" indent="0" marL="0">
              <a:lnSpc>
                <a:spcPct val="118000"/>
              </a:lnSpc>
              <a:buNone/>
            </a:pPr>
            <a:r>
              <a:rPr lang="en-US" sz="1100" dirty="0">
                <a:solidFill>
                  <a:srgbClr val="9DB2C4"/>
                </a:solidFill>
                <a:latin typeface="Calibri" pitchFamily="34" charset="0"/>
                <a:ea typeface="Calibri" pitchFamily="34" charset="-122"/>
                <a:cs typeface="Calibri" pitchFamily="34" charset="-120"/>
              </a:rPr>
              <a:t>En Overnight Drift las ventanas de validación daban cero operaciones, porque la media de 200 sesiones no cabía en el tramo. Se sustituyó por un corte directo en dos mitades, y se escribió por qué. Aplicar un método que no encaja y presentar su resultado sería el error más caro de todos.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METODOLOGÍA</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22</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Lo que se probó y no entró</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Un proceso sin descartes no es un proceso: es una colección de aciertos contados a posteriori.</a:t>
            </a:r>
            <a:endParaRPr lang="en-US" sz="14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27664" cy="914400"/>
        </p:xfrm>
        <a:graphic>
          <a:graphicData uri="http://schemas.openxmlformats.org/drawingml/2006/table">
            <a:tbl>
              <a:tblPr/>
              <a:tblGrid>
                <a:gridCol w="3017520"/>
                <a:gridCol w="1234440"/>
                <a:gridCol w="1691640"/>
                <a:gridCol w="5084064"/>
              </a:tblGrid>
              <a:tr h="347472">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Idea descartada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00" b="1" dirty="0">
                          <a:solidFill>
                            <a:srgbClr val="F2F6FA"/>
                          </a:solidFill>
                          <a:latin typeface="Calibri" pitchFamily="34" charset="0"/>
                          <a:ea typeface="Calibri" pitchFamily="34" charset="-122"/>
                          <a:cs typeface="Calibri" pitchFamily="34" charset="-120"/>
                        </a:rPr>
                        <a:t>Operaciones</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00" b="1" dirty="0">
                          <a:solidFill>
                            <a:srgbClr val="F2F6FA"/>
                          </a:solidFill>
                          <a:latin typeface="Calibri" pitchFamily="34" charset="0"/>
                          <a:ea typeface="Calibri" pitchFamily="34" charset="-122"/>
                          <a:cs typeface="Calibri" pitchFamily="34" charset="-120"/>
                        </a:rPr>
                        <a:t>Factor de beneficio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Motivo del descarte</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r>
              <a:tr h="347472">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RSI2 espejo en corto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118</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F04438"/>
                          </a:solidFill>
                          <a:latin typeface="Consolas" pitchFamily="34" charset="0"/>
                          <a:ea typeface="Consolas" pitchFamily="34" charset="-122"/>
                          <a:cs typeface="Consolas" pitchFamily="34" charset="-120"/>
                        </a:rPr>
                        <a:t>0,96</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El lado corto del mismo patrón no existe</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47472">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Momentum sobre crudo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82</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F04438"/>
                          </a:solidFill>
                          <a:latin typeface="Consolas" pitchFamily="34" charset="0"/>
                          <a:ea typeface="Consolas" pitchFamily="34" charset="-122"/>
                          <a:cs typeface="Consolas" pitchFamily="34" charset="-120"/>
                        </a:rPr>
                        <a:t>0,71</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Premisa falsificada: 52 latigazos sin banda muerta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47472">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Spread RTY / ES en reversión</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59</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F04438"/>
                          </a:solidFill>
                          <a:latin typeface="Consolas" pitchFamily="34" charset="0"/>
                          <a:ea typeface="Consolas" pitchFamily="34" charset="-122"/>
                          <a:cs typeface="Consolas" pitchFamily="34" charset="-120"/>
                        </a:rPr>
                        <a:t>0,80</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La ventaja ya era negativa antes de costes</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47472">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Momentum del ratio RTY / ES</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19</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F04438"/>
                          </a:solidFill>
                          <a:latin typeface="Consolas" pitchFamily="34" charset="0"/>
                          <a:ea typeface="Consolas" pitchFamily="34" charset="-122"/>
                          <a:cs typeface="Consolas" pitchFamily="34" charset="-120"/>
                        </a:rPr>
                        <a:t>1,01</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Indistinguible del azar</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47472">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Oro tras caídas del S&amp;P</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73</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E0A458"/>
                          </a:solidFill>
                          <a:latin typeface="Consolas" pitchFamily="34" charset="0"/>
                          <a:ea typeface="Consolas" pitchFamily="34" charset="-122"/>
                          <a:cs typeface="Consolas" pitchFamily="34" charset="-120"/>
                        </a:rPr>
                        <a:t>1,73</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E0A458"/>
                          </a:solidFill>
                          <a:latin typeface="Calibri" pitchFamily="34" charset="0"/>
                          <a:ea typeface="Calibri" pitchFamily="34" charset="-122"/>
                          <a:cs typeface="Calibri" pitchFamily="34" charset="-120"/>
                        </a:rPr>
                        <a:t>Aprobaba el resumen; 3 operaciones eran el 85 % del beneficio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47472">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ORB Regime (retirado)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1.423</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Con ventaja real, pero duplicaba al Momentum y disparaba el drawdown</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bl>
          </a:graphicData>
        </a:graphic>
      </p:graphicFrame>
      <p:sp>
        <p:nvSpPr>
          <p:cNvPr id="7" name="Shape 4"/>
          <p:cNvSpPr/>
          <p:nvPr/>
        </p:nvSpPr>
        <p:spPr>
          <a:xfrm>
            <a:off x="566928" y="4773168"/>
            <a:ext cx="5413248" cy="102412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8" name="Shape 5"/>
          <p:cNvSpPr/>
          <p:nvPr/>
        </p:nvSpPr>
        <p:spPr>
          <a:xfrm>
            <a:off x="566928" y="4773168"/>
            <a:ext cx="64008" cy="1024128"/>
          </a:xfrm>
          <a:prstGeom prst="rect">
            <a:avLst/>
          </a:prstGeom>
          <a:solidFill>
            <a:srgbClr val="F04438"/>
          </a:solidFill>
          <a:ln w="12700">
            <a:solidFill>
              <a:srgbClr val="F04438"/>
            </a:solidFill>
            <a:prstDash val="solid"/>
          </a:ln>
        </p:spPr>
      </p:sp>
      <p:sp>
        <p:nvSpPr>
          <p:cNvPr id="9" name="Text 6"/>
          <p:cNvSpPr/>
          <p:nvPr/>
        </p:nvSpPr>
        <p:spPr>
          <a:xfrm>
            <a:off x="841248" y="4901184"/>
            <a:ext cx="4572000" cy="237744"/>
          </a:xfrm>
          <a:prstGeom prst="rect">
            <a:avLst/>
          </a:prstGeom>
          <a:noFill/>
          <a:ln/>
        </p:spPr>
        <p:txBody>
          <a:bodyPr wrap="square" lIns="0" tIns="0" rIns="0" bIns="0" rtlCol="0" anchor="ctr"/>
          <a:lstStyle/>
          <a:p>
            <a:pPr indent="0" marL="0">
              <a:buNone/>
            </a:pPr>
            <a:r>
              <a:rPr lang="en-US" sz="1100" spc="160" kern="0" dirty="0">
                <a:solidFill>
                  <a:srgbClr val="F04438"/>
                </a:solidFill>
                <a:latin typeface="Consolas" pitchFamily="34" charset="0"/>
                <a:ea typeface="Consolas" pitchFamily="34" charset="-122"/>
                <a:cs typeface="Consolas" pitchFamily="34" charset="-120"/>
              </a:rPr>
              <a:t>LECCIÓN DE LAS CUATRO PRIMERAS</a:t>
            </a:r>
            <a:endParaRPr lang="en-US" sz="1100" dirty="0"/>
          </a:p>
        </p:txBody>
      </p:sp>
      <p:sp>
        <p:nvSpPr>
          <p:cNvPr id="10" name="Text 7"/>
          <p:cNvSpPr/>
          <p:nvPr/>
        </p:nvSpPr>
        <p:spPr>
          <a:xfrm>
            <a:off x="841248" y="5175504"/>
            <a:ext cx="4882896" cy="566928"/>
          </a:xfrm>
          <a:prstGeom prst="rect">
            <a:avLst/>
          </a:prstGeom>
          <a:noFill/>
          <a:ln/>
        </p:spPr>
        <p:txBody>
          <a:bodyPr wrap="square" lIns="0" tIns="0" rIns="0" bIns="0" rtlCol="0" anchor="t"/>
          <a:lstStyle/>
          <a:p>
            <a:pPr algn="l" indent="0" marL="0">
              <a:lnSpc>
                <a:spcPct val="118000"/>
              </a:lnSpc>
              <a:buNone/>
            </a:pPr>
            <a:r>
              <a:rPr lang="en-US" sz="1100" dirty="0">
                <a:solidFill>
                  <a:srgbClr val="9DB2C4"/>
                </a:solidFill>
                <a:latin typeface="Calibri" pitchFamily="34" charset="0"/>
                <a:ea typeface="Calibri" pitchFamily="34" charset="-122"/>
                <a:cs typeface="Calibri" pitchFamily="34" charset="-120"/>
              </a:rPr>
              <a:t>La descorrelación sin ventaja no vale nada. Un activo distinto no genera ventaja por el hecho de ser distinto.</a:t>
            </a:r>
            <a:endParaRPr lang="en-US" sz="1100" dirty="0"/>
          </a:p>
        </p:txBody>
      </p:sp>
      <p:sp>
        <p:nvSpPr>
          <p:cNvPr id="11" name="Shape 8"/>
          <p:cNvSpPr/>
          <p:nvPr/>
        </p:nvSpPr>
        <p:spPr>
          <a:xfrm>
            <a:off x="6181344" y="4773168"/>
            <a:ext cx="5413248" cy="1024128"/>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2" name="Shape 9"/>
          <p:cNvSpPr/>
          <p:nvPr/>
        </p:nvSpPr>
        <p:spPr>
          <a:xfrm>
            <a:off x="6181344" y="4773168"/>
            <a:ext cx="64008" cy="1024128"/>
          </a:xfrm>
          <a:prstGeom prst="rect">
            <a:avLst/>
          </a:prstGeom>
          <a:solidFill>
            <a:srgbClr val="E0A458"/>
          </a:solidFill>
          <a:ln w="12700">
            <a:solidFill>
              <a:srgbClr val="E0A458"/>
            </a:solidFill>
            <a:prstDash val="solid"/>
          </a:ln>
        </p:spPr>
      </p:sp>
      <p:sp>
        <p:nvSpPr>
          <p:cNvPr id="13" name="Text 10"/>
          <p:cNvSpPr/>
          <p:nvPr/>
        </p:nvSpPr>
        <p:spPr>
          <a:xfrm>
            <a:off x="6455664" y="4901184"/>
            <a:ext cx="4572000" cy="237744"/>
          </a:xfrm>
          <a:prstGeom prst="rect">
            <a:avLst/>
          </a:prstGeom>
          <a:noFill/>
          <a:ln/>
        </p:spPr>
        <p:txBody>
          <a:bodyPr wrap="square" lIns="0" tIns="0" rIns="0" bIns="0" rtlCol="0" anchor="ctr"/>
          <a:lstStyle/>
          <a:p>
            <a:pPr indent="0" marL="0">
              <a:buNone/>
            </a:pPr>
            <a:r>
              <a:rPr lang="en-US" sz="1100" spc="160" kern="0" dirty="0">
                <a:solidFill>
                  <a:srgbClr val="E0A458"/>
                </a:solidFill>
                <a:latin typeface="Consolas" pitchFamily="34" charset="0"/>
                <a:ea typeface="Consolas" pitchFamily="34" charset="-122"/>
                <a:cs typeface="Consolas" pitchFamily="34" charset="-120"/>
              </a:rPr>
              <a:t>LECCIÓN DEL ORO, LA MÁS ÚTIL</a:t>
            </a:r>
            <a:endParaRPr lang="en-US" sz="1100" dirty="0"/>
          </a:p>
        </p:txBody>
      </p:sp>
      <p:sp>
        <p:nvSpPr>
          <p:cNvPr id="14" name="Text 11"/>
          <p:cNvSpPr/>
          <p:nvPr/>
        </p:nvSpPr>
        <p:spPr>
          <a:xfrm>
            <a:off x="6455664" y="5175504"/>
            <a:ext cx="4882896" cy="566928"/>
          </a:xfrm>
          <a:prstGeom prst="rect">
            <a:avLst/>
          </a:prstGeom>
          <a:noFill/>
          <a:ln/>
        </p:spPr>
        <p:txBody>
          <a:bodyPr wrap="square" lIns="0" tIns="0" rIns="0" bIns="0" rtlCol="0" anchor="t"/>
          <a:lstStyle/>
          <a:p>
            <a:pPr algn="l" indent="0" marL="0">
              <a:lnSpc>
                <a:spcPct val="118000"/>
              </a:lnSpc>
              <a:buNone/>
            </a:pPr>
            <a:r>
              <a:rPr lang="en-US" sz="1100" dirty="0">
                <a:solidFill>
                  <a:srgbClr val="9DB2C4"/>
                </a:solidFill>
                <a:latin typeface="Calibri" pitchFamily="34" charset="0"/>
                <a:ea typeface="Calibri" pitchFamily="34" charset="-122"/>
                <a:cs typeface="Calibri" pitchFamily="34" charset="-120"/>
              </a:rPr>
              <a:t>El factor de beneficio no distingue una ventaja repetible de una cola derecha afortunada. La concentración sí. Por eso se mide siempre.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1522"/>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CASO ZIGZAG</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23</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Caso completo: ZigZag Breakout</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Elijo esta y no otra a propósito: es la más débil de las seis. Si el método aguanta aquí, aguanta en todas.</a:t>
            </a:r>
            <a:endParaRPr lang="en-US" sz="1450" dirty="0"/>
          </a:p>
        </p:txBody>
      </p:sp>
      <p:sp>
        <p:nvSpPr>
          <p:cNvPr id="6" name="Shape 4"/>
          <p:cNvSpPr/>
          <p:nvPr/>
        </p:nvSpPr>
        <p:spPr>
          <a:xfrm>
            <a:off x="566928" y="1956816"/>
            <a:ext cx="5413248" cy="1883664"/>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956816"/>
            <a:ext cx="64008" cy="1883664"/>
          </a:xfrm>
          <a:prstGeom prst="rect">
            <a:avLst/>
          </a:prstGeom>
          <a:solidFill>
            <a:srgbClr val="4D95D0"/>
          </a:solidFill>
          <a:ln w="12700">
            <a:solidFill>
              <a:srgbClr val="4D95D0"/>
            </a:solidFill>
            <a:prstDash val="solid"/>
          </a:ln>
        </p:spPr>
      </p:sp>
      <p:sp>
        <p:nvSpPr>
          <p:cNvPr id="8" name="Text 6"/>
          <p:cNvSpPr/>
          <p:nvPr/>
        </p:nvSpPr>
        <p:spPr>
          <a:xfrm>
            <a:off x="841248" y="2103120"/>
            <a:ext cx="4572000" cy="237744"/>
          </a:xfrm>
          <a:prstGeom prst="rect">
            <a:avLst/>
          </a:prstGeom>
          <a:noFill/>
          <a:ln/>
        </p:spPr>
        <p:txBody>
          <a:bodyPr wrap="square" lIns="0" tIns="0" rIns="0" bIns="0" rtlCol="0" anchor="ctr"/>
          <a:lstStyle/>
          <a:p>
            <a:pPr indent="0" marL="0">
              <a:buNone/>
            </a:pPr>
            <a:r>
              <a:rPr lang="en-US" sz="1100" spc="160" kern="0" dirty="0">
                <a:solidFill>
                  <a:srgbClr val="4D95D0"/>
                </a:solidFill>
                <a:latin typeface="Consolas" pitchFamily="34" charset="0"/>
                <a:ea typeface="Consolas" pitchFamily="34" charset="-122"/>
                <a:cs typeface="Consolas" pitchFamily="34" charset="-120"/>
              </a:rPr>
              <a:t>CONDICIÓN 1 · VELA CON FUERZA</a:t>
            </a:r>
            <a:endParaRPr lang="en-US" sz="1100" dirty="0"/>
          </a:p>
        </p:txBody>
      </p:sp>
      <p:sp>
        <p:nvSpPr>
          <p:cNvPr id="9" name="Text 7"/>
          <p:cNvSpPr/>
          <p:nvPr/>
        </p:nvSpPr>
        <p:spPr>
          <a:xfrm>
            <a:off x="841248" y="2395728"/>
            <a:ext cx="4882896" cy="1280160"/>
          </a:xfrm>
          <a:prstGeom prst="rect">
            <a:avLst/>
          </a:prstGeom>
          <a:noFill/>
          <a:ln/>
        </p:spPr>
        <p:txBody>
          <a:bodyPr wrap="square" lIns="0" tIns="0" rIns="0" bIns="0" rtlCol="0" anchor="t"/>
          <a:lstStyle/>
          <a:p>
            <a:pPr algn="l" indent="0" marL="0">
              <a:lnSpc>
                <a:spcPct val="118000"/>
              </a:lnSpc>
              <a:buNone/>
            </a:pPr>
            <a:r>
              <a:rPr lang="en-US" sz="1200" dirty="0">
                <a:solidFill>
                  <a:srgbClr val="9DB2C4"/>
                </a:solidFill>
                <a:latin typeface="Calibri" pitchFamily="34" charset="0"/>
                <a:ea typeface="Calibri" pitchFamily="34" charset="-122"/>
                <a:cs typeface="Calibri" pitchFamily="34" charset="-120"/>
              </a:rPr>
              <a:t>El cuerpo de la vela que rompe la zona debe ser al menos el 40 % de su recorrido total. Una vela con mecha larga y cuerpo pequeño está diciendo que la ruptura se está rechazando, no confirmando.</a:t>
            </a:r>
            <a:endParaRPr lang="en-US" sz="1200" dirty="0"/>
          </a:p>
        </p:txBody>
      </p:sp>
      <p:sp>
        <p:nvSpPr>
          <p:cNvPr id="10" name="Shape 8"/>
          <p:cNvSpPr/>
          <p:nvPr/>
        </p:nvSpPr>
        <p:spPr>
          <a:xfrm>
            <a:off x="6181344" y="1956816"/>
            <a:ext cx="5413248" cy="1883664"/>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1" name="Shape 9"/>
          <p:cNvSpPr/>
          <p:nvPr/>
        </p:nvSpPr>
        <p:spPr>
          <a:xfrm>
            <a:off x="6181344" y="1956816"/>
            <a:ext cx="64008" cy="1883664"/>
          </a:xfrm>
          <a:prstGeom prst="rect">
            <a:avLst/>
          </a:prstGeom>
          <a:solidFill>
            <a:srgbClr val="4D95D0"/>
          </a:solidFill>
          <a:ln w="12700">
            <a:solidFill>
              <a:srgbClr val="4D95D0"/>
            </a:solidFill>
            <a:prstDash val="solid"/>
          </a:ln>
        </p:spPr>
      </p:sp>
      <p:sp>
        <p:nvSpPr>
          <p:cNvPr id="12" name="Text 10"/>
          <p:cNvSpPr/>
          <p:nvPr/>
        </p:nvSpPr>
        <p:spPr>
          <a:xfrm>
            <a:off x="6455664" y="2103120"/>
            <a:ext cx="4572000" cy="237744"/>
          </a:xfrm>
          <a:prstGeom prst="rect">
            <a:avLst/>
          </a:prstGeom>
          <a:noFill/>
          <a:ln/>
        </p:spPr>
        <p:txBody>
          <a:bodyPr wrap="square" lIns="0" tIns="0" rIns="0" bIns="0" rtlCol="0" anchor="ctr"/>
          <a:lstStyle/>
          <a:p>
            <a:pPr indent="0" marL="0">
              <a:buNone/>
            </a:pPr>
            <a:r>
              <a:rPr lang="en-US" sz="1100" spc="160" kern="0" dirty="0">
                <a:solidFill>
                  <a:srgbClr val="4D95D0"/>
                </a:solidFill>
                <a:latin typeface="Consolas" pitchFamily="34" charset="0"/>
                <a:ea typeface="Consolas" pitchFamily="34" charset="-122"/>
                <a:cs typeface="Consolas" pitchFamily="34" charset="-120"/>
              </a:rPr>
              <a:t>CONDICIÓN 2 · CAMINO LIMPIO</a:t>
            </a:r>
            <a:endParaRPr lang="en-US" sz="1100" dirty="0"/>
          </a:p>
        </p:txBody>
      </p:sp>
      <p:sp>
        <p:nvSpPr>
          <p:cNvPr id="13" name="Text 11"/>
          <p:cNvSpPr/>
          <p:nvPr/>
        </p:nvSpPr>
        <p:spPr>
          <a:xfrm>
            <a:off x="6455664" y="2395728"/>
            <a:ext cx="4882896" cy="1280160"/>
          </a:xfrm>
          <a:prstGeom prst="rect">
            <a:avLst/>
          </a:prstGeom>
          <a:noFill/>
          <a:ln/>
        </p:spPr>
        <p:txBody>
          <a:bodyPr wrap="square" lIns="0" tIns="0" rIns="0" bIns="0" rtlCol="0" anchor="t"/>
          <a:lstStyle/>
          <a:p>
            <a:pPr algn="l" indent="0" marL="0">
              <a:lnSpc>
                <a:spcPct val="118000"/>
              </a:lnSpc>
              <a:buNone/>
            </a:pPr>
            <a:r>
              <a:rPr lang="en-US" sz="1200" dirty="0">
                <a:solidFill>
                  <a:srgbClr val="9DB2C4"/>
                </a:solidFill>
                <a:latin typeface="Calibri" pitchFamily="34" charset="0"/>
                <a:ea typeface="Calibri" pitchFamily="34" charset="-122"/>
                <a:cs typeface="Calibri" pitchFamily="34" charset="-120"/>
              </a:rPr>
              <a:t>Ninguna otra zona viva puede interponerse entre el precio de entrada y el objetivo proyectado. Si hay una zona en medio, el recorrido está bloqueado y la operación no se toma, por buena que parezca la señal.</a:t>
            </a:r>
            <a:endParaRPr lang="en-US" sz="1200" dirty="0"/>
          </a:p>
        </p:txBody>
      </p:sp>
      <p:sp>
        <p:nvSpPr>
          <p:cNvPr id="14" name="Text 12"/>
          <p:cNvSpPr/>
          <p:nvPr/>
        </p:nvSpPr>
        <p:spPr>
          <a:xfrm>
            <a:off x="566928" y="4005072"/>
            <a:ext cx="7315200" cy="237744"/>
          </a:xfrm>
          <a:prstGeom prst="rect">
            <a:avLst/>
          </a:prstGeom>
          <a:noFill/>
          <a:ln/>
        </p:spPr>
        <p:txBody>
          <a:bodyPr wrap="square" lIns="0" tIns="0" rIns="0" bIns="0" rtlCol="0" anchor="ctr"/>
          <a:lstStyle/>
          <a:p>
            <a:pPr indent="0" marL="0">
              <a:buNone/>
            </a:pPr>
            <a:r>
              <a:rPr lang="en-US" sz="1100" spc="160" kern="0" dirty="0">
                <a:solidFill>
                  <a:srgbClr val="E0A458"/>
                </a:solidFill>
                <a:latin typeface="Consolas" pitchFamily="34" charset="0"/>
                <a:ea typeface="Consolas" pitchFamily="34" charset="-122"/>
                <a:cs typeface="Consolas" pitchFamily="34" charset="-120"/>
              </a:rPr>
              <a:t>CONFIGURACIÓN DE PRODUCCIÓN</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4279392"/>
          <a:ext cx="11027664" cy="914400"/>
        </p:xfrm>
        <a:graphic>
          <a:graphicData uri="http://schemas.openxmlformats.org/drawingml/2006/table">
            <a:tbl>
              <a:tblPr/>
              <a:tblGrid>
                <a:gridCol w="3017520"/>
                <a:gridCol w="2468880"/>
                <a:gridCol w="3017520"/>
                <a:gridCol w="2523744"/>
              </a:tblGrid>
              <a:tr h="310896">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Parámetro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00" b="1" dirty="0">
                          <a:solidFill>
                            <a:srgbClr val="F2F6FA"/>
                          </a:solidFill>
                          <a:latin typeface="Calibri" pitchFamily="34" charset="0"/>
                          <a:ea typeface="Calibri" pitchFamily="34" charset="-122"/>
                          <a:cs typeface="Calibri" pitchFamily="34" charset="-120"/>
                        </a:rPr>
                        <a:t>Valor</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Parámetro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00" b="1" dirty="0">
                          <a:solidFill>
                            <a:srgbClr val="F2F6FA"/>
                          </a:solidFill>
                          <a:latin typeface="Calibri" pitchFamily="34" charset="0"/>
                          <a:ea typeface="Calibri" pitchFamily="34" charset="-122"/>
                          <a:cs typeface="Calibri" pitchFamily="34" charset="-120"/>
                        </a:rPr>
                        <a:t>Valor</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Instrumento y gráfico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MNQ · 5 minutos</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Objetivo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2 veces el riesgo</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Desviación del ZigZag</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0,02 % del precio</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Stop</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Pivote anterior − 2 puntos</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Ventana de entrada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09:30 – 10:30 Nueva York</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Riesgo por operación</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$300 en MNQ</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10896">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Frecuencia máxima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Una operación al día</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l" indent="0" marL="0">
                        <a:buNone/>
                      </a:pPr>
                      <a:r>
                        <a:rPr lang="en-US" sz="1100" dirty="0">
                          <a:solidFill>
                            <a:srgbClr val="9DB2C4"/>
                          </a:solidFill>
                          <a:latin typeface="Calibri" pitchFamily="34" charset="0"/>
                          <a:ea typeface="Calibri" pitchFamily="34" charset="-122"/>
                          <a:cs typeface="Calibri" pitchFamily="34" charset="-120"/>
                        </a:rPr>
                        <a:t>Dirección y tamaño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Solo largos · 1 contrato</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CASO ZIGZAG</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24</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Su recorrido, fase a fase</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Resultados literales del registro de validación.</a:t>
            </a:r>
            <a:endParaRPr lang="en-US" sz="1450" dirty="0"/>
          </a:p>
        </p:txBody>
      </p:sp>
      <p:sp>
        <p:nvSpPr>
          <p:cNvPr id="6" name="Shape 4"/>
          <p:cNvSpPr/>
          <p:nvPr/>
        </p:nvSpPr>
        <p:spPr>
          <a:xfrm>
            <a:off x="566928" y="1920240"/>
            <a:ext cx="8138160" cy="621792"/>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920240"/>
            <a:ext cx="64008" cy="621792"/>
          </a:xfrm>
          <a:prstGeom prst="rect">
            <a:avLst/>
          </a:prstGeom>
          <a:solidFill>
            <a:srgbClr val="10B981"/>
          </a:solidFill>
          <a:ln w="12700">
            <a:solidFill>
              <a:srgbClr val="10B981"/>
            </a:solidFill>
            <a:prstDash val="solid"/>
          </a:ln>
        </p:spPr>
      </p:sp>
      <p:sp>
        <p:nvSpPr>
          <p:cNvPr id="8" name="Shape 6"/>
          <p:cNvSpPr/>
          <p:nvPr/>
        </p:nvSpPr>
        <p:spPr>
          <a:xfrm>
            <a:off x="749808" y="2039112"/>
            <a:ext cx="384048" cy="384048"/>
          </a:xfrm>
          <a:prstGeom prst="rect">
            <a:avLst/>
          </a:prstGeom>
          <a:solidFill>
            <a:srgbClr val="10B981"/>
          </a:solidFill>
          <a:ln w="12700">
            <a:solidFill>
              <a:srgbClr val="10B981"/>
            </a:solidFill>
            <a:prstDash val="solid"/>
          </a:ln>
        </p:spPr>
      </p:sp>
      <p:sp>
        <p:nvSpPr>
          <p:cNvPr id="9" name="Text 7"/>
          <p:cNvSpPr/>
          <p:nvPr/>
        </p:nvSpPr>
        <p:spPr>
          <a:xfrm>
            <a:off x="749808" y="2039112"/>
            <a:ext cx="384048" cy="384048"/>
          </a:xfrm>
          <a:prstGeom prst="rect">
            <a:avLst/>
          </a:prstGeom>
          <a:noFill/>
          <a:ln/>
        </p:spPr>
        <p:txBody>
          <a:bodyPr wrap="square" lIns="0" tIns="0" rIns="0" bIns="0" rtlCol="0" anchor="ctr"/>
          <a:lstStyle/>
          <a:p>
            <a:pPr algn="ctr" indent="0" marL="0">
              <a:buNone/>
            </a:pPr>
            <a:r>
              <a:rPr lang="en-US" sz="1500" b="1" dirty="0">
                <a:solidFill>
                  <a:srgbClr val="071522"/>
                </a:solidFill>
                <a:latin typeface="Georgia" pitchFamily="34" charset="0"/>
                <a:ea typeface="Georgia" pitchFamily="34" charset="-122"/>
                <a:cs typeface="Georgia" pitchFamily="34" charset="-120"/>
              </a:rPr>
              <a:t>A</a:t>
            </a:r>
            <a:endParaRPr lang="en-US" sz="1500" dirty="0"/>
          </a:p>
        </p:txBody>
      </p:sp>
      <p:sp>
        <p:nvSpPr>
          <p:cNvPr id="10" name="Text 8"/>
          <p:cNvSpPr/>
          <p:nvPr/>
        </p:nvSpPr>
        <p:spPr>
          <a:xfrm>
            <a:off x="1261872" y="1920240"/>
            <a:ext cx="1920240" cy="621792"/>
          </a:xfrm>
          <a:prstGeom prst="rect">
            <a:avLst/>
          </a:prstGeom>
          <a:noFill/>
          <a:ln/>
        </p:spPr>
        <p:txBody>
          <a:bodyPr wrap="square" lIns="0" tIns="0" rIns="0" bIns="0" rtlCol="0" anchor="ctr"/>
          <a:lstStyle/>
          <a:p>
            <a:pPr indent="0" marL="0">
              <a:buNone/>
            </a:pPr>
            <a:r>
              <a:rPr lang="en-US" sz="1000" spc="80" kern="0" dirty="0">
                <a:solidFill>
                  <a:srgbClr val="F2F6FA"/>
                </a:solidFill>
                <a:latin typeface="Consolas" pitchFamily="34" charset="0"/>
                <a:ea typeface="Consolas" pitchFamily="34" charset="-122"/>
                <a:cs typeface="Consolas" pitchFamily="34" charset="-120"/>
              </a:rPr>
              <a:t>VENTANA HORARIA</a:t>
            </a:r>
            <a:endParaRPr lang="en-US" sz="1000" dirty="0"/>
          </a:p>
        </p:txBody>
      </p:sp>
      <p:sp>
        <p:nvSpPr>
          <p:cNvPr id="11" name="Text 9"/>
          <p:cNvSpPr/>
          <p:nvPr/>
        </p:nvSpPr>
        <p:spPr>
          <a:xfrm>
            <a:off x="3255264" y="1920240"/>
            <a:ext cx="4626864" cy="621792"/>
          </a:xfrm>
          <a:prstGeom prst="rect">
            <a:avLst/>
          </a:prstGeom>
          <a:noFill/>
          <a:ln/>
        </p:spPr>
        <p:txBody>
          <a:bodyPr wrap="square" lIns="0" tIns="0" rIns="0" bIns="0" rtlCol="0" anchor="ctr"/>
          <a:lstStyle/>
          <a:p>
            <a:pPr indent="0" marL="0">
              <a:lnSpc>
                <a:spcPct val="105000"/>
              </a:lnSpc>
              <a:buNone/>
            </a:pPr>
            <a:r>
              <a:rPr lang="en-US" sz="1050" dirty="0">
                <a:solidFill>
                  <a:srgbClr val="9DB2C4"/>
                </a:solidFill>
                <a:latin typeface="Calibri" pitchFamily="34" charset="0"/>
                <a:ea typeface="Calibri" pitchFamily="34" charset="-122"/>
                <a:cs typeface="Calibri" pitchFamily="34" charset="-120"/>
              </a:rPr>
              <a:t>La franja 09:30-10:30 gana entre 26 ventanas evaluadas. Alargarla hasta las 11:30 hunde el factor de beneficio a 1,049.</a:t>
            </a:r>
            <a:endParaRPr lang="en-US" sz="1050" dirty="0"/>
          </a:p>
        </p:txBody>
      </p:sp>
      <p:sp>
        <p:nvSpPr>
          <p:cNvPr id="12" name="Shape 10"/>
          <p:cNvSpPr/>
          <p:nvPr/>
        </p:nvSpPr>
        <p:spPr>
          <a:xfrm>
            <a:off x="7955280" y="2075688"/>
            <a:ext cx="658368" cy="310896"/>
          </a:xfrm>
          <a:prstGeom prst="roundRect">
            <a:avLst>
              <a:gd name="adj" fmla="val 50000"/>
            </a:avLst>
          </a:prstGeom>
          <a:solidFill>
            <a:srgbClr val="12293B"/>
          </a:solidFill>
          <a:ln w="12700">
            <a:solidFill>
              <a:srgbClr val="10B981"/>
            </a:solidFill>
            <a:prstDash val="solid"/>
          </a:ln>
        </p:spPr>
      </p:sp>
      <p:sp>
        <p:nvSpPr>
          <p:cNvPr id="13" name="Text 11"/>
          <p:cNvSpPr/>
          <p:nvPr/>
        </p:nvSpPr>
        <p:spPr>
          <a:xfrm>
            <a:off x="7955280" y="2075688"/>
            <a:ext cx="658368" cy="310896"/>
          </a:xfrm>
          <a:prstGeom prst="rect">
            <a:avLst/>
          </a:prstGeom>
          <a:noFill/>
          <a:ln/>
        </p:spPr>
        <p:txBody>
          <a:bodyPr wrap="square" lIns="0" tIns="0" rIns="0" bIns="0" rtlCol="0" anchor="ctr"/>
          <a:lstStyle/>
          <a:p>
            <a:pPr algn="ctr" indent="0" marL="0">
              <a:buNone/>
            </a:pPr>
            <a:r>
              <a:rPr lang="en-US" sz="1050" dirty="0">
                <a:solidFill>
                  <a:srgbClr val="10B981"/>
                </a:solidFill>
                <a:latin typeface="Consolas" pitchFamily="34" charset="0"/>
                <a:ea typeface="Consolas" pitchFamily="34" charset="-122"/>
                <a:cs typeface="Consolas" pitchFamily="34" charset="-120"/>
              </a:rPr>
              <a:t>OK</a:t>
            </a:r>
            <a:endParaRPr lang="en-US" sz="1050" dirty="0"/>
          </a:p>
        </p:txBody>
      </p:sp>
      <p:sp>
        <p:nvSpPr>
          <p:cNvPr id="14" name="Shape 12"/>
          <p:cNvSpPr/>
          <p:nvPr/>
        </p:nvSpPr>
        <p:spPr>
          <a:xfrm>
            <a:off x="566928" y="2633472"/>
            <a:ext cx="8138160" cy="621792"/>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5" name="Shape 13"/>
          <p:cNvSpPr/>
          <p:nvPr/>
        </p:nvSpPr>
        <p:spPr>
          <a:xfrm>
            <a:off x="566928" y="2633472"/>
            <a:ext cx="64008" cy="621792"/>
          </a:xfrm>
          <a:prstGeom prst="rect">
            <a:avLst/>
          </a:prstGeom>
          <a:solidFill>
            <a:srgbClr val="10B981"/>
          </a:solidFill>
          <a:ln w="12700">
            <a:solidFill>
              <a:srgbClr val="10B981"/>
            </a:solidFill>
            <a:prstDash val="solid"/>
          </a:ln>
        </p:spPr>
      </p:sp>
      <p:sp>
        <p:nvSpPr>
          <p:cNvPr id="16" name="Shape 14"/>
          <p:cNvSpPr/>
          <p:nvPr/>
        </p:nvSpPr>
        <p:spPr>
          <a:xfrm>
            <a:off x="749808" y="2752344"/>
            <a:ext cx="384048" cy="384048"/>
          </a:xfrm>
          <a:prstGeom prst="rect">
            <a:avLst/>
          </a:prstGeom>
          <a:solidFill>
            <a:srgbClr val="10B981"/>
          </a:solidFill>
          <a:ln w="12700">
            <a:solidFill>
              <a:srgbClr val="10B981"/>
            </a:solidFill>
            <a:prstDash val="solid"/>
          </a:ln>
        </p:spPr>
      </p:sp>
      <p:sp>
        <p:nvSpPr>
          <p:cNvPr id="17" name="Text 15"/>
          <p:cNvSpPr/>
          <p:nvPr/>
        </p:nvSpPr>
        <p:spPr>
          <a:xfrm>
            <a:off x="749808" y="2752344"/>
            <a:ext cx="384048" cy="384048"/>
          </a:xfrm>
          <a:prstGeom prst="rect">
            <a:avLst/>
          </a:prstGeom>
          <a:noFill/>
          <a:ln/>
        </p:spPr>
        <p:txBody>
          <a:bodyPr wrap="square" lIns="0" tIns="0" rIns="0" bIns="0" rtlCol="0" anchor="ctr"/>
          <a:lstStyle/>
          <a:p>
            <a:pPr algn="ctr" indent="0" marL="0">
              <a:buNone/>
            </a:pPr>
            <a:r>
              <a:rPr lang="en-US" sz="1500" b="1" dirty="0">
                <a:solidFill>
                  <a:srgbClr val="071522"/>
                </a:solidFill>
                <a:latin typeface="Georgia" pitchFamily="34" charset="0"/>
                <a:ea typeface="Georgia" pitchFamily="34" charset="-122"/>
                <a:cs typeface="Georgia" pitchFamily="34" charset="-120"/>
              </a:rPr>
              <a:t>B</a:t>
            </a:r>
            <a:endParaRPr lang="en-US" sz="1500" dirty="0"/>
          </a:p>
        </p:txBody>
      </p:sp>
      <p:sp>
        <p:nvSpPr>
          <p:cNvPr id="18" name="Text 16"/>
          <p:cNvSpPr/>
          <p:nvPr/>
        </p:nvSpPr>
        <p:spPr>
          <a:xfrm>
            <a:off x="1261872" y="2633472"/>
            <a:ext cx="1920240" cy="621792"/>
          </a:xfrm>
          <a:prstGeom prst="rect">
            <a:avLst/>
          </a:prstGeom>
          <a:noFill/>
          <a:ln/>
        </p:spPr>
        <p:txBody>
          <a:bodyPr wrap="square" lIns="0" tIns="0" rIns="0" bIns="0" rtlCol="0" anchor="ctr"/>
          <a:lstStyle/>
          <a:p>
            <a:pPr indent="0" marL="0">
              <a:buNone/>
            </a:pPr>
            <a:r>
              <a:rPr lang="en-US" sz="1000" spc="80" kern="0" dirty="0">
                <a:solidFill>
                  <a:srgbClr val="F2F6FA"/>
                </a:solidFill>
                <a:latin typeface="Consolas" pitchFamily="34" charset="0"/>
                <a:ea typeface="Consolas" pitchFamily="34" charset="-122"/>
                <a:cs typeface="Consolas" pitchFamily="34" charset="-120"/>
              </a:rPr>
              <a:t>VECINDAD · 9 CORRIDAS</a:t>
            </a:r>
            <a:endParaRPr lang="en-US" sz="1000" dirty="0"/>
          </a:p>
        </p:txBody>
      </p:sp>
      <p:sp>
        <p:nvSpPr>
          <p:cNvPr id="19" name="Text 17"/>
          <p:cNvSpPr/>
          <p:nvPr/>
        </p:nvSpPr>
        <p:spPr>
          <a:xfrm>
            <a:off x="3255264" y="2633472"/>
            <a:ext cx="4626864" cy="621792"/>
          </a:xfrm>
          <a:prstGeom prst="rect">
            <a:avLst/>
          </a:prstGeom>
          <a:noFill/>
          <a:ln/>
        </p:spPr>
        <p:txBody>
          <a:bodyPr wrap="square" lIns="0" tIns="0" rIns="0" bIns="0" rtlCol="0" anchor="ctr"/>
          <a:lstStyle/>
          <a:p>
            <a:pPr indent="0" marL="0">
              <a:lnSpc>
                <a:spcPct val="105000"/>
              </a:lnSpc>
              <a:buNone/>
            </a:pPr>
            <a:r>
              <a:rPr lang="en-US" sz="1050" dirty="0">
                <a:solidFill>
                  <a:srgbClr val="9DB2C4"/>
                </a:solidFill>
                <a:latin typeface="Calibri" pitchFamily="34" charset="0"/>
                <a:ea typeface="Calibri" pitchFamily="34" charset="-122"/>
                <a:cs typeface="Calibri" pitchFamily="34" charset="-120"/>
              </a:rPr>
              <a:t>El PEOR de los nueve vecinos sigue dando factor 1,389. No es un pico afortunado en el mapa de parámetros.</a:t>
            </a:r>
            <a:endParaRPr lang="en-US" sz="1050" dirty="0"/>
          </a:p>
        </p:txBody>
      </p:sp>
      <p:sp>
        <p:nvSpPr>
          <p:cNvPr id="20" name="Shape 18"/>
          <p:cNvSpPr/>
          <p:nvPr/>
        </p:nvSpPr>
        <p:spPr>
          <a:xfrm>
            <a:off x="7955280" y="2788920"/>
            <a:ext cx="658368" cy="310896"/>
          </a:xfrm>
          <a:prstGeom prst="roundRect">
            <a:avLst>
              <a:gd name="adj" fmla="val 50000"/>
            </a:avLst>
          </a:prstGeom>
          <a:solidFill>
            <a:srgbClr val="12293B"/>
          </a:solidFill>
          <a:ln w="12700">
            <a:solidFill>
              <a:srgbClr val="10B981"/>
            </a:solidFill>
            <a:prstDash val="solid"/>
          </a:ln>
        </p:spPr>
      </p:sp>
      <p:sp>
        <p:nvSpPr>
          <p:cNvPr id="21" name="Text 19"/>
          <p:cNvSpPr/>
          <p:nvPr/>
        </p:nvSpPr>
        <p:spPr>
          <a:xfrm>
            <a:off x="7955280" y="2788920"/>
            <a:ext cx="658368" cy="310896"/>
          </a:xfrm>
          <a:prstGeom prst="rect">
            <a:avLst/>
          </a:prstGeom>
          <a:noFill/>
          <a:ln/>
        </p:spPr>
        <p:txBody>
          <a:bodyPr wrap="square" lIns="0" tIns="0" rIns="0" bIns="0" rtlCol="0" anchor="ctr"/>
          <a:lstStyle/>
          <a:p>
            <a:pPr algn="ctr" indent="0" marL="0">
              <a:buNone/>
            </a:pPr>
            <a:r>
              <a:rPr lang="en-US" sz="1050" dirty="0">
                <a:solidFill>
                  <a:srgbClr val="10B981"/>
                </a:solidFill>
                <a:latin typeface="Consolas" pitchFamily="34" charset="0"/>
                <a:ea typeface="Consolas" pitchFamily="34" charset="-122"/>
                <a:cs typeface="Consolas" pitchFamily="34" charset="-120"/>
              </a:rPr>
              <a:t>OK</a:t>
            </a:r>
            <a:endParaRPr lang="en-US" sz="1050" dirty="0"/>
          </a:p>
        </p:txBody>
      </p:sp>
      <p:sp>
        <p:nvSpPr>
          <p:cNvPr id="22" name="Shape 20"/>
          <p:cNvSpPr/>
          <p:nvPr/>
        </p:nvSpPr>
        <p:spPr>
          <a:xfrm>
            <a:off x="566928" y="3346704"/>
            <a:ext cx="8138160" cy="621792"/>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3" name="Shape 21"/>
          <p:cNvSpPr/>
          <p:nvPr/>
        </p:nvSpPr>
        <p:spPr>
          <a:xfrm>
            <a:off x="566928" y="3346704"/>
            <a:ext cx="64008" cy="621792"/>
          </a:xfrm>
          <a:prstGeom prst="rect">
            <a:avLst/>
          </a:prstGeom>
          <a:solidFill>
            <a:srgbClr val="10B981"/>
          </a:solidFill>
          <a:ln w="12700">
            <a:solidFill>
              <a:srgbClr val="10B981"/>
            </a:solidFill>
            <a:prstDash val="solid"/>
          </a:ln>
        </p:spPr>
      </p:sp>
      <p:sp>
        <p:nvSpPr>
          <p:cNvPr id="24" name="Shape 22"/>
          <p:cNvSpPr/>
          <p:nvPr/>
        </p:nvSpPr>
        <p:spPr>
          <a:xfrm>
            <a:off x="749808" y="3465576"/>
            <a:ext cx="384048" cy="384048"/>
          </a:xfrm>
          <a:prstGeom prst="rect">
            <a:avLst/>
          </a:prstGeom>
          <a:solidFill>
            <a:srgbClr val="10B981"/>
          </a:solidFill>
          <a:ln w="12700">
            <a:solidFill>
              <a:srgbClr val="10B981"/>
            </a:solidFill>
            <a:prstDash val="solid"/>
          </a:ln>
        </p:spPr>
      </p:sp>
      <p:sp>
        <p:nvSpPr>
          <p:cNvPr id="25" name="Text 23"/>
          <p:cNvSpPr/>
          <p:nvPr/>
        </p:nvSpPr>
        <p:spPr>
          <a:xfrm>
            <a:off x="749808" y="3465576"/>
            <a:ext cx="384048" cy="384048"/>
          </a:xfrm>
          <a:prstGeom prst="rect">
            <a:avLst/>
          </a:prstGeom>
          <a:noFill/>
          <a:ln/>
        </p:spPr>
        <p:txBody>
          <a:bodyPr wrap="square" lIns="0" tIns="0" rIns="0" bIns="0" rtlCol="0" anchor="ctr"/>
          <a:lstStyle/>
          <a:p>
            <a:pPr algn="ctr" indent="0" marL="0">
              <a:buNone/>
            </a:pPr>
            <a:r>
              <a:rPr lang="en-US" sz="1500" b="1" dirty="0">
                <a:solidFill>
                  <a:srgbClr val="071522"/>
                </a:solidFill>
                <a:latin typeface="Georgia" pitchFamily="34" charset="0"/>
                <a:ea typeface="Georgia" pitchFamily="34" charset="-122"/>
                <a:cs typeface="Georgia" pitchFamily="34" charset="-120"/>
              </a:rPr>
              <a:t>C</a:t>
            </a:r>
            <a:endParaRPr lang="en-US" sz="1500" dirty="0"/>
          </a:p>
        </p:txBody>
      </p:sp>
      <p:sp>
        <p:nvSpPr>
          <p:cNvPr id="26" name="Text 24"/>
          <p:cNvSpPr/>
          <p:nvPr/>
        </p:nvSpPr>
        <p:spPr>
          <a:xfrm>
            <a:off x="1261872" y="3346704"/>
            <a:ext cx="1920240" cy="621792"/>
          </a:xfrm>
          <a:prstGeom prst="rect">
            <a:avLst/>
          </a:prstGeom>
          <a:noFill/>
          <a:ln/>
        </p:spPr>
        <p:txBody>
          <a:bodyPr wrap="square" lIns="0" tIns="0" rIns="0" bIns="0" rtlCol="0" anchor="ctr"/>
          <a:lstStyle/>
          <a:p>
            <a:pPr indent="0" marL="0">
              <a:buNone/>
            </a:pPr>
            <a:r>
              <a:rPr lang="en-US" sz="1000" spc="80" kern="0" dirty="0">
                <a:solidFill>
                  <a:srgbClr val="F2F6FA"/>
                </a:solidFill>
                <a:latin typeface="Consolas" pitchFamily="34" charset="0"/>
                <a:ea typeface="Consolas" pitchFamily="34" charset="-122"/>
                <a:cs typeface="Consolas" pitchFamily="34" charset="-120"/>
              </a:rPr>
              <a:t>FUERA DE MUESTRA</a:t>
            </a:r>
            <a:endParaRPr lang="en-US" sz="1000" dirty="0"/>
          </a:p>
        </p:txBody>
      </p:sp>
      <p:sp>
        <p:nvSpPr>
          <p:cNvPr id="27" name="Text 25"/>
          <p:cNvSpPr/>
          <p:nvPr/>
        </p:nvSpPr>
        <p:spPr>
          <a:xfrm>
            <a:off x="3255264" y="3346704"/>
            <a:ext cx="4626864" cy="621792"/>
          </a:xfrm>
          <a:prstGeom prst="rect">
            <a:avLst/>
          </a:prstGeom>
          <a:noFill/>
          <a:ln/>
        </p:spPr>
        <p:txBody>
          <a:bodyPr wrap="square" lIns="0" tIns="0" rIns="0" bIns="0" rtlCol="0" anchor="ctr"/>
          <a:lstStyle/>
          <a:p>
            <a:pPr indent="0" marL="0">
              <a:lnSpc>
                <a:spcPct val="105000"/>
              </a:lnSpc>
              <a:buNone/>
            </a:pPr>
            <a:r>
              <a:rPr lang="en-US" sz="1050" dirty="0">
                <a:solidFill>
                  <a:srgbClr val="9DB2C4"/>
                </a:solidFill>
                <a:latin typeface="Calibri" pitchFamily="34" charset="0"/>
                <a:ea typeface="Calibri" pitchFamily="34" charset="-122"/>
                <a:cs typeface="Calibri" pitchFamily="34" charset="-120"/>
              </a:rPr>
              <a:t>Sobre el tramo 2015-2019, que no se usó para elegir nada: factor 1,350 en el centro y entre 1,279 y 1,396 alrededor.</a:t>
            </a:r>
            <a:endParaRPr lang="en-US" sz="1050" dirty="0"/>
          </a:p>
        </p:txBody>
      </p:sp>
      <p:sp>
        <p:nvSpPr>
          <p:cNvPr id="28" name="Shape 26"/>
          <p:cNvSpPr/>
          <p:nvPr/>
        </p:nvSpPr>
        <p:spPr>
          <a:xfrm>
            <a:off x="7955280" y="3502152"/>
            <a:ext cx="658368" cy="310896"/>
          </a:xfrm>
          <a:prstGeom prst="roundRect">
            <a:avLst>
              <a:gd name="adj" fmla="val 50000"/>
            </a:avLst>
          </a:prstGeom>
          <a:solidFill>
            <a:srgbClr val="12293B"/>
          </a:solidFill>
          <a:ln w="12700">
            <a:solidFill>
              <a:srgbClr val="10B981"/>
            </a:solidFill>
            <a:prstDash val="solid"/>
          </a:ln>
        </p:spPr>
      </p:sp>
      <p:sp>
        <p:nvSpPr>
          <p:cNvPr id="29" name="Text 27"/>
          <p:cNvSpPr/>
          <p:nvPr/>
        </p:nvSpPr>
        <p:spPr>
          <a:xfrm>
            <a:off x="7955280" y="3502152"/>
            <a:ext cx="658368" cy="310896"/>
          </a:xfrm>
          <a:prstGeom prst="rect">
            <a:avLst/>
          </a:prstGeom>
          <a:noFill/>
          <a:ln/>
        </p:spPr>
        <p:txBody>
          <a:bodyPr wrap="square" lIns="0" tIns="0" rIns="0" bIns="0" rtlCol="0" anchor="ctr"/>
          <a:lstStyle/>
          <a:p>
            <a:pPr algn="ctr" indent="0" marL="0">
              <a:buNone/>
            </a:pPr>
            <a:r>
              <a:rPr lang="en-US" sz="1050" dirty="0">
                <a:solidFill>
                  <a:srgbClr val="10B981"/>
                </a:solidFill>
                <a:latin typeface="Consolas" pitchFamily="34" charset="0"/>
                <a:ea typeface="Consolas" pitchFamily="34" charset="-122"/>
                <a:cs typeface="Consolas" pitchFamily="34" charset="-120"/>
              </a:rPr>
              <a:t>OK</a:t>
            </a:r>
            <a:endParaRPr lang="en-US" sz="1050" dirty="0"/>
          </a:p>
        </p:txBody>
      </p:sp>
      <p:sp>
        <p:nvSpPr>
          <p:cNvPr id="30" name="Shape 28"/>
          <p:cNvSpPr/>
          <p:nvPr/>
        </p:nvSpPr>
        <p:spPr>
          <a:xfrm>
            <a:off x="566928" y="4059936"/>
            <a:ext cx="8138160" cy="621792"/>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1" name="Shape 29"/>
          <p:cNvSpPr/>
          <p:nvPr/>
        </p:nvSpPr>
        <p:spPr>
          <a:xfrm>
            <a:off x="566928" y="4059936"/>
            <a:ext cx="64008" cy="621792"/>
          </a:xfrm>
          <a:prstGeom prst="rect">
            <a:avLst/>
          </a:prstGeom>
          <a:solidFill>
            <a:srgbClr val="10B981"/>
          </a:solidFill>
          <a:ln w="12700">
            <a:solidFill>
              <a:srgbClr val="10B981"/>
            </a:solidFill>
            <a:prstDash val="solid"/>
          </a:ln>
        </p:spPr>
      </p:sp>
      <p:sp>
        <p:nvSpPr>
          <p:cNvPr id="32" name="Shape 30"/>
          <p:cNvSpPr/>
          <p:nvPr/>
        </p:nvSpPr>
        <p:spPr>
          <a:xfrm>
            <a:off x="749808" y="4178808"/>
            <a:ext cx="384048" cy="384048"/>
          </a:xfrm>
          <a:prstGeom prst="rect">
            <a:avLst/>
          </a:prstGeom>
          <a:solidFill>
            <a:srgbClr val="10B981"/>
          </a:solidFill>
          <a:ln w="12700">
            <a:solidFill>
              <a:srgbClr val="10B981"/>
            </a:solidFill>
            <a:prstDash val="solid"/>
          </a:ln>
        </p:spPr>
      </p:sp>
      <p:sp>
        <p:nvSpPr>
          <p:cNvPr id="33" name="Text 31"/>
          <p:cNvSpPr/>
          <p:nvPr/>
        </p:nvSpPr>
        <p:spPr>
          <a:xfrm>
            <a:off x="749808" y="4178808"/>
            <a:ext cx="384048" cy="384048"/>
          </a:xfrm>
          <a:prstGeom prst="rect">
            <a:avLst/>
          </a:prstGeom>
          <a:noFill/>
          <a:ln/>
        </p:spPr>
        <p:txBody>
          <a:bodyPr wrap="square" lIns="0" tIns="0" rIns="0" bIns="0" rtlCol="0" anchor="ctr"/>
          <a:lstStyle/>
          <a:p>
            <a:pPr algn="ctr" indent="0" marL="0">
              <a:buNone/>
            </a:pPr>
            <a:r>
              <a:rPr lang="en-US" sz="1500" b="1" dirty="0">
                <a:solidFill>
                  <a:srgbClr val="071522"/>
                </a:solidFill>
                <a:latin typeface="Georgia" pitchFamily="34" charset="0"/>
                <a:ea typeface="Georgia" pitchFamily="34" charset="-122"/>
                <a:cs typeface="Georgia" pitchFamily="34" charset="-120"/>
              </a:rPr>
              <a:t>D</a:t>
            </a:r>
            <a:endParaRPr lang="en-US" sz="1500" dirty="0"/>
          </a:p>
        </p:txBody>
      </p:sp>
      <p:sp>
        <p:nvSpPr>
          <p:cNvPr id="34" name="Text 32"/>
          <p:cNvSpPr/>
          <p:nvPr/>
        </p:nvSpPr>
        <p:spPr>
          <a:xfrm>
            <a:off x="1261872" y="4059936"/>
            <a:ext cx="1920240" cy="621792"/>
          </a:xfrm>
          <a:prstGeom prst="rect">
            <a:avLst/>
          </a:prstGeom>
          <a:noFill/>
          <a:ln/>
        </p:spPr>
        <p:txBody>
          <a:bodyPr wrap="square" lIns="0" tIns="0" rIns="0" bIns="0" rtlCol="0" anchor="ctr"/>
          <a:lstStyle/>
          <a:p>
            <a:pPr indent="0" marL="0">
              <a:buNone/>
            </a:pPr>
            <a:r>
              <a:rPr lang="en-US" sz="1000" spc="80" kern="0" dirty="0">
                <a:solidFill>
                  <a:srgbClr val="F2F6FA"/>
                </a:solidFill>
                <a:latin typeface="Consolas" pitchFamily="34" charset="0"/>
                <a:ea typeface="Consolas" pitchFamily="34" charset="-122"/>
                <a:cs typeface="Consolas" pitchFamily="34" charset="-120"/>
              </a:rPr>
              <a:t>SEIS BLOQUES</a:t>
            </a:r>
            <a:endParaRPr lang="en-US" sz="1000" dirty="0"/>
          </a:p>
        </p:txBody>
      </p:sp>
      <p:sp>
        <p:nvSpPr>
          <p:cNvPr id="35" name="Text 33"/>
          <p:cNvSpPr/>
          <p:nvPr/>
        </p:nvSpPr>
        <p:spPr>
          <a:xfrm>
            <a:off x="3255264" y="4059936"/>
            <a:ext cx="4626864" cy="621792"/>
          </a:xfrm>
          <a:prstGeom prst="rect">
            <a:avLst/>
          </a:prstGeom>
          <a:noFill/>
          <a:ln/>
        </p:spPr>
        <p:txBody>
          <a:bodyPr wrap="square" lIns="0" tIns="0" rIns="0" bIns="0" rtlCol="0" anchor="ctr"/>
          <a:lstStyle/>
          <a:p>
            <a:pPr indent="0" marL="0">
              <a:lnSpc>
                <a:spcPct val="105000"/>
              </a:lnSpc>
              <a:buNone/>
            </a:pPr>
            <a:r>
              <a:rPr lang="en-US" sz="1050" dirty="0">
                <a:solidFill>
                  <a:srgbClr val="9DB2C4"/>
                </a:solidFill>
                <a:latin typeface="Calibri" pitchFamily="34" charset="0"/>
                <a:ea typeface="Calibri" pitchFamily="34" charset="-122"/>
                <a:cs typeface="Calibri" pitchFamily="34" charset="-120"/>
              </a:rPr>
              <a:t>5 de 6 bloques de régimen por encima de 1,00. El peor, 0,921. El bloque flojo es el de 2025-2026.</a:t>
            </a:r>
            <a:endParaRPr lang="en-US" sz="1050" dirty="0"/>
          </a:p>
        </p:txBody>
      </p:sp>
      <p:sp>
        <p:nvSpPr>
          <p:cNvPr id="36" name="Shape 34"/>
          <p:cNvSpPr/>
          <p:nvPr/>
        </p:nvSpPr>
        <p:spPr>
          <a:xfrm>
            <a:off x="7955280" y="4215384"/>
            <a:ext cx="658368" cy="310896"/>
          </a:xfrm>
          <a:prstGeom prst="roundRect">
            <a:avLst>
              <a:gd name="adj" fmla="val 50000"/>
            </a:avLst>
          </a:prstGeom>
          <a:solidFill>
            <a:srgbClr val="12293B"/>
          </a:solidFill>
          <a:ln w="12700">
            <a:solidFill>
              <a:srgbClr val="10B981"/>
            </a:solidFill>
            <a:prstDash val="solid"/>
          </a:ln>
        </p:spPr>
      </p:sp>
      <p:sp>
        <p:nvSpPr>
          <p:cNvPr id="37" name="Text 35"/>
          <p:cNvSpPr/>
          <p:nvPr/>
        </p:nvSpPr>
        <p:spPr>
          <a:xfrm>
            <a:off x="7955280" y="4215384"/>
            <a:ext cx="658368" cy="310896"/>
          </a:xfrm>
          <a:prstGeom prst="rect">
            <a:avLst/>
          </a:prstGeom>
          <a:noFill/>
          <a:ln/>
        </p:spPr>
        <p:txBody>
          <a:bodyPr wrap="square" lIns="0" tIns="0" rIns="0" bIns="0" rtlCol="0" anchor="ctr"/>
          <a:lstStyle/>
          <a:p>
            <a:pPr algn="ctr" indent="0" marL="0">
              <a:buNone/>
            </a:pPr>
            <a:r>
              <a:rPr lang="en-US" sz="1050" dirty="0">
                <a:solidFill>
                  <a:srgbClr val="10B981"/>
                </a:solidFill>
                <a:latin typeface="Consolas" pitchFamily="34" charset="0"/>
                <a:ea typeface="Consolas" pitchFamily="34" charset="-122"/>
                <a:cs typeface="Consolas" pitchFamily="34" charset="-120"/>
              </a:rPr>
              <a:t>OK</a:t>
            </a:r>
            <a:endParaRPr lang="en-US" sz="1050" dirty="0"/>
          </a:p>
        </p:txBody>
      </p:sp>
      <p:sp>
        <p:nvSpPr>
          <p:cNvPr id="38" name="Shape 36"/>
          <p:cNvSpPr/>
          <p:nvPr/>
        </p:nvSpPr>
        <p:spPr>
          <a:xfrm>
            <a:off x="566928" y="4773168"/>
            <a:ext cx="8138160" cy="621792"/>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9" name="Shape 37"/>
          <p:cNvSpPr/>
          <p:nvPr/>
        </p:nvSpPr>
        <p:spPr>
          <a:xfrm>
            <a:off x="566928" y="4773168"/>
            <a:ext cx="64008" cy="621792"/>
          </a:xfrm>
          <a:prstGeom prst="rect">
            <a:avLst/>
          </a:prstGeom>
          <a:solidFill>
            <a:srgbClr val="E0A458"/>
          </a:solidFill>
          <a:ln w="12700">
            <a:solidFill>
              <a:srgbClr val="E0A458"/>
            </a:solidFill>
            <a:prstDash val="solid"/>
          </a:ln>
        </p:spPr>
      </p:sp>
      <p:sp>
        <p:nvSpPr>
          <p:cNvPr id="40" name="Shape 38"/>
          <p:cNvSpPr/>
          <p:nvPr/>
        </p:nvSpPr>
        <p:spPr>
          <a:xfrm>
            <a:off x="749808" y="4892040"/>
            <a:ext cx="384048" cy="384048"/>
          </a:xfrm>
          <a:prstGeom prst="rect">
            <a:avLst/>
          </a:prstGeom>
          <a:solidFill>
            <a:srgbClr val="E0A458"/>
          </a:solidFill>
          <a:ln w="12700">
            <a:solidFill>
              <a:srgbClr val="E0A458"/>
            </a:solidFill>
            <a:prstDash val="solid"/>
          </a:ln>
        </p:spPr>
      </p:sp>
      <p:sp>
        <p:nvSpPr>
          <p:cNvPr id="41" name="Text 39"/>
          <p:cNvSpPr/>
          <p:nvPr/>
        </p:nvSpPr>
        <p:spPr>
          <a:xfrm>
            <a:off x="749808" y="4892040"/>
            <a:ext cx="384048" cy="384048"/>
          </a:xfrm>
          <a:prstGeom prst="rect">
            <a:avLst/>
          </a:prstGeom>
          <a:noFill/>
          <a:ln/>
        </p:spPr>
        <p:txBody>
          <a:bodyPr wrap="square" lIns="0" tIns="0" rIns="0" bIns="0" rtlCol="0" anchor="ctr"/>
          <a:lstStyle/>
          <a:p>
            <a:pPr algn="ctr" indent="0" marL="0">
              <a:buNone/>
            </a:pPr>
            <a:r>
              <a:rPr lang="en-US" sz="1500" b="1" dirty="0">
                <a:solidFill>
                  <a:srgbClr val="071522"/>
                </a:solidFill>
                <a:latin typeface="Georgia" pitchFamily="34" charset="0"/>
                <a:ea typeface="Georgia" pitchFamily="34" charset="-122"/>
                <a:cs typeface="Georgia" pitchFamily="34" charset="-120"/>
              </a:rPr>
              <a:t>E</a:t>
            </a:r>
            <a:endParaRPr lang="en-US" sz="1500" dirty="0"/>
          </a:p>
        </p:txBody>
      </p:sp>
      <p:sp>
        <p:nvSpPr>
          <p:cNvPr id="42" name="Text 40"/>
          <p:cNvSpPr/>
          <p:nvPr/>
        </p:nvSpPr>
        <p:spPr>
          <a:xfrm>
            <a:off x="1261872" y="4773168"/>
            <a:ext cx="1920240" cy="621792"/>
          </a:xfrm>
          <a:prstGeom prst="rect">
            <a:avLst/>
          </a:prstGeom>
          <a:noFill/>
          <a:ln/>
        </p:spPr>
        <p:txBody>
          <a:bodyPr wrap="square" lIns="0" tIns="0" rIns="0" bIns="0" rtlCol="0" anchor="ctr"/>
          <a:lstStyle/>
          <a:p>
            <a:pPr indent="0" marL="0">
              <a:buNone/>
            </a:pPr>
            <a:r>
              <a:rPr lang="en-US" sz="1000" spc="80" kern="0" dirty="0">
                <a:solidFill>
                  <a:srgbClr val="F2F6FA"/>
                </a:solidFill>
                <a:latin typeface="Consolas" pitchFamily="34" charset="0"/>
                <a:ea typeface="Consolas" pitchFamily="34" charset="-122"/>
                <a:cs typeface="Consolas" pitchFamily="34" charset="-120"/>
              </a:rPr>
              <a:t>SIMULADO</a:t>
            </a:r>
            <a:endParaRPr lang="en-US" sz="1000" dirty="0"/>
          </a:p>
        </p:txBody>
      </p:sp>
      <p:sp>
        <p:nvSpPr>
          <p:cNvPr id="43" name="Text 41"/>
          <p:cNvSpPr/>
          <p:nvPr/>
        </p:nvSpPr>
        <p:spPr>
          <a:xfrm>
            <a:off x="3255264" y="4773168"/>
            <a:ext cx="4626864" cy="621792"/>
          </a:xfrm>
          <a:prstGeom prst="rect">
            <a:avLst/>
          </a:prstGeom>
          <a:noFill/>
          <a:ln/>
        </p:spPr>
        <p:txBody>
          <a:bodyPr wrap="square" lIns="0" tIns="0" rIns="0" bIns="0" rtlCol="0" anchor="ctr"/>
          <a:lstStyle/>
          <a:p>
            <a:pPr indent="0" marL="0">
              <a:lnSpc>
                <a:spcPct val="105000"/>
              </a:lnSpc>
              <a:buNone/>
            </a:pPr>
            <a:r>
              <a:rPr lang="en-US" sz="1050" dirty="0">
                <a:solidFill>
                  <a:srgbClr val="9DB2C4"/>
                </a:solidFill>
                <a:latin typeface="Calibri" pitchFamily="34" charset="0"/>
                <a:ea typeface="Calibri" pitchFamily="34" charset="-122"/>
                <a:cs typeface="Calibri" pitchFamily="34" charset="-120"/>
              </a:rPr>
              <a:t>Operando en tiempo real sin dinero desde el 11 de agosto de 2026. Aún no hay histórico suficiente para concluir nada.</a:t>
            </a:r>
            <a:endParaRPr lang="en-US" sz="1050" dirty="0"/>
          </a:p>
        </p:txBody>
      </p:sp>
      <p:sp>
        <p:nvSpPr>
          <p:cNvPr id="44" name="Shape 42"/>
          <p:cNvSpPr/>
          <p:nvPr/>
        </p:nvSpPr>
        <p:spPr>
          <a:xfrm>
            <a:off x="7955280" y="4928616"/>
            <a:ext cx="658368" cy="310896"/>
          </a:xfrm>
          <a:prstGeom prst="roundRect">
            <a:avLst>
              <a:gd name="adj" fmla="val 50000"/>
            </a:avLst>
          </a:prstGeom>
          <a:solidFill>
            <a:srgbClr val="12293B"/>
          </a:solidFill>
          <a:ln w="12700">
            <a:solidFill>
              <a:srgbClr val="E0A458"/>
            </a:solidFill>
            <a:prstDash val="solid"/>
          </a:ln>
        </p:spPr>
      </p:sp>
      <p:sp>
        <p:nvSpPr>
          <p:cNvPr id="45" name="Text 43"/>
          <p:cNvSpPr/>
          <p:nvPr/>
        </p:nvSpPr>
        <p:spPr>
          <a:xfrm>
            <a:off x="7955280" y="4928616"/>
            <a:ext cx="658368" cy="310896"/>
          </a:xfrm>
          <a:prstGeom prst="rect">
            <a:avLst/>
          </a:prstGeom>
          <a:noFill/>
          <a:ln/>
        </p:spPr>
        <p:txBody>
          <a:bodyPr wrap="square" lIns="0" tIns="0" rIns="0" bIns="0" rtlCol="0" anchor="ctr"/>
          <a:lstStyle/>
          <a:p>
            <a:pPr algn="ctr" indent="0" marL="0">
              <a:buNone/>
            </a:pPr>
            <a:r>
              <a:rPr lang="en-US" sz="1050" dirty="0">
                <a:solidFill>
                  <a:srgbClr val="E0A458"/>
                </a:solidFill>
                <a:latin typeface="Consolas" pitchFamily="34" charset="0"/>
                <a:ea typeface="Consolas" pitchFamily="34" charset="-122"/>
                <a:cs typeface="Consolas" pitchFamily="34" charset="-120"/>
              </a:rPr>
              <a:t>···</a:t>
            </a:r>
            <a:endParaRPr lang="en-US" sz="1050" dirty="0"/>
          </a:p>
        </p:txBody>
      </p:sp>
      <p:sp>
        <p:nvSpPr>
          <p:cNvPr id="46" name="Shape 44"/>
          <p:cNvSpPr/>
          <p:nvPr/>
        </p:nvSpPr>
        <p:spPr>
          <a:xfrm>
            <a:off x="8942832" y="1920240"/>
            <a:ext cx="2651760" cy="3566160"/>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47" name="Shape 45"/>
          <p:cNvSpPr/>
          <p:nvPr/>
        </p:nvSpPr>
        <p:spPr>
          <a:xfrm>
            <a:off x="8942832" y="1920240"/>
            <a:ext cx="64008" cy="3566160"/>
          </a:xfrm>
          <a:prstGeom prst="rect">
            <a:avLst/>
          </a:prstGeom>
          <a:solidFill>
            <a:srgbClr val="F04438"/>
          </a:solidFill>
          <a:ln w="12700">
            <a:solidFill>
              <a:srgbClr val="F04438"/>
            </a:solidFill>
            <a:prstDash val="solid"/>
          </a:ln>
        </p:spPr>
      </p:sp>
      <p:sp>
        <p:nvSpPr>
          <p:cNvPr id="48" name="Text 46"/>
          <p:cNvSpPr/>
          <p:nvPr/>
        </p:nvSpPr>
        <p:spPr>
          <a:xfrm>
            <a:off x="9198864" y="2103120"/>
            <a:ext cx="2194560" cy="658368"/>
          </a:xfrm>
          <a:prstGeom prst="rect">
            <a:avLst/>
          </a:prstGeom>
          <a:noFill/>
          <a:ln/>
        </p:spPr>
        <p:txBody>
          <a:bodyPr wrap="square" lIns="0" tIns="0" rIns="0" bIns="0" rtlCol="0" anchor="ctr"/>
          <a:lstStyle/>
          <a:p>
            <a:pPr algn="l" indent="0" marL="0">
              <a:buNone/>
            </a:pPr>
            <a:r>
              <a:rPr lang="en-US" sz="4400" b="1" dirty="0">
                <a:solidFill>
                  <a:srgbClr val="F04438"/>
                </a:solidFill>
                <a:latin typeface="Consolas" pitchFamily="34" charset="0"/>
                <a:ea typeface="Consolas" pitchFamily="34" charset="-122"/>
                <a:cs typeface="Consolas" pitchFamily="34" charset="-120"/>
              </a:rPr>
              <a:t>13</a:t>
            </a:r>
            <a:endParaRPr lang="en-US" sz="4400" dirty="0"/>
          </a:p>
        </p:txBody>
      </p:sp>
      <p:sp>
        <p:nvSpPr>
          <p:cNvPr id="49" name="Text 47"/>
          <p:cNvSpPr/>
          <p:nvPr/>
        </p:nvSpPr>
        <p:spPr>
          <a:xfrm>
            <a:off x="9198864" y="2743200"/>
            <a:ext cx="2194560" cy="457200"/>
          </a:xfrm>
          <a:prstGeom prst="rect">
            <a:avLst/>
          </a:prstGeom>
          <a:noFill/>
          <a:ln/>
        </p:spPr>
        <p:txBody>
          <a:bodyPr wrap="square" lIns="0" tIns="0" rIns="0" bIns="0" rtlCol="0" anchor="t"/>
          <a:lstStyle/>
          <a:p>
            <a:pPr algn="l" indent="0" marL="0">
              <a:buNone/>
            </a:pPr>
            <a:r>
              <a:rPr lang="en-US" sz="1150" dirty="0">
                <a:solidFill>
                  <a:srgbClr val="9DB2C4"/>
                </a:solidFill>
                <a:latin typeface="Calibri" pitchFamily="34" charset="0"/>
                <a:ea typeface="Calibri" pitchFamily="34" charset="-122"/>
                <a:cs typeface="Calibri" pitchFamily="34" charset="-120"/>
              </a:rPr>
              <a:t>variantes probadas y descartadas</a:t>
            </a:r>
            <a:endParaRPr lang="en-US" sz="1150" dirty="0"/>
          </a:p>
        </p:txBody>
      </p:sp>
      <p:sp>
        <p:nvSpPr>
          <p:cNvPr id="50" name="Text 48"/>
          <p:cNvSpPr/>
          <p:nvPr/>
        </p:nvSpPr>
        <p:spPr>
          <a:xfrm>
            <a:off x="9198864" y="3200400"/>
            <a:ext cx="2157984" cy="2103120"/>
          </a:xfrm>
          <a:prstGeom prst="rect">
            <a:avLst/>
          </a:prstGeom>
          <a:noFill/>
          <a:ln/>
        </p:spPr>
        <p:txBody>
          <a:bodyPr wrap="square" lIns="0" tIns="0" rIns="0" bIns="0" rtlCol="0" anchor="t"/>
          <a:lstStyle/>
          <a:p>
            <a:pPr algn="l" indent="0" marL="0">
              <a:lnSpc>
                <a:spcPct val="118000"/>
              </a:lnSpc>
              <a:buNone/>
            </a:pPr>
            <a:r>
              <a:rPr lang="en-US" sz="1050" dirty="0">
                <a:solidFill>
                  <a:srgbClr val="9DB2C4"/>
                </a:solidFill>
                <a:latin typeface="Calibri" pitchFamily="34" charset="0"/>
                <a:ea typeface="Calibri" pitchFamily="34" charset="-122"/>
                <a:cs typeface="Calibri" pitchFamily="34" charset="-120"/>
              </a:rPr>
              <a:t>Operar también a la baja, objetivo fijo, mover el stop a punto de entrada, esperar un retroceso antes de entrar, límite de tiempo, filtros de régimen, filtro por día de la semana, parar tras varias ganadoras… Ninguna mejoró el resultado, y todas quedaron anotadas con su cifra.</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CASO ZIGZAG</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25</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Y aun así, en solitario suspende</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La honestidad de este proyecto se mide aquí, no en las láminas de resultados buenos.</a:t>
            </a:r>
            <a:endParaRPr lang="en-US" sz="1450" dirty="0"/>
          </a:p>
        </p:txBody>
      </p:sp>
      <p:sp>
        <p:nvSpPr>
          <p:cNvPr id="6" name="Shape 4"/>
          <p:cNvSpPr/>
          <p:nvPr/>
        </p:nvSpPr>
        <p:spPr>
          <a:xfrm>
            <a:off x="566928" y="1883664"/>
            <a:ext cx="2606040" cy="157276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883664"/>
            <a:ext cx="64008" cy="1572768"/>
          </a:xfrm>
          <a:prstGeom prst="rect">
            <a:avLst/>
          </a:prstGeom>
          <a:solidFill>
            <a:srgbClr val="F04438"/>
          </a:solidFill>
          <a:ln w="12700">
            <a:solidFill>
              <a:srgbClr val="F04438"/>
            </a:solidFill>
            <a:prstDash val="solid"/>
          </a:ln>
        </p:spPr>
      </p:sp>
      <p:sp>
        <p:nvSpPr>
          <p:cNvPr id="8" name="Text 6"/>
          <p:cNvSpPr/>
          <p:nvPr/>
        </p:nvSpPr>
        <p:spPr>
          <a:xfrm>
            <a:off x="804672" y="2011680"/>
            <a:ext cx="2194560" cy="512064"/>
          </a:xfrm>
          <a:prstGeom prst="rect">
            <a:avLst/>
          </a:prstGeom>
          <a:noFill/>
          <a:ln/>
        </p:spPr>
        <p:txBody>
          <a:bodyPr wrap="square" lIns="0" tIns="0" rIns="0" bIns="0" rtlCol="0" anchor="ctr"/>
          <a:lstStyle/>
          <a:p>
            <a:pPr indent="0" marL="0">
              <a:buNone/>
            </a:pPr>
            <a:r>
              <a:rPr lang="en-US" sz="3000" b="1" dirty="0">
                <a:solidFill>
                  <a:srgbClr val="F04438"/>
                </a:solidFill>
                <a:latin typeface="Consolas" pitchFamily="34" charset="0"/>
                <a:ea typeface="Consolas" pitchFamily="34" charset="-122"/>
                <a:cs typeface="Consolas" pitchFamily="34" charset="-120"/>
              </a:rPr>
              <a:t>1,90</a:t>
            </a:r>
            <a:endParaRPr lang="en-US" sz="3000" dirty="0"/>
          </a:p>
        </p:txBody>
      </p:sp>
      <p:sp>
        <p:nvSpPr>
          <p:cNvPr id="9" name="Text 7"/>
          <p:cNvSpPr/>
          <p:nvPr/>
        </p:nvSpPr>
        <p:spPr>
          <a:xfrm>
            <a:off x="804672" y="2542032"/>
            <a:ext cx="2194560" cy="237744"/>
          </a:xfrm>
          <a:prstGeom prst="rect">
            <a:avLst/>
          </a:prstGeom>
          <a:noFill/>
          <a:ln/>
        </p:spPr>
        <p:txBody>
          <a:bodyPr wrap="square" lIns="0" tIns="0" rIns="0" bIns="0" rtlCol="0" anchor="ctr"/>
          <a:lstStyle/>
          <a:p>
            <a:pPr indent="0" marL="0">
              <a:buNone/>
            </a:pPr>
            <a:r>
              <a:rPr lang="en-US" sz="950" spc="160" kern="0" dirty="0">
                <a:solidFill>
                  <a:srgbClr val="F2F6FA"/>
                </a:solidFill>
                <a:latin typeface="Consolas" pitchFamily="34" charset="0"/>
                <a:ea typeface="Consolas" pitchFamily="34" charset="-122"/>
                <a:cs typeface="Consolas" pitchFamily="34" charset="-120"/>
              </a:rPr>
              <a:t>T DE STUDENT</a:t>
            </a:r>
            <a:endParaRPr lang="en-US" sz="950" dirty="0"/>
          </a:p>
        </p:txBody>
      </p:sp>
      <p:sp>
        <p:nvSpPr>
          <p:cNvPr id="10" name="Text 8"/>
          <p:cNvSpPr/>
          <p:nvPr/>
        </p:nvSpPr>
        <p:spPr>
          <a:xfrm>
            <a:off x="804672" y="2798064"/>
            <a:ext cx="2212848" cy="566928"/>
          </a:xfrm>
          <a:prstGeom prst="rect">
            <a:avLst/>
          </a:prstGeom>
          <a:noFill/>
          <a:ln/>
        </p:spPr>
        <p:txBody>
          <a:bodyPr wrap="square" lIns="0" tIns="0" rIns="0" bIns="0" rtlCol="0" anchor="t"/>
          <a:lstStyle/>
          <a:p>
            <a:pPr indent="0" marL="0">
              <a:lnSpc>
                <a:spcPct val="110000"/>
              </a:lnSpc>
              <a:buNone/>
            </a:pPr>
            <a:r>
              <a:rPr lang="en-US" sz="1000" dirty="0">
                <a:solidFill>
                  <a:srgbClr val="9DB2C4"/>
                </a:solidFill>
                <a:latin typeface="Calibri" pitchFamily="34" charset="0"/>
                <a:ea typeface="Calibri" pitchFamily="34" charset="-122"/>
                <a:cs typeface="Calibri" pitchFamily="34" charset="-120"/>
              </a:rPr>
              <a:t>Por debajo de 2: no se puede afirmar que la ventaja exista</a:t>
            </a:r>
            <a:endParaRPr lang="en-US" sz="1000" dirty="0"/>
          </a:p>
        </p:txBody>
      </p:sp>
      <p:sp>
        <p:nvSpPr>
          <p:cNvPr id="11" name="Shape 9"/>
          <p:cNvSpPr/>
          <p:nvPr/>
        </p:nvSpPr>
        <p:spPr>
          <a:xfrm>
            <a:off x="3355848" y="1883664"/>
            <a:ext cx="2606040" cy="157276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2" name="Shape 10"/>
          <p:cNvSpPr/>
          <p:nvPr/>
        </p:nvSpPr>
        <p:spPr>
          <a:xfrm>
            <a:off x="3355848" y="1883664"/>
            <a:ext cx="64008" cy="1572768"/>
          </a:xfrm>
          <a:prstGeom prst="rect">
            <a:avLst/>
          </a:prstGeom>
          <a:solidFill>
            <a:srgbClr val="F04438"/>
          </a:solidFill>
          <a:ln w="12700">
            <a:solidFill>
              <a:srgbClr val="F04438"/>
            </a:solidFill>
            <a:prstDash val="solid"/>
          </a:ln>
        </p:spPr>
      </p:sp>
      <p:sp>
        <p:nvSpPr>
          <p:cNvPr id="13" name="Text 11"/>
          <p:cNvSpPr/>
          <p:nvPr/>
        </p:nvSpPr>
        <p:spPr>
          <a:xfrm>
            <a:off x="3593592" y="2011680"/>
            <a:ext cx="2194560" cy="512064"/>
          </a:xfrm>
          <a:prstGeom prst="rect">
            <a:avLst/>
          </a:prstGeom>
          <a:noFill/>
          <a:ln/>
        </p:spPr>
        <p:txBody>
          <a:bodyPr wrap="square" lIns="0" tIns="0" rIns="0" bIns="0" rtlCol="0" anchor="ctr"/>
          <a:lstStyle/>
          <a:p>
            <a:pPr indent="0" marL="0">
              <a:buNone/>
            </a:pPr>
            <a:r>
              <a:rPr lang="en-US" sz="3000" b="1" dirty="0">
                <a:solidFill>
                  <a:srgbClr val="F04438"/>
                </a:solidFill>
                <a:latin typeface="Consolas" pitchFamily="34" charset="0"/>
                <a:ea typeface="Consolas" pitchFamily="34" charset="-122"/>
                <a:cs typeface="Consolas" pitchFamily="34" charset="-120"/>
              </a:rPr>
              <a:t>13,84 %</a:t>
            </a:r>
            <a:endParaRPr lang="en-US" sz="3000" dirty="0"/>
          </a:p>
        </p:txBody>
      </p:sp>
      <p:sp>
        <p:nvSpPr>
          <p:cNvPr id="14" name="Text 12"/>
          <p:cNvSpPr/>
          <p:nvPr/>
        </p:nvSpPr>
        <p:spPr>
          <a:xfrm>
            <a:off x="3593592" y="2542032"/>
            <a:ext cx="2194560" cy="237744"/>
          </a:xfrm>
          <a:prstGeom prst="rect">
            <a:avLst/>
          </a:prstGeom>
          <a:noFill/>
          <a:ln/>
        </p:spPr>
        <p:txBody>
          <a:bodyPr wrap="square" lIns="0" tIns="0" rIns="0" bIns="0" rtlCol="0" anchor="ctr"/>
          <a:lstStyle/>
          <a:p>
            <a:pPr indent="0" marL="0">
              <a:buNone/>
            </a:pPr>
            <a:r>
              <a:rPr lang="en-US" sz="950" spc="160" kern="0" dirty="0">
                <a:solidFill>
                  <a:srgbClr val="F2F6FA"/>
                </a:solidFill>
                <a:latin typeface="Consolas" pitchFamily="34" charset="0"/>
                <a:ea typeface="Consolas" pitchFamily="34" charset="-122"/>
                <a:cs typeface="Consolas" pitchFamily="34" charset="-120"/>
              </a:rPr>
              <a:t>PROBABILIDAD DE AZAR</a:t>
            </a:r>
            <a:endParaRPr lang="en-US" sz="950" dirty="0"/>
          </a:p>
        </p:txBody>
      </p:sp>
      <p:sp>
        <p:nvSpPr>
          <p:cNvPr id="15" name="Text 13"/>
          <p:cNvSpPr/>
          <p:nvPr/>
        </p:nvSpPr>
        <p:spPr>
          <a:xfrm>
            <a:off x="3593592" y="2798064"/>
            <a:ext cx="2212848" cy="566928"/>
          </a:xfrm>
          <a:prstGeom prst="rect">
            <a:avLst/>
          </a:prstGeom>
          <a:noFill/>
          <a:ln/>
        </p:spPr>
        <p:txBody>
          <a:bodyPr wrap="square" lIns="0" tIns="0" rIns="0" bIns="0" rtlCol="0" anchor="t"/>
          <a:lstStyle/>
          <a:p>
            <a:pPr indent="0" marL="0">
              <a:lnSpc>
                <a:spcPct val="110000"/>
              </a:lnSpc>
              <a:buNone/>
            </a:pPr>
            <a:r>
              <a:rPr lang="en-US" sz="1000" dirty="0">
                <a:solidFill>
                  <a:srgbClr val="9DB2C4"/>
                </a:solidFill>
                <a:latin typeface="Calibri" pitchFamily="34" charset="0"/>
                <a:ea typeface="Calibri" pitchFamily="34" charset="-122"/>
                <a:cs typeface="Calibri" pitchFamily="34" charset="-120"/>
              </a:rPr>
              <a:t>Uno de cada siete resultados así saldría por suerte</a:t>
            </a:r>
            <a:endParaRPr lang="en-US" sz="1000" dirty="0"/>
          </a:p>
        </p:txBody>
      </p:sp>
      <p:sp>
        <p:nvSpPr>
          <p:cNvPr id="16" name="Shape 14"/>
          <p:cNvSpPr/>
          <p:nvPr/>
        </p:nvSpPr>
        <p:spPr>
          <a:xfrm>
            <a:off x="6144768" y="1883664"/>
            <a:ext cx="2606040" cy="157276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7" name="Shape 15"/>
          <p:cNvSpPr/>
          <p:nvPr/>
        </p:nvSpPr>
        <p:spPr>
          <a:xfrm>
            <a:off x="6144768" y="1883664"/>
            <a:ext cx="64008" cy="1572768"/>
          </a:xfrm>
          <a:prstGeom prst="rect">
            <a:avLst/>
          </a:prstGeom>
          <a:solidFill>
            <a:srgbClr val="9DB2C4"/>
          </a:solidFill>
          <a:ln w="12700">
            <a:solidFill>
              <a:srgbClr val="9DB2C4"/>
            </a:solidFill>
            <a:prstDash val="solid"/>
          </a:ln>
        </p:spPr>
      </p:sp>
      <p:sp>
        <p:nvSpPr>
          <p:cNvPr id="18" name="Text 16"/>
          <p:cNvSpPr/>
          <p:nvPr/>
        </p:nvSpPr>
        <p:spPr>
          <a:xfrm>
            <a:off x="6382512" y="2011680"/>
            <a:ext cx="2194560" cy="512064"/>
          </a:xfrm>
          <a:prstGeom prst="rect">
            <a:avLst/>
          </a:prstGeom>
          <a:noFill/>
          <a:ln/>
        </p:spPr>
        <p:txBody>
          <a:bodyPr wrap="square" lIns="0" tIns="0" rIns="0" bIns="0" rtlCol="0" anchor="ctr"/>
          <a:lstStyle/>
          <a:p>
            <a:pPr indent="0" marL="0">
              <a:buNone/>
            </a:pPr>
            <a:r>
              <a:rPr lang="en-US" sz="3000" b="1" dirty="0">
                <a:solidFill>
                  <a:srgbClr val="9DB2C4"/>
                </a:solidFill>
                <a:latin typeface="Consolas" pitchFamily="34" charset="0"/>
                <a:ea typeface="Consolas" pitchFamily="34" charset="-122"/>
                <a:cs typeface="Consolas" pitchFamily="34" charset="-120"/>
              </a:rPr>
              <a:t>1,24</a:t>
            </a:r>
            <a:endParaRPr lang="en-US" sz="3000" dirty="0"/>
          </a:p>
        </p:txBody>
      </p:sp>
      <p:sp>
        <p:nvSpPr>
          <p:cNvPr id="19" name="Text 17"/>
          <p:cNvSpPr/>
          <p:nvPr/>
        </p:nvSpPr>
        <p:spPr>
          <a:xfrm>
            <a:off x="6382512" y="2542032"/>
            <a:ext cx="2194560" cy="237744"/>
          </a:xfrm>
          <a:prstGeom prst="rect">
            <a:avLst/>
          </a:prstGeom>
          <a:noFill/>
          <a:ln/>
        </p:spPr>
        <p:txBody>
          <a:bodyPr wrap="square" lIns="0" tIns="0" rIns="0" bIns="0" rtlCol="0" anchor="ctr"/>
          <a:lstStyle/>
          <a:p>
            <a:pPr indent="0" marL="0">
              <a:buNone/>
            </a:pPr>
            <a:r>
              <a:rPr lang="en-US" sz="950" spc="160" kern="0" dirty="0">
                <a:solidFill>
                  <a:srgbClr val="F2F6FA"/>
                </a:solidFill>
                <a:latin typeface="Consolas" pitchFamily="34" charset="0"/>
                <a:ea typeface="Consolas" pitchFamily="34" charset="-122"/>
                <a:cs typeface="Consolas" pitchFamily="34" charset="-120"/>
              </a:rPr>
              <a:t>FACTOR DE BENEFICIO</a:t>
            </a:r>
            <a:endParaRPr lang="en-US" sz="950" dirty="0"/>
          </a:p>
        </p:txBody>
      </p:sp>
      <p:sp>
        <p:nvSpPr>
          <p:cNvPr id="20" name="Text 18"/>
          <p:cNvSpPr/>
          <p:nvPr/>
        </p:nvSpPr>
        <p:spPr>
          <a:xfrm>
            <a:off x="6382512" y="2798064"/>
            <a:ext cx="2212848" cy="566928"/>
          </a:xfrm>
          <a:prstGeom prst="rect">
            <a:avLst/>
          </a:prstGeom>
          <a:noFill/>
          <a:ln/>
        </p:spPr>
        <p:txBody>
          <a:bodyPr wrap="square" lIns="0" tIns="0" rIns="0" bIns="0" rtlCol="0" anchor="t"/>
          <a:lstStyle/>
          <a:p>
            <a:pPr indent="0" marL="0">
              <a:lnSpc>
                <a:spcPct val="110000"/>
              </a:lnSpc>
              <a:buNone/>
            </a:pPr>
            <a:r>
              <a:rPr lang="en-US" sz="1000" dirty="0">
                <a:solidFill>
                  <a:srgbClr val="9DB2C4"/>
                </a:solidFill>
                <a:latin typeface="Calibri" pitchFamily="34" charset="0"/>
                <a:ea typeface="Calibri" pitchFamily="34" charset="-122"/>
                <a:cs typeface="Calibri" pitchFamily="34" charset="-120"/>
              </a:rPr>
              <a:t>Gana 1,24 por cada 1 que pierde</a:t>
            </a:r>
            <a:endParaRPr lang="en-US" sz="1000" dirty="0"/>
          </a:p>
        </p:txBody>
      </p:sp>
      <p:sp>
        <p:nvSpPr>
          <p:cNvPr id="21" name="Shape 19"/>
          <p:cNvSpPr/>
          <p:nvPr/>
        </p:nvSpPr>
        <p:spPr>
          <a:xfrm>
            <a:off x="8933688" y="1883664"/>
            <a:ext cx="2606040" cy="157276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2" name="Shape 20"/>
          <p:cNvSpPr/>
          <p:nvPr/>
        </p:nvSpPr>
        <p:spPr>
          <a:xfrm>
            <a:off x="8933688" y="1883664"/>
            <a:ext cx="64008" cy="1572768"/>
          </a:xfrm>
          <a:prstGeom prst="rect">
            <a:avLst/>
          </a:prstGeom>
          <a:solidFill>
            <a:srgbClr val="F04438"/>
          </a:solidFill>
          <a:ln w="12700">
            <a:solidFill>
              <a:srgbClr val="F04438"/>
            </a:solidFill>
            <a:prstDash val="solid"/>
          </a:ln>
        </p:spPr>
      </p:sp>
      <p:sp>
        <p:nvSpPr>
          <p:cNvPr id="23" name="Text 21"/>
          <p:cNvSpPr/>
          <p:nvPr/>
        </p:nvSpPr>
        <p:spPr>
          <a:xfrm>
            <a:off x="9171432" y="2011680"/>
            <a:ext cx="2194560" cy="512064"/>
          </a:xfrm>
          <a:prstGeom prst="rect">
            <a:avLst/>
          </a:prstGeom>
          <a:noFill/>
          <a:ln/>
        </p:spPr>
        <p:txBody>
          <a:bodyPr wrap="square" lIns="0" tIns="0" rIns="0" bIns="0" rtlCol="0" anchor="ctr"/>
          <a:lstStyle/>
          <a:p>
            <a:pPr indent="0" marL="0">
              <a:buNone/>
            </a:pPr>
            <a:r>
              <a:rPr lang="en-US" sz="3000" b="1" dirty="0">
                <a:solidFill>
                  <a:srgbClr val="F04438"/>
                </a:solidFill>
                <a:latin typeface="Consolas" pitchFamily="34" charset="0"/>
                <a:ea typeface="Consolas" pitchFamily="34" charset="-122"/>
                <a:cs typeface="Consolas" pitchFamily="34" charset="-120"/>
              </a:rPr>
              <a:t>89 %</a:t>
            </a:r>
            <a:endParaRPr lang="en-US" sz="3000" dirty="0"/>
          </a:p>
        </p:txBody>
      </p:sp>
      <p:sp>
        <p:nvSpPr>
          <p:cNvPr id="24" name="Text 22"/>
          <p:cNvSpPr/>
          <p:nvPr/>
        </p:nvSpPr>
        <p:spPr>
          <a:xfrm>
            <a:off x="9171432" y="2542032"/>
            <a:ext cx="2194560" cy="237744"/>
          </a:xfrm>
          <a:prstGeom prst="rect">
            <a:avLst/>
          </a:prstGeom>
          <a:noFill/>
          <a:ln/>
        </p:spPr>
        <p:txBody>
          <a:bodyPr wrap="square" lIns="0" tIns="0" rIns="0" bIns="0" rtlCol="0" anchor="ctr"/>
          <a:lstStyle/>
          <a:p>
            <a:pPr indent="0" marL="0">
              <a:buNone/>
            </a:pPr>
            <a:r>
              <a:rPr lang="en-US" sz="950" spc="160" kern="0" dirty="0">
                <a:solidFill>
                  <a:srgbClr val="F2F6FA"/>
                </a:solidFill>
                <a:latin typeface="Consolas" pitchFamily="34" charset="0"/>
                <a:ea typeface="Consolas" pitchFamily="34" charset="-122"/>
                <a:cs typeface="Consolas" pitchFamily="34" charset="-120"/>
              </a:rPr>
              <a:t>CONCENTRACIÓN</a:t>
            </a:r>
            <a:endParaRPr lang="en-US" sz="950" dirty="0"/>
          </a:p>
        </p:txBody>
      </p:sp>
      <p:sp>
        <p:nvSpPr>
          <p:cNvPr id="25" name="Text 23"/>
          <p:cNvSpPr/>
          <p:nvPr/>
        </p:nvSpPr>
        <p:spPr>
          <a:xfrm>
            <a:off x="9171432" y="2798064"/>
            <a:ext cx="2212848" cy="566928"/>
          </a:xfrm>
          <a:prstGeom prst="rect">
            <a:avLst/>
          </a:prstGeom>
          <a:noFill/>
          <a:ln/>
        </p:spPr>
        <p:txBody>
          <a:bodyPr wrap="square" lIns="0" tIns="0" rIns="0" bIns="0" rtlCol="0" anchor="t"/>
          <a:lstStyle/>
          <a:p>
            <a:pPr indent="0" marL="0">
              <a:lnSpc>
                <a:spcPct val="110000"/>
              </a:lnSpc>
              <a:buNone/>
            </a:pPr>
            <a:r>
              <a:rPr lang="en-US" sz="1000" dirty="0">
                <a:solidFill>
                  <a:srgbClr val="9DB2C4"/>
                </a:solidFill>
                <a:latin typeface="Calibri" pitchFamily="34" charset="0"/>
                <a:ea typeface="Calibri" pitchFamily="34" charset="-122"/>
                <a:cs typeface="Calibri" pitchFamily="34" charset="-120"/>
              </a:rPr>
              <a:t>Diez operaciones de 532 producen el 89 % del beneficio</a:t>
            </a:r>
            <a:endParaRPr lang="en-US" sz="1000" dirty="0"/>
          </a:p>
        </p:txBody>
      </p:sp>
      <p:graphicFrame>
        <p:nvGraphicFramePr>
          <p:cNvPr id="26" name="Chart 0" descr=""/>
          <p:cNvGraphicFramePr/>
          <p:nvPr/>
        </p:nvGraphicFramePr>
        <p:xfrm>
          <a:off x="566928" y="3602736"/>
          <a:ext cx="7315200" cy="1883664"/>
        </p:xfrm>
        <a:graphic xmlns:a="http://schemas.openxmlformats.org/drawingml/2006/main">
          <a:graphicData uri="http://schemas.openxmlformats.org/drawingml/2006/chart">
            <c:chart xmlns:c="http://schemas.openxmlformats.org/drawingml/2006/chart" r:id="rId1"/>
          </a:graphicData>
        </a:graphic>
      </p:graphicFrame>
      <p:sp>
        <p:nvSpPr>
          <p:cNvPr id="27" name="Shape 24"/>
          <p:cNvSpPr/>
          <p:nvPr/>
        </p:nvSpPr>
        <p:spPr>
          <a:xfrm>
            <a:off x="8119872" y="3602736"/>
            <a:ext cx="3474720" cy="1883664"/>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8" name="Shape 25"/>
          <p:cNvSpPr/>
          <p:nvPr/>
        </p:nvSpPr>
        <p:spPr>
          <a:xfrm>
            <a:off x="8119872" y="3602736"/>
            <a:ext cx="64008" cy="1883664"/>
          </a:xfrm>
          <a:prstGeom prst="rect">
            <a:avLst/>
          </a:prstGeom>
          <a:solidFill>
            <a:srgbClr val="E0A458"/>
          </a:solidFill>
          <a:ln w="12700">
            <a:solidFill>
              <a:srgbClr val="E0A458"/>
            </a:solidFill>
            <a:prstDash val="solid"/>
          </a:ln>
        </p:spPr>
      </p:sp>
      <p:sp>
        <p:nvSpPr>
          <p:cNvPr id="29" name="Text 26"/>
          <p:cNvSpPr/>
          <p:nvPr/>
        </p:nvSpPr>
        <p:spPr>
          <a:xfrm>
            <a:off x="8375904" y="3749040"/>
            <a:ext cx="2926080" cy="237744"/>
          </a:xfrm>
          <a:prstGeom prst="rect">
            <a:avLst/>
          </a:prstGeom>
          <a:noFill/>
          <a:ln/>
        </p:spPr>
        <p:txBody>
          <a:bodyPr wrap="square" lIns="0" tIns="0" rIns="0" bIns="0" rtlCol="0" anchor="ctr"/>
          <a:lstStyle/>
          <a:p>
            <a:pPr indent="0" marL="0">
              <a:buNone/>
            </a:pPr>
            <a:r>
              <a:rPr lang="en-US" sz="1050" spc="160" kern="0" dirty="0">
                <a:solidFill>
                  <a:srgbClr val="E0A458"/>
                </a:solidFill>
                <a:latin typeface="Consolas" pitchFamily="34" charset="0"/>
                <a:ea typeface="Consolas" pitchFamily="34" charset="-122"/>
                <a:cs typeface="Consolas" pitchFamily="34" charset="-120"/>
              </a:rPr>
              <a:t>NUNCA PODRÁ VALIDARSE SOLA</a:t>
            </a:r>
            <a:endParaRPr lang="en-US" sz="1050" dirty="0"/>
          </a:p>
        </p:txBody>
      </p:sp>
      <p:sp>
        <p:nvSpPr>
          <p:cNvPr id="30" name="Text 27"/>
          <p:cNvSpPr/>
          <p:nvPr/>
        </p:nvSpPr>
        <p:spPr>
          <a:xfrm>
            <a:off x="8375904" y="4041648"/>
            <a:ext cx="2980944" cy="1316736"/>
          </a:xfrm>
          <a:prstGeom prst="rect">
            <a:avLst/>
          </a:prstGeom>
          <a:noFill/>
          <a:ln/>
        </p:spPr>
        <p:txBody>
          <a:bodyPr wrap="square" lIns="0" tIns="0" rIns="0" bIns="0" rtlCol="0" anchor="t"/>
          <a:lstStyle/>
          <a:p>
            <a:pPr algn="l" indent="0" marL="0">
              <a:lnSpc>
                <a:spcPct val="118000"/>
              </a:lnSpc>
              <a:buNone/>
            </a:pPr>
            <a:r>
              <a:rPr lang="en-US" sz="1100" dirty="0">
                <a:solidFill>
                  <a:srgbClr val="9DB2C4"/>
                </a:solidFill>
                <a:latin typeface="Calibri" pitchFamily="34" charset="0"/>
                <a:ea typeface="Calibri" pitchFamily="34" charset="-122"/>
                <a:cs typeface="Calibri" pitchFamily="34" charset="-120"/>
              </a:rPr>
              <a:t>Con la dispersión que tiene por operación, harían falta unas mil operaciones para llevar su t a 2,5. A 46 operaciones al año, son veintidós años más. Por eso la decisión correcta sobre esta estrategia no es individual: es de cartera.</a:t>
            </a:r>
            <a:endParaRPr lang="en-US" sz="1100" dirty="0"/>
          </a:p>
        </p:txBody>
      </p:sp>
      <p:sp>
        <p:nvSpPr>
          <p:cNvPr id="31" name="Text 28"/>
          <p:cNvSpPr/>
          <p:nvPr/>
        </p:nvSpPr>
        <p:spPr>
          <a:xfrm>
            <a:off x="566928" y="6035040"/>
            <a:ext cx="11057839" cy="365760"/>
          </a:xfrm>
          <a:prstGeom prst="rect">
            <a:avLst/>
          </a:prstGeom>
          <a:noFill/>
          <a:ln/>
        </p:spPr>
        <p:txBody>
          <a:bodyPr wrap="square" lIns="0" tIns="0" rIns="0" bIns="0" rtlCol="0" anchor="t"/>
          <a:lstStyle/>
          <a:p>
            <a:pPr indent="0" marL="0">
              <a:buNone/>
            </a:pPr>
            <a:r>
              <a:rPr lang="en-US" sz="950" i="1" dirty="0">
                <a:solidFill>
                  <a:srgbClr val="6B8299"/>
                </a:solidFill>
                <a:latin typeface="Calibri" pitchFamily="34" charset="0"/>
                <a:ea typeface="Calibri" pitchFamily="34" charset="-122"/>
                <a:cs typeface="Calibri" pitchFamily="34" charset="-120"/>
              </a:rPr>
              <a:t>El gráfico muestra los tres años negativos: 2022, 2025 y 2026. La tesis publica la concentración en el 96 % sobre NQ; el cálculo sobre la serie escalada a MNQ da 89 %. Se muestra la cifra calculada.</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CASO ZIGZAG</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26</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Estuvo 24 horas fuera de la cartera</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Lo saqué aplicando el listón individual a una decisión de portafolio. Fue un error de método, y queda documentado para no repetirlo.</a:t>
            </a:r>
            <a:endParaRPr lang="en-US" sz="1450" dirty="0"/>
          </a:p>
        </p:txBody>
      </p:sp>
      <p:sp>
        <p:nvSpPr>
          <p:cNvPr id="6" name="Text 4"/>
          <p:cNvSpPr/>
          <p:nvPr/>
        </p:nvSpPr>
        <p:spPr>
          <a:xfrm>
            <a:off x="566928" y="1975104"/>
            <a:ext cx="7315200" cy="237744"/>
          </a:xfrm>
          <a:prstGeom prst="rect">
            <a:avLst/>
          </a:prstGeom>
          <a:noFill/>
          <a:ln/>
        </p:spPr>
        <p:txBody>
          <a:bodyPr wrap="square" lIns="0" tIns="0" rIns="0" bIns="0" rtlCol="0" anchor="ctr"/>
          <a:lstStyle/>
          <a:p>
            <a:pPr indent="0" marL="0">
              <a:buNone/>
            </a:pPr>
            <a:r>
              <a:rPr lang="en-US" sz="1100" spc="160" kern="0" dirty="0">
                <a:solidFill>
                  <a:srgbClr val="E0A458"/>
                </a:solidFill>
                <a:latin typeface="Consolas" pitchFamily="34" charset="0"/>
                <a:ea typeface="Consolas" pitchFamily="34" charset="-122"/>
                <a:cs typeface="Consolas" pitchFamily="34" charset="-120"/>
              </a:rPr>
              <a:t>LA PRUEBA QUE REVIRTIÓ LA DECISIÓN · PERIODO 2015 – JUNIO 2020</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2249424"/>
          <a:ext cx="6858000" cy="914400"/>
        </p:xfrm>
        <a:graphic>
          <a:graphicData uri="http://schemas.openxmlformats.org/drawingml/2006/table">
            <a:tbl>
              <a:tblPr/>
              <a:tblGrid>
                <a:gridCol w="2468880"/>
                <a:gridCol w="1463040"/>
                <a:gridCol w="1463040"/>
                <a:gridCol w="1463040"/>
              </a:tblGrid>
              <a:tr h="384048">
                <a:tc>
                  <a:txBody>
                    <a:bodyPr/>
                    <a:lstStyle/>
                    <a:p>
                      <a:pPr algn="l" indent="0" marL="0">
                        <a:buNone/>
                      </a:pPr>
                      <a:r>
                        <a:rPr lang="en-US" sz="1200" b="1" dirty="0">
                          <a:solidFill>
                            <a:srgbClr val="F2F6FA"/>
                          </a:solidFill>
                          <a:latin typeface="Calibri" pitchFamily="34" charset="0"/>
                          <a:ea typeface="Calibri" pitchFamily="34" charset="-122"/>
                          <a:cs typeface="Calibri" pitchFamily="34" charset="-120"/>
                        </a:rPr>
                        <a:t>Configuración</a:t>
                      </a:r>
                      <a:endParaRPr lang="en-US" sz="12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200" b="1" dirty="0">
                          <a:solidFill>
                            <a:srgbClr val="F2F6FA"/>
                          </a:solidFill>
                          <a:latin typeface="Calibri" pitchFamily="34" charset="0"/>
                          <a:ea typeface="Calibri" pitchFamily="34" charset="-122"/>
                          <a:cs typeface="Calibri" pitchFamily="34" charset="-120"/>
                        </a:rPr>
                        <a:t>Beneficio</a:t>
                      </a:r>
                      <a:endParaRPr lang="en-US" sz="12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200" b="1" dirty="0">
                          <a:solidFill>
                            <a:srgbClr val="F2F6FA"/>
                          </a:solidFill>
                          <a:latin typeface="Calibri" pitchFamily="34" charset="0"/>
                          <a:ea typeface="Calibri" pitchFamily="34" charset="-122"/>
                          <a:cs typeface="Calibri" pitchFamily="34" charset="-120"/>
                        </a:rPr>
                        <a:t>Peor caída</a:t>
                      </a:r>
                      <a:endParaRPr lang="en-US" sz="12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200" b="1" dirty="0">
                          <a:solidFill>
                            <a:srgbClr val="F2F6FA"/>
                          </a:solidFill>
                          <a:latin typeface="Calibri" pitchFamily="34" charset="0"/>
                          <a:ea typeface="Calibri" pitchFamily="34" charset="-122"/>
                          <a:cs typeface="Calibri" pitchFamily="34" charset="-120"/>
                        </a:rPr>
                        <a:t>Beneficio / caída</a:t>
                      </a:r>
                      <a:endParaRPr lang="en-US" sz="12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r>
              <a:tr h="384048">
                <a:tc>
                  <a:txBody>
                    <a:bodyPr/>
                    <a:lstStyle/>
                    <a:p>
                      <a:pPr algn="l" indent="0" marL="0">
                        <a:buNone/>
                      </a:pPr>
                      <a:r>
                        <a:rPr lang="en-US" sz="1200" dirty="0">
                          <a:solidFill>
                            <a:srgbClr val="F2F6FA"/>
                          </a:solidFill>
                          <a:latin typeface="Calibri" pitchFamily="34" charset="0"/>
                          <a:ea typeface="Calibri" pitchFamily="34" charset="-122"/>
                          <a:cs typeface="Calibri" pitchFamily="34" charset="-120"/>
                        </a:rPr>
                        <a:t>Cartera sin el ZigZag</a:t>
                      </a:r>
                      <a:endParaRPr lang="en-US" sz="12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200" dirty="0">
                          <a:solidFill>
                            <a:srgbClr val="9DB2C4"/>
                          </a:solidFill>
                          <a:latin typeface="Consolas" pitchFamily="34" charset="0"/>
                          <a:ea typeface="Consolas" pitchFamily="34" charset="-122"/>
                          <a:cs typeface="Consolas" pitchFamily="34" charset="-120"/>
                        </a:rPr>
                        <a:t>$3.490</a:t>
                      </a:r>
                      <a:endParaRPr lang="en-US" sz="12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200" dirty="0">
                          <a:solidFill>
                            <a:srgbClr val="9DB2C4"/>
                          </a:solidFill>
                          <a:latin typeface="Consolas" pitchFamily="34" charset="0"/>
                          <a:ea typeface="Consolas" pitchFamily="34" charset="-122"/>
                          <a:cs typeface="Consolas" pitchFamily="34" charset="-120"/>
                        </a:rPr>
                        <a:t>−$3.858</a:t>
                      </a:r>
                      <a:endParaRPr lang="en-US" sz="12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200" b="1" dirty="0">
                          <a:solidFill>
                            <a:srgbClr val="F04438"/>
                          </a:solidFill>
                          <a:latin typeface="Consolas" pitchFamily="34" charset="0"/>
                          <a:ea typeface="Consolas" pitchFamily="34" charset="-122"/>
                          <a:cs typeface="Consolas" pitchFamily="34" charset="-120"/>
                        </a:rPr>
                        <a:t>0,90</a:t>
                      </a:r>
                      <a:endParaRPr lang="en-US" sz="12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84048">
                <a:tc>
                  <a:txBody>
                    <a:bodyPr/>
                    <a:lstStyle/>
                    <a:p>
                      <a:pPr algn="l" indent="0" marL="0">
                        <a:buNone/>
                      </a:pPr>
                      <a:r>
                        <a:rPr lang="en-US" sz="1200" dirty="0">
                          <a:solidFill>
                            <a:srgbClr val="F2F6FA"/>
                          </a:solidFill>
                          <a:latin typeface="Calibri" pitchFamily="34" charset="0"/>
                          <a:ea typeface="Calibri" pitchFamily="34" charset="-122"/>
                          <a:cs typeface="Calibri" pitchFamily="34" charset="-120"/>
                        </a:rPr>
                        <a:t>Cartera con el ZigZag</a:t>
                      </a:r>
                      <a:endParaRPr lang="en-US" sz="12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200" dirty="0">
                          <a:solidFill>
                            <a:srgbClr val="9DB2C4"/>
                          </a:solidFill>
                          <a:latin typeface="Consolas" pitchFamily="34" charset="0"/>
                          <a:ea typeface="Consolas" pitchFamily="34" charset="-122"/>
                          <a:cs typeface="Consolas" pitchFamily="34" charset="-120"/>
                        </a:rPr>
                        <a:t>$11.195</a:t>
                      </a:r>
                      <a:endParaRPr lang="en-US" sz="12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200" dirty="0">
                          <a:solidFill>
                            <a:srgbClr val="9DB2C4"/>
                          </a:solidFill>
                          <a:latin typeface="Consolas" pitchFamily="34" charset="0"/>
                          <a:ea typeface="Consolas" pitchFamily="34" charset="-122"/>
                          <a:cs typeface="Consolas" pitchFamily="34" charset="-120"/>
                        </a:rPr>
                        <a:t>−$4.141</a:t>
                      </a:r>
                      <a:endParaRPr lang="en-US" sz="12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200" b="1" dirty="0">
                          <a:solidFill>
                            <a:srgbClr val="10B981"/>
                          </a:solidFill>
                          <a:latin typeface="Consolas" pitchFamily="34" charset="0"/>
                          <a:ea typeface="Consolas" pitchFamily="34" charset="-122"/>
                          <a:cs typeface="Consolas" pitchFamily="34" charset="-120"/>
                        </a:rPr>
                        <a:t>2,70</a:t>
                      </a:r>
                      <a:endParaRPr lang="en-US" sz="12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bl>
          </a:graphicData>
        </a:graphic>
      </p:graphicFrame>
      <p:sp>
        <p:nvSpPr>
          <p:cNvPr id="8" name="Shape 5"/>
          <p:cNvSpPr/>
          <p:nvPr/>
        </p:nvSpPr>
        <p:spPr>
          <a:xfrm>
            <a:off x="566928" y="3639312"/>
            <a:ext cx="6858000" cy="932688"/>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9" name="Shape 6"/>
          <p:cNvSpPr/>
          <p:nvPr/>
        </p:nvSpPr>
        <p:spPr>
          <a:xfrm>
            <a:off x="566928" y="3639312"/>
            <a:ext cx="64008" cy="932688"/>
          </a:xfrm>
          <a:prstGeom prst="rect">
            <a:avLst/>
          </a:prstGeom>
          <a:solidFill>
            <a:srgbClr val="10B981"/>
          </a:solidFill>
          <a:ln w="12700">
            <a:solidFill>
              <a:srgbClr val="10B981"/>
            </a:solidFill>
            <a:prstDash val="solid"/>
          </a:ln>
        </p:spPr>
      </p:sp>
      <p:sp>
        <p:nvSpPr>
          <p:cNvPr id="10" name="Text 7"/>
          <p:cNvSpPr/>
          <p:nvPr/>
        </p:nvSpPr>
        <p:spPr>
          <a:xfrm>
            <a:off x="841248" y="3639312"/>
            <a:ext cx="6400800" cy="932688"/>
          </a:xfrm>
          <a:prstGeom prst="rect">
            <a:avLst/>
          </a:prstGeom>
          <a:noFill/>
          <a:ln/>
        </p:spPr>
        <p:txBody>
          <a:bodyPr wrap="square" lIns="0" tIns="0" rIns="0" bIns="0" rtlCol="0" anchor="ctr"/>
          <a:lstStyle/>
          <a:p>
            <a:pPr indent="0" marL="0">
              <a:lnSpc>
                <a:spcPct val="110000"/>
              </a:lnSpc>
              <a:buNone/>
            </a:pPr>
            <a:r>
              <a:rPr lang="en-US" sz="1450" b="1" dirty="0">
                <a:solidFill>
                  <a:srgbClr val="F2F6FA"/>
                </a:solidFill>
                <a:latin typeface="Georgia" pitchFamily="34" charset="0"/>
                <a:ea typeface="Georgia" pitchFamily="34" charset="-122"/>
                <a:cs typeface="Georgia" pitchFamily="34" charset="-120"/>
              </a:rPr>
              <a:t>El ZigZag aportó $7.705 en ese tramo. Las otras cuatro estrategias, juntas, aportaron $3.490.</a:t>
            </a:r>
            <a:endParaRPr lang="en-US" sz="1450" dirty="0"/>
          </a:p>
        </p:txBody>
      </p:sp>
      <p:sp>
        <p:nvSpPr>
          <p:cNvPr id="11" name="Shape 8"/>
          <p:cNvSpPr/>
          <p:nvPr/>
        </p:nvSpPr>
        <p:spPr>
          <a:xfrm>
            <a:off x="566928" y="4718304"/>
            <a:ext cx="6858000" cy="1042416"/>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2" name="Shape 9"/>
          <p:cNvSpPr/>
          <p:nvPr/>
        </p:nvSpPr>
        <p:spPr>
          <a:xfrm>
            <a:off x="566928" y="4718304"/>
            <a:ext cx="64008" cy="1042416"/>
          </a:xfrm>
          <a:prstGeom prst="rect">
            <a:avLst/>
          </a:prstGeom>
          <a:solidFill>
            <a:srgbClr val="F04438"/>
          </a:solidFill>
          <a:ln w="12700">
            <a:solidFill>
              <a:srgbClr val="F04438"/>
            </a:solidFill>
            <a:prstDash val="solid"/>
          </a:ln>
        </p:spPr>
      </p:sp>
      <p:sp>
        <p:nvSpPr>
          <p:cNvPr id="13" name="Text 10"/>
          <p:cNvSpPr/>
          <p:nvPr/>
        </p:nvSpPr>
        <p:spPr>
          <a:xfrm>
            <a:off x="841248" y="4846320"/>
            <a:ext cx="6217920" cy="237744"/>
          </a:xfrm>
          <a:prstGeom prst="rect">
            <a:avLst/>
          </a:prstGeom>
          <a:noFill/>
          <a:ln/>
        </p:spPr>
        <p:txBody>
          <a:bodyPr wrap="square" lIns="0" tIns="0" rIns="0" bIns="0" rtlCol="0" anchor="ctr"/>
          <a:lstStyle/>
          <a:p>
            <a:pPr indent="0" marL="0">
              <a:buNone/>
            </a:pPr>
            <a:r>
              <a:rPr lang="en-US" sz="1050" spc="160" kern="0" dirty="0">
                <a:solidFill>
                  <a:srgbClr val="F04438"/>
                </a:solidFill>
                <a:latin typeface="Consolas" pitchFamily="34" charset="0"/>
                <a:ea typeface="Consolas" pitchFamily="34" charset="-122"/>
                <a:cs typeface="Consolas" pitchFamily="34" charset="-120"/>
              </a:rPr>
              <a:t>Y LA OBJECIÓN SE APLICÓ MAL</a:t>
            </a:r>
            <a:endParaRPr lang="en-US" sz="1050" dirty="0"/>
          </a:p>
        </p:txBody>
      </p:sp>
      <p:sp>
        <p:nvSpPr>
          <p:cNvPr id="14" name="Text 11"/>
          <p:cNvSpPr/>
          <p:nvPr/>
        </p:nvSpPr>
        <p:spPr>
          <a:xfrm>
            <a:off x="841248" y="5102352"/>
            <a:ext cx="6345936" cy="603504"/>
          </a:xfrm>
          <a:prstGeom prst="rect">
            <a:avLst/>
          </a:prstGeom>
          <a:noFill/>
          <a:ln/>
        </p:spPr>
        <p:txBody>
          <a:bodyPr wrap="square" lIns="0" tIns="0" rIns="0" bIns="0" rtlCol="0" anchor="t"/>
          <a:lstStyle/>
          <a:p>
            <a:pPr algn="l" indent="0" marL="0">
              <a:lnSpc>
                <a:spcPct val="118000"/>
              </a:lnSpc>
              <a:buNone/>
            </a:pPr>
            <a:r>
              <a:rPr lang="en-US" sz="1100" dirty="0">
                <a:solidFill>
                  <a:srgbClr val="9DB2C4"/>
                </a:solidFill>
                <a:latin typeface="Calibri" pitchFamily="34" charset="0"/>
                <a:ea typeface="Calibri" pitchFamily="34" charset="-122"/>
                <a:cs typeface="Calibri" pitchFamily="34" charset="-120"/>
              </a:rPr>
              <a:t>Lo saqué por tener el beneficio concentrado en pocas operaciones. Al medir lo mismo en las demás en ese periodo: Momentum 97 %, Overnight 117 %, Weekend 169 %. Todas igual o peor. Le apliqué un criterio que no apliqué al resto.</a:t>
            </a:r>
            <a:endParaRPr lang="en-US" sz="1100" dirty="0"/>
          </a:p>
        </p:txBody>
      </p:sp>
      <p:sp>
        <p:nvSpPr>
          <p:cNvPr id="15" name="Shape 12"/>
          <p:cNvSpPr/>
          <p:nvPr/>
        </p:nvSpPr>
        <p:spPr>
          <a:xfrm>
            <a:off x="7662672" y="2249424"/>
            <a:ext cx="3931920" cy="3511296"/>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6" name="Shape 13"/>
          <p:cNvSpPr/>
          <p:nvPr/>
        </p:nvSpPr>
        <p:spPr>
          <a:xfrm>
            <a:off x="7662672" y="2249424"/>
            <a:ext cx="64008" cy="3511296"/>
          </a:xfrm>
          <a:prstGeom prst="rect">
            <a:avLst/>
          </a:prstGeom>
          <a:solidFill>
            <a:srgbClr val="E0A458"/>
          </a:solidFill>
          <a:ln w="12700">
            <a:solidFill>
              <a:srgbClr val="E0A458"/>
            </a:solidFill>
            <a:prstDash val="solid"/>
          </a:ln>
        </p:spPr>
      </p:sp>
      <p:sp>
        <p:nvSpPr>
          <p:cNvPr id="17" name="Text 14"/>
          <p:cNvSpPr/>
          <p:nvPr/>
        </p:nvSpPr>
        <p:spPr>
          <a:xfrm>
            <a:off x="7918704" y="2432304"/>
            <a:ext cx="3383280" cy="237744"/>
          </a:xfrm>
          <a:prstGeom prst="rect">
            <a:avLst/>
          </a:prstGeom>
          <a:noFill/>
          <a:ln/>
        </p:spPr>
        <p:txBody>
          <a:bodyPr wrap="square" lIns="0" tIns="0" rIns="0" bIns="0" rtlCol="0" anchor="ctr"/>
          <a:lstStyle/>
          <a:p>
            <a:pPr indent="0" marL="0">
              <a:buNone/>
            </a:pPr>
            <a:r>
              <a:rPr lang="en-US" sz="1100" spc="160" kern="0" dirty="0">
                <a:solidFill>
                  <a:srgbClr val="E0A458"/>
                </a:solidFill>
                <a:latin typeface="Consolas" pitchFamily="34" charset="0"/>
                <a:ea typeface="Consolas" pitchFamily="34" charset="-122"/>
                <a:cs typeface="Consolas" pitchFamily="34" charset="-120"/>
              </a:rPr>
              <a:t>LA LECCIÓN</a:t>
            </a:r>
            <a:endParaRPr lang="en-US" sz="1100" dirty="0"/>
          </a:p>
        </p:txBody>
      </p:sp>
      <p:sp>
        <p:nvSpPr>
          <p:cNvPr id="18" name="Text 15"/>
          <p:cNvSpPr/>
          <p:nvPr/>
        </p:nvSpPr>
        <p:spPr>
          <a:xfrm>
            <a:off x="7918704" y="2724912"/>
            <a:ext cx="3438144" cy="1371600"/>
          </a:xfrm>
          <a:prstGeom prst="rect">
            <a:avLst/>
          </a:prstGeom>
          <a:noFill/>
          <a:ln/>
        </p:spPr>
        <p:txBody>
          <a:bodyPr wrap="square" lIns="0" tIns="0" rIns="0" bIns="0" rtlCol="0" anchor="t"/>
          <a:lstStyle/>
          <a:p>
            <a:pPr indent="0" marL="0">
              <a:lnSpc>
                <a:spcPct val="116000"/>
              </a:lnSpc>
              <a:buNone/>
            </a:pPr>
            <a:r>
              <a:rPr lang="en-US" sz="1450" i="1" dirty="0">
                <a:solidFill>
                  <a:srgbClr val="F2F6FA"/>
                </a:solidFill>
                <a:latin typeface="Georgia" pitchFamily="34" charset="0"/>
                <a:ea typeface="Georgia" pitchFamily="34" charset="-122"/>
                <a:cs typeface="Georgia" pitchFamily="34" charset="-120"/>
              </a:rPr>
              <a:t>«¿Es rentable por sí sola?» no es la pregunta de un portafolio.</a:t>
            </a:r>
            <a:endParaRPr lang="en-US" sz="1450" dirty="0"/>
          </a:p>
          <a:p>
            <a:pPr indent="0" marL="0">
              <a:lnSpc>
                <a:spcPct val="116000"/>
              </a:lnSpc>
              <a:buNone/>
            </a:pPr>
            <a:endParaRPr lang="en-US" sz="1450" dirty="0"/>
          </a:p>
          <a:p>
            <a:pPr indent="0" marL="0">
              <a:lnSpc>
                <a:spcPct val="116000"/>
              </a:lnSpc>
              <a:buNone/>
            </a:pPr>
            <a:r>
              <a:rPr lang="en-US" sz="1450" i="1" dirty="0">
                <a:solidFill>
                  <a:srgbClr val="F2F6FA"/>
                </a:solidFill>
                <a:latin typeface="Georgia" pitchFamily="34" charset="0"/>
                <a:ea typeface="Georgia" pitchFamily="34" charset="-122"/>
                <a:cs typeface="Georgia" pitchFamily="34" charset="-120"/>
              </a:rPr>
              <a:t>La pregunta es: ¿aporta más de lo que quita al conjunto?</a:t>
            </a:r>
            <a:endParaRPr lang="en-US" sz="1450" dirty="0"/>
          </a:p>
        </p:txBody>
      </p:sp>
      <p:sp>
        <p:nvSpPr>
          <p:cNvPr id="19" name="Text 16"/>
          <p:cNvSpPr/>
          <p:nvPr/>
        </p:nvSpPr>
        <p:spPr>
          <a:xfrm>
            <a:off x="7918704" y="4169664"/>
            <a:ext cx="3438144" cy="1280160"/>
          </a:xfrm>
          <a:prstGeom prst="rect">
            <a:avLst/>
          </a:prstGeom>
          <a:noFill/>
          <a:ln/>
        </p:spPr>
        <p:txBody>
          <a:bodyPr wrap="square" lIns="0" tIns="0" rIns="0" bIns="0" rtlCol="0" anchor="t"/>
          <a:lstStyle/>
          <a:p>
            <a:pPr algn="l" indent="0" marL="0">
              <a:lnSpc>
                <a:spcPct val="118000"/>
              </a:lnSpc>
              <a:buNone/>
            </a:pPr>
            <a:r>
              <a:rPr lang="en-US" sz="1100" dirty="0">
                <a:solidFill>
                  <a:srgbClr val="9DB2C4"/>
                </a:solidFill>
                <a:latin typeface="Calibri" pitchFamily="34" charset="0"/>
                <a:ea typeface="Calibri" pitchFamily="34" charset="-122"/>
                <a:cs typeface="Calibri" pitchFamily="34" charset="-120"/>
              </a:rPr>
              <a:t>Una estrategia floja pero descorrelacionada puede aportar más que una fuerte pero correlacionada. Es teoría de carteras elemental, y dejé que las métricas individuales dominaran la conclusión. La reincorporación no borra nada de lo medido: sigue siendo la más débil, y por eso nunca operará más de un contrato.</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71522"/>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EL PORTAFOLIO</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27</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El conjunto frente a la suma de las partes</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Seis estrategias sobre MNQ, un contrato cada una, 11,6 años de histórico y 3.838 operaciones.</a:t>
            </a:r>
            <a:endParaRPr lang="en-US" sz="14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7315200" cy="914400"/>
        </p:xfrm>
        <a:graphic>
          <a:graphicData uri="http://schemas.openxmlformats.org/drawingml/2006/table">
            <a:tbl>
              <a:tblPr/>
              <a:tblGrid>
                <a:gridCol w="2651760"/>
                <a:gridCol w="1298448"/>
                <a:gridCol w="1298448"/>
                <a:gridCol w="1060704"/>
                <a:gridCol w="1005840"/>
              </a:tblGrid>
              <a:tr h="292608">
                <a:tc>
                  <a:txBody>
                    <a:bodyPr/>
                    <a:lstStyle/>
                    <a:p>
                      <a:pPr algn="l" indent="0" marL="0">
                        <a:buNone/>
                      </a:pPr>
                      <a:r>
                        <a:rPr lang="en-US" sz="1050" b="1" dirty="0">
                          <a:solidFill>
                            <a:srgbClr val="F2F6FA"/>
                          </a:solidFill>
                          <a:latin typeface="Calibri" pitchFamily="34" charset="0"/>
                          <a:ea typeface="Calibri" pitchFamily="34" charset="-122"/>
                          <a:cs typeface="Calibri" pitchFamily="34" charset="-120"/>
                        </a:rPr>
                        <a:t>Estrategia</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050" b="1" dirty="0">
                          <a:solidFill>
                            <a:srgbClr val="F2F6FA"/>
                          </a:solidFill>
                          <a:latin typeface="Calibri" pitchFamily="34" charset="0"/>
                          <a:ea typeface="Calibri" pitchFamily="34" charset="-122"/>
                          <a:cs typeface="Calibri" pitchFamily="34" charset="-120"/>
                        </a:rPr>
                        <a:t>Beneficio</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050" b="1" dirty="0">
                          <a:solidFill>
                            <a:srgbClr val="F2F6FA"/>
                          </a:solidFill>
                          <a:latin typeface="Calibri" pitchFamily="34" charset="0"/>
                          <a:ea typeface="Calibri" pitchFamily="34" charset="-122"/>
                          <a:cs typeface="Calibri" pitchFamily="34" charset="-120"/>
                        </a:rPr>
                        <a:t>Peor caída</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050" b="1" dirty="0">
                          <a:solidFill>
                            <a:srgbClr val="F2F6FA"/>
                          </a:solidFill>
                          <a:latin typeface="Calibri" pitchFamily="34" charset="0"/>
                          <a:ea typeface="Calibri" pitchFamily="34" charset="-122"/>
                          <a:cs typeface="Calibri" pitchFamily="34" charset="-120"/>
                        </a:rPr>
                        <a:t>Ben./caída</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050" b="1" dirty="0">
                          <a:solidFill>
                            <a:srgbClr val="F2F6FA"/>
                          </a:solidFill>
                          <a:latin typeface="Calibri" pitchFamily="34" charset="0"/>
                          <a:ea typeface="Calibri" pitchFamily="34" charset="-122"/>
                          <a:cs typeface="Calibri" pitchFamily="34" charset="-120"/>
                        </a:rPr>
                        <a:t>% del total</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r>
              <a:tr h="292608">
                <a:tc>
                  <a:txBody>
                    <a:bodyPr/>
                    <a:lstStyle/>
                    <a:p>
                      <a:pPr algn="l" indent="0" marL="0">
                        <a:buNone/>
                      </a:pPr>
                      <a:r>
                        <a:rPr lang="en-US" sz="1050" dirty="0">
                          <a:solidFill>
                            <a:srgbClr val="F2F6FA"/>
                          </a:solidFill>
                          <a:latin typeface="Calibri" pitchFamily="34" charset="0"/>
                          <a:ea typeface="Calibri" pitchFamily="34" charset="-122"/>
                          <a:cs typeface="Calibri" pitchFamily="34" charset="-120"/>
                        </a:rPr>
                        <a:t>Overnight Drift</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$24.420</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−$4.195</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5,82</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27,3 %</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292608">
                <a:tc>
                  <a:txBody>
                    <a:bodyPr/>
                    <a:lstStyle/>
                    <a:p>
                      <a:pPr algn="l" indent="0" marL="0">
                        <a:buNone/>
                      </a:pPr>
                      <a:r>
                        <a:rPr lang="en-US" sz="1050" dirty="0">
                          <a:solidFill>
                            <a:srgbClr val="F2F6FA"/>
                          </a:solidFill>
                          <a:latin typeface="Calibri" pitchFamily="34" charset="0"/>
                          <a:ea typeface="Calibri" pitchFamily="34" charset="-122"/>
                          <a:cs typeface="Calibri" pitchFamily="34" charset="-120"/>
                        </a:rPr>
                        <a:t>RSI2 Reversion</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$18.830</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−$2.041</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9,23</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21,1 %</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292608">
                <a:tc>
                  <a:txBody>
                    <a:bodyPr/>
                    <a:lstStyle/>
                    <a:p>
                      <a:pPr algn="l" indent="0" marL="0">
                        <a:buNone/>
                      </a:pPr>
                      <a:r>
                        <a:rPr lang="en-US" sz="1050" dirty="0">
                          <a:solidFill>
                            <a:srgbClr val="F2F6FA"/>
                          </a:solidFill>
                          <a:latin typeface="Calibri" pitchFamily="34" charset="0"/>
                          <a:ea typeface="Calibri" pitchFamily="34" charset="-122"/>
                          <a:cs typeface="Calibri" pitchFamily="34" charset="-120"/>
                        </a:rPr>
                        <a:t>ZigZag Breakout</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$18.047</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−$3.863</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4,67</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20,2 %</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292608">
                <a:tc>
                  <a:txBody>
                    <a:bodyPr/>
                    <a:lstStyle/>
                    <a:p>
                      <a:pPr algn="l" indent="0" marL="0">
                        <a:buNone/>
                      </a:pPr>
                      <a:r>
                        <a:rPr lang="en-US" sz="1050" dirty="0">
                          <a:solidFill>
                            <a:srgbClr val="F2F6FA"/>
                          </a:solidFill>
                          <a:latin typeface="Calibri" pitchFamily="34" charset="0"/>
                          <a:ea typeface="Calibri" pitchFamily="34" charset="-122"/>
                          <a:cs typeface="Calibri" pitchFamily="34" charset="-120"/>
                        </a:rPr>
                        <a:t>Weekend Effect</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$15.364</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−$2.317</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6,63</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17,2 %</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292608">
                <a:tc>
                  <a:txBody>
                    <a:bodyPr/>
                    <a:lstStyle/>
                    <a:p>
                      <a:pPr algn="l" indent="0" marL="0">
                        <a:buNone/>
                      </a:pPr>
                      <a:r>
                        <a:rPr lang="en-US" sz="1050" dirty="0">
                          <a:solidFill>
                            <a:srgbClr val="F2F6FA"/>
                          </a:solidFill>
                          <a:latin typeface="Calibri" pitchFamily="34" charset="0"/>
                          <a:ea typeface="Calibri" pitchFamily="34" charset="-122"/>
                          <a:cs typeface="Calibri" pitchFamily="34" charset="-120"/>
                        </a:rPr>
                        <a:t>Momentum de Apertura</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$6.369</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−$983</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6,48</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7,1 %</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292608">
                <a:tc>
                  <a:txBody>
                    <a:bodyPr/>
                    <a:lstStyle/>
                    <a:p>
                      <a:pPr algn="l" indent="0" marL="0">
                        <a:buNone/>
                      </a:pPr>
                      <a:r>
                        <a:rPr lang="en-US" sz="1050" dirty="0">
                          <a:solidFill>
                            <a:srgbClr val="F2F6FA"/>
                          </a:solidFill>
                          <a:latin typeface="Calibri" pitchFamily="34" charset="0"/>
                          <a:ea typeface="Calibri" pitchFamily="34" charset="-122"/>
                          <a:cs typeface="Calibri" pitchFamily="34" charset="-120"/>
                        </a:rPr>
                        <a:t>IBS Reversion</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$6.312</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−$2.595</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2,43</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dirty="0">
                          <a:solidFill>
                            <a:srgbClr val="9DB2C4"/>
                          </a:solidFill>
                          <a:latin typeface="Consolas" pitchFamily="34" charset="0"/>
                          <a:ea typeface="Consolas" pitchFamily="34" charset="-122"/>
                          <a:cs typeface="Consolas" pitchFamily="34" charset="-120"/>
                        </a:rPr>
                        <a:t>7,1 %</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292608">
                <a:tc>
                  <a:txBody>
                    <a:bodyPr/>
                    <a:lstStyle/>
                    <a:p>
                      <a:pPr algn="l" indent="0" marL="0">
                        <a:buNone/>
                      </a:pPr>
                      <a:r>
                        <a:rPr lang="en-US" sz="1050" dirty="0">
                          <a:solidFill>
                            <a:srgbClr val="F2F6FA"/>
                          </a:solidFill>
                          <a:latin typeface="Calibri" pitchFamily="34" charset="0"/>
                          <a:ea typeface="Calibri" pitchFamily="34" charset="-122"/>
                          <a:cs typeface="Calibri" pitchFamily="34" charset="-120"/>
                        </a:rPr>
                        <a:t>Suma de las caídas individuales</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6B8299"/>
                          </a:solidFill>
                          <a:latin typeface="Consolas" pitchFamily="34" charset="0"/>
                          <a:ea typeface="Consolas" pitchFamily="34" charset="-122"/>
                          <a:cs typeface="Consolas" pitchFamily="34" charset="-120"/>
                        </a:rPr>
                        <a:t>—</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b="1" dirty="0">
                          <a:solidFill>
                            <a:srgbClr val="F04438"/>
                          </a:solidFill>
                          <a:latin typeface="Consolas" pitchFamily="34" charset="0"/>
                          <a:ea typeface="Consolas" pitchFamily="34" charset="-122"/>
                          <a:cs typeface="Consolas" pitchFamily="34" charset="-120"/>
                        </a:rPr>
                        <a:t>−$15.994</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6B8299"/>
                          </a:solidFill>
                          <a:latin typeface="Consolas" pitchFamily="34" charset="0"/>
                          <a:ea typeface="Consolas" pitchFamily="34" charset="-122"/>
                          <a:cs typeface="Consolas" pitchFamily="34" charset="-120"/>
                        </a:rPr>
                        <a:t>—</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050" dirty="0">
                          <a:solidFill>
                            <a:srgbClr val="6B8299"/>
                          </a:solidFill>
                          <a:latin typeface="Consolas" pitchFamily="34" charset="0"/>
                          <a:ea typeface="Consolas" pitchFamily="34" charset="-122"/>
                          <a:cs typeface="Consolas" pitchFamily="34" charset="-120"/>
                        </a:rPr>
                        <a:t>—</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292608">
                <a:tc>
                  <a:txBody>
                    <a:bodyPr/>
                    <a:lstStyle/>
                    <a:p>
                      <a:pPr algn="l" indent="0" marL="0">
                        <a:buNone/>
                      </a:pPr>
                      <a:r>
                        <a:rPr lang="en-US" sz="1050" dirty="0">
                          <a:solidFill>
                            <a:srgbClr val="F2F6FA"/>
                          </a:solidFill>
                          <a:latin typeface="Calibri" pitchFamily="34" charset="0"/>
                          <a:ea typeface="Calibri" pitchFamily="34" charset="-122"/>
                          <a:cs typeface="Calibri" pitchFamily="34" charset="-120"/>
                        </a:rPr>
                        <a:t>PORTAFOLIO REAL</a:t>
                      </a:r>
                      <a:endParaRPr lang="en-US" sz="105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b="1" dirty="0">
                          <a:solidFill>
                            <a:srgbClr val="10B981"/>
                          </a:solidFill>
                          <a:latin typeface="Consolas" pitchFamily="34" charset="0"/>
                          <a:ea typeface="Consolas" pitchFamily="34" charset="-122"/>
                          <a:cs typeface="Consolas" pitchFamily="34" charset="-120"/>
                        </a:rPr>
                        <a:t>$89.341</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b="1" dirty="0">
                          <a:solidFill>
                            <a:srgbClr val="10B981"/>
                          </a:solidFill>
                          <a:latin typeface="Consolas" pitchFamily="34" charset="0"/>
                          <a:ea typeface="Consolas" pitchFamily="34" charset="-122"/>
                          <a:cs typeface="Consolas" pitchFamily="34" charset="-120"/>
                        </a:rPr>
                        <a:t>−$4.099</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b="1" dirty="0">
                          <a:solidFill>
                            <a:srgbClr val="10B981"/>
                          </a:solidFill>
                          <a:latin typeface="Consolas" pitchFamily="34" charset="0"/>
                          <a:ea typeface="Consolas" pitchFamily="34" charset="-122"/>
                          <a:cs typeface="Consolas" pitchFamily="34" charset="-120"/>
                        </a:rPr>
                        <a:t>21,79</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050" b="1" dirty="0">
                          <a:solidFill>
                            <a:srgbClr val="F2F6FA"/>
                          </a:solidFill>
                          <a:latin typeface="Consolas" pitchFamily="34" charset="0"/>
                          <a:ea typeface="Consolas" pitchFamily="34" charset="-122"/>
                          <a:cs typeface="Consolas" pitchFamily="34" charset="-120"/>
                        </a:rPr>
                        <a:t>100 %</a:t>
                      </a:r>
                      <a:endParaRPr lang="en-US" sz="105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bl>
          </a:graphicData>
        </a:graphic>
      </p:graphicFrame>
      <p:sp>
        <p:nvSpPr>
          <p:cNvPr id="7" name="Shape 4"/>
          <p:cNvSpPr/>
          <p:nvPr/>
        </p:nvSpPr>
        <p:spPr>
          <a:xfrm>
            <a:off x="8119872" y="1920240"/>
            <a:ext cx="3474720" cy="877824"/>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8" name="Shape 5"/>
          <p:cNvSpPr/>
          <p:nvPr/>
        </p:nvSpPr>
        <p:spPr>
          <a:xfrm>
            <a:off x="8119872" y="1920240"/>
            <a:ext cx="64008" cy="877824"/>
          </a:xfrm>
          <a:prstGeom prst="rect">
            <a:avLst/>
          </a:prstGeom>
          <a:solidFill>
            <a:srgbClr val="10B981"/>
          </a:solidFill>
          <a:ln w="12700">
            <a:solidFill>
              <a:srgbClr val="10B981"/>
            </a:solidFill>
            <a:prstDash val="solid"/>
          </a:ln>
        </p:spPr>
      </p:sp>
      <p:sp>
        <p:nvSpPr>
          <p:cNvPr id="9" name="Text 6"/>
          <p:cNvSpPr/>
          <p:nvPr/>
        </p:nvSpPr>
        <p:spPr>
          <a:xfrm>
            <a:off x="8339328" y="1993392"/>
            <a:ext cx="1371600" cy="512064"/>
          </a:xfrm>
          <a:prstGeom prst="rect">
            <a:avLst/>
          </a:prstGeom>
          <a:noFill/>
          <a:ln/>
        </p:spPr>
        <p:txBody>
          <a:bodyPr wrap="square" lIns="0" tIns="0" rIns="0" bIns="0" rtlCol="0" anchor="ctr"/>
          <a:lstStyle/>
          <a:p>
            <a:pPr indent="0" marL="0">
              <a:buNone/>
            </a:pPr>
            <a:r>
              <a:rPr lang="en-US" sz="2400" b="1" dirty="0">
                <a:solidFill>
                  <a:srgbClr val="10B981"/>
                </a:solidFill>
                <a:latin typeface="Consolas" pitchFamily="34" charset="0"/>
                <a:ea typeface="Consolas" pitchFamily="34" charset="-122"/>
                <a:cs typeface="Consolas" pitchFamily="34" charset="-120"/>
              </a:rPr>
              <a:t>74 %</a:t>
            </a:r>
            <a:endParaRPr lang="en-US" sz="2400" dirty="0"/>
          </a:p>
        </p:txBody>
      </p:sp>
      <p:sp>
        <p:nvSpPr>
          <p:cNvPr id="10" name="Text 7"/>
          <p:cNvSpPr/>
          <p:nvPr/>
        </p:nvSpPr>
        <p:spPr>
          <a:xfrm>
            <a:off x="9729216" y="1975104"/>
            <a:ext cx="1664208" cy="768096"/>
          </a:xfrm>
          <a:prstGeom prst="rect">
            <a:avLst/>
          </a:prstGeom>
          <a:noFill/>
          <a:ln/>
        </p:spPr>
        <p:txBody>
          <a:bodyPr wrap="square" lIns="0" tIns="0" rIns="0" bIns="0" rtlCol="0" anchor="ctr"/>
          <a:lstStyle/>
          <a:p>
            <a:pPr indent="0" marL="0">
              <a:lnSpc>
                <a:spcPct val="108000"/>
              </a:lnSpc>
              <a:buNone/>
            </a:pPr>
            <a:r>
              <a:rPr lang="en-US" sz="1000" dirty="0">
                <a:solidFill>
                  <a:srgbClr val="9DB2C4"/>
                </a:solidFill>
                <a:latin typeface="Calibri" pitchFamily="34" charset="0"/>
                <a:ea typeface="Calibri" pitchFamily="34" charset="-122"/>
                <a:cs typeface="Calibri" pitchFamily="34" charset="-120"/>
              </a:rPr>
              <a:t>menos caída que la suma de las partes</a:t>
            </a:r>
            <a:endParaRPr lang="en-US" sz="1000" dirty="0"/>
          </a:p>
        </p:txBody>
      </p:sp>
      <p:sp>
        <p:nvSpPr>
          <p:cNvPr id="11" name="Shape 8"/>
          <p:cNvSpPr/>
          <p:nvPr/>
        </p:nvSpPr>
        <p:spPr>
          <a:xfrm>
            <a:off x="8119872" y="2889504"/>
            <a:ext cx="3474720" cy="877824"/>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2" name="Shape 9"/>
          <p:cNvSpPr/>
          <p:nvPr/>
        </p:nvSpPr>
        <p:spPr>
          <a:xfrm>
            <a:off x="8119872" y="2889504"/>
            <a:ext cx="64008" cy="877824"/>
          </a:xfrm>
          <a:prstGeom prst="rect">
            <a:avLst/>
          </a:prstGeom>
          <a:solidFill>
            <a:srgbClr val="10B981"/>
          </a:solidFill>
          <a:ln w="12700">
            <a:solidFill>
              <a:srgbClr val="10B981"/>
            </a:solidFill>
            <a:prstDash val="solid"/>
          </a:ln>
        </p:spPr>
      </p:sp>
      <p:sp>
        <p:nvSpPr>
          <p:cNvPr id="13" name="Text 10"/>
          <p:cNvSpPr/>
          <p:nvPr/>
        </p:nvSpPr>
        <p:spPr>
          <a:xfrm>
            <a:off x="8339328" y="2962656"/>
            <a:ext cx="1371600" cy="512064"/>
          </a:xfrm>
          <a:prstGeom prst="rect">
            <a:avLst/>
          </a:prstGeom>
          <a:noFill/>
          <a:ln/>
        </p:spPr>
        <p:txBody>
          <a:bodyPr wrap="square" lIns="0" tIns="0" rIns="0" bIns="0" rtlCol="0" anchor="ctr"/>
          <a:lstStyle/>
          <a:p>
            <a:pPr indent="0" marL="0">
              <a:buNone/>
            </a:pPr>
            <a:r>
              <a:rPr lang="en-US" sz="2400" b="1" dirty="0">
                <a:solidFill>
                  <a:srgbClr val="10B981"/>
                </a:solidFill>
                <a:latin typeface="Consolas" pitchFamily="34" charset="0"/>
                <a:ea typeface="Consolas" pitchFamily="34" charset="-122"/>
                <a:cs typeface="Consolas" pitchFamily="34" charset="-120"/>
              </a:rPr>
              <a:t>4,92</a:t>
            </a:r>
            <a:endParaRPr lang="en-US" sz="2400" dirty="0"/>
          </a:p>
        </p:txBody>
      </p:sp>
      <p:sp>
        <p:nvSpPr>
          <p:cNvPr id="14" name="Text 11"/>
          <p:cNvSpPr/>
          <p:nvPr/>
        </p:nvSpPr>
        <p:spPr>
          <a:xfrm>
            <a:off x="9729216" y="2944368"/>
            <a:ext cx="1664208" cy="768096"/>
          </a:xfrm>
          <a:prstGeom prst="rect">
            <a:avLst/>
          </a:prstGeom>
          <a:noFill/>
          <a:ln/>
        </p:spPr>
        <p:txBody>
          <a:bodyPr wrap="square" lIns="0" tIns="0" rIns="0" bIns="0" rtlCol="0" anchor="ctr"/>
          <a:lstStyle/>
          <a:p>
            <a:pPr indent="0" marL="0">
              <a:lnSpc>
                <a:spcPct val="108000"/>
              </a:lnSpc>
              <a:buNone/>
            </a:pPr>
            <a:r>
              <a:rPr lang="en-US" sz="1000" dirty="0">
                <a:solidFill>
                  <a:srgbClr val="9DB2C4"/>
                </a:solidFill>
                <a:latin typeface="Calibri" pitchFamily="34" charset="0"/>
                <a:ea typeface="Calibri" pitchFamily="34" charset="-122"/>
                <a:cs typeface="Calibri" pitchFamily="34" charset="-120"/>
              </a:rPr>
              <a:t>solidez estadística del conjunto</a:t>
            </a:r>
            <a:endParaRPr lang="en-US" sz="1000" dirty="0"/>
          </a:p>
          <a:p>
            <a:pPr indent="0" marL="0">
              <a:lnSpc>
                <a:spcPct val="108000"/>
              </a:lnSpc>
              <a:buNone/>
            </a:pPr>
            <a:r>
              <a:rPr lang="en-US" sz="1000" dirty="0">
                <a:solidFill>
                  <a:srgbClr val="9DB2C4"/>
                </a:solidFill>
                <a:latin typeface="Calibri" pitchFamily="34" charset="0"/>
                <a:ea typeface="Calibri" pitchFamily="34" charset="-122"/>
                <a:cs typeface="Calibri" pitchFamily="34" charset="-120"/>
              </a:rPr>
              <a:t>(el mejor bot solo llega a 3,65)</a:t>
            </a:r>
            <a:endParaRPr lang="en-US" sz="1000" dirty="0"/>
          </a:p>
        </p:txBody>
      </p:sp>
      <p:sp>
        <p:nvSpPr>
          <p:cNvPr id="15" name="Shape 12"/>
          <p:cNvSpPr/>
          <p:nvPr/>
        </p:nvSpPr>
        <p:spPr>
          <a:xfrm>
            <a:off x="8119872" y="3858768"/>
            <a:ext cx="3474720" cy="877824"/>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6" name="Shape 13"/>
          <p:cNvSpPr/>
          <p:nvPr/>
        </p:nvSpPr>
        <p:spPr>
          <a:xfrm>
            <a:off x="8119872" y="3858768"/>
            <a:ext cx="64008" cy="877824"/>
          </a:xfrm>
          <a:prstGeom prst="rect">
            <a:avLst/>
          </a:prstGeom>
          <a:solidFill>
            <a:srgbClr val="4D95D0"/>
          </a:solidFill>
          <a:ln w="12700">
            <a:solidFill>
              <a:srgbClr val="4D95D0"/>
            </a:solidFill>
            <a:prstDash val="solid"/>
          </a:ln>
        </p:spPr>
      </p:sp>
      <p:sp>
        <p:nvSpPr>
          <p:cNvPr id="17" name="Text 14"/>
          <p:cNvSpPr/>
          <p:nvPr/>
        </p:nvSpPr>
        <p:spPr>
          <a:xfrm>
            <a:off x="8339328" y="3931920"/>
            <a:ext cx="1371600" cy="512064"/>
          </a:xfrm>
          <a:prstGeom prst="rect">
            <a:avLst/>
          </a:prstGeom>
          <a:noFill/>
          <a:ln/>
        </p:spPr>
        <p:txBody>
          <a:bodyPr wrap="square" lIns="0" tIns="0" rIns="0" bIns="0" rtlCol="0" anchor="ctr"/>
          <a:lstStyle/>
          <a:p>
            <a:pPr indent="0" marL="0">
              <a:buNone/>
            </a:pPr>
            <a:r>
              <a:rPr lang="en-US" sz="2400" b="1" dirty="0">
                <a:solidFill>
                  <a:srgbClr val="4D95D0"/>
                </a:solidFill>
                <a:latin typeface="Consolas" pitchFamily="34" charset="0"/>
                <a:ea typeface="Consolas" pitchFamily="34" charset="-122"/>
                <a:cs typeface="Consolas" pitchFamily="34" charset="-120"/>
              </a:rPr>
              <a:t>66 %</a:t>
            </a:r>
            <a:endParaRPr lang="en-US" sz="2400" dirty="0"/>
          </a:p>
        </p:txBody>
      </p:sp>
      <p:sp>
        <p:nvSpPr>
          <p:cNvPr id="18" name="Text 15"/>
          <p:cNvSpPr/>
          <p:nvPr/>
        </p:nvSpPr>
        <p:spPr>
          <a:xfrm>
            <a:off x="9729216" y="3913632"/>
            <a:ext cx="1664208" cy="768096"/>
          </a:xfrm>
          <a:prstGeom prst="rect">
            <a:avLst/>
          </a:prstGeom>
          <a:noFill/>
          <a:ln/>
        </p:spPr>
        <p:txBody>
          <a:bodyPr wrap="square" lIns="0" tIns="0" rIns="0" bIns="0" rtlCol="0" anchor="ctr"/>
          <a:lstStyle/>
          <a:p>
            <a:pPr indent="0" marL="0">
              <a:lnSpc>
                <a:spcPct val="108000"/>
              </a:lnSpc>
              <a:buNone/>
            </a:pPr>
            <a:r>
              <a:rPr lang="en-US" sz="1000" dirty="0">
                <a:solidFill>
                  <a:srgbClr val="9DB2C4"/>
                </a:solidFill>
                <a:latin typeface="Calibri" pitchFamily="34" charset="0"/>
                <a:ea typeface="Calibri" pitchFamily="34" charset="-122"/>
                <a:cs typeface="Calibri" pitchFamily="34" charset="-120"/>
              </a:rPr>
              <a:t>de los 140 meses en positivo</a:t>
            </a:r>
            <a:endParaRPr lang="en-US" sz="1000" dirty="0"/>
          </a:p>
        </p:txBody>
      </p:sp>
      <p:sp>
        <p:nvSpPr>
          <p:cNvPr id="19" name="Shape 16"/>
          <p:cNvSpPr/>
          <p:nvPr/>
        </p:nvSpPr>
        <p:spPr>
          <a:xfrm>
            <a:off x="566928" y="4882896"/>
            <a:ext cx="11027664" cy="877824"/>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0" name="Shape 17"/>
          <p:cNvSpPr/>
          <p:nvPr/>
        </p:nvSpPr>
        <p:spPr>
          <a:xfrm>
            <a:off x="566928" y="4882896"/>
            <a:ext cx="64008" cy="877824"/>
          </a:xfrm>
          <a:prstGeom prst="rect">
            <a:avLst/>
          </a:prstGeom>
          <a:solidFill>
            <a:srgbClr val="E0A458"/>
          </a:solidFill>
          <a:ln w="12700">
            <a:solidFill>
              <a:srgbClr val="E0A458"/>
            </a:solidFill>
            <a:prstDash val="solid"/>
          </a:ln>
        </p:spPr>
      </p:sp>
      <p:sp>
        <p:nvSpPr>
          <p:cNvPr id="21" name="Text 18"/>
          <p:cNvSpPr/>
          <p:nvPr/>
        </p:nvSpPr>
        <p:spPr>
          <a:xfrm>
            <a:off x="841248" y="4882896"/>
            <a:ext cx="10515600" cy="877824"/>
          </a:xfrm>
          <a:prstGeom prst="rect">
            <a:avLst/>
          </a:prstGeom>
          <a:noFill/>
          <a:ln/>
        </p:spPr>
        <p:txBody>
          <a:bodyPr wrap="square" lIns="0" tIns="0" rIns="0" bIns="0" rtlCol="0" anchor="ctr"/>
          <a:lstStyle/>
          <a:p>
            <a:pPr indent="0" marL="0">
              <a:lnSpc>
                <a:spcPct val="110000"/>
              </a:lnSpc>
              <a:buNone/>
            </a:pPr>
            <a:r>
              <a:rPr lang="en-US" sz="1200" b="1" dirty="0">
                <a:solidFill>
                  <a:srgbClr val="E0A458"/>
                </a:solidFill>
                <a:latin typeface="Calibri" pitchFamily="34" charset="0"/>
                <a:ea typeface="Calibri" pitchFamily="34" charset="-122"/>
                <a:cs typeface="Calibri" pitchFamily="34" charset="-120"/>
              </a:rPr>
              <a:t>La cifra que resume el argumento:  </a:t>
            </a:r>
            <a:pPr indent="0" marL="0">
              <a:lnSpc>
                <a:spcPct val="110000"/>
              </a:lnSpc>
              <a:buNone/>
            </a:pPr>
            <a:r>
              <a:rPr lang="en-US" sz="1200" dirty="0">
                <a:solidFill>
                  <a:srgbClr val="9DB2C4"/>
                </a:solidFill>
                <a:latin typeface="Calibri" pitchFamily="34" charset="0"/>
                <a:ea typeface="Calibri" pitchFamily="34" charset="-122"/>
                <a:cs typeface="Calibri" pitchFamily="34" charset="-120"/>
              </a:rPr>
              <a:t>si las seis estrategias sufriesen a la vez, la caída sería de $15.994. Como no lo hacen, la caída real medida es de $4.099. Esa diferencia no es una estimación: sale de sumar día a día el resultado real de las 3.838 operaciones.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EL PORTAFOLIO</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28</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Lo que de verdad protege</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No la correlación media, sino la del 10 % de peores días. Es donde el signo se invierte.</a:t>
            </a:r>
            <a:endParaRPr lang="en-US" sz="1450" dirty="0"/>
          </a:p>
        </p:txBody>
      </p:sp>
      <p:sp>
        <p:nvSpPr>
          <p:cNvPr id="6" name="Text 4"/>
          <p:cNvSpPr/>
          <p:nvPr/>
        </p:nvSpPr>
        <p:spPr>
          <a:xfrm>
            <a:off x="566928" y="1975104"/>
            <a:ext cx="2743200" cy="237744"/>
          </a:xfrm>
          <a:prstGeom prst="rect">
            <a:avLst/>
          </a:prstGeom>
          <a:noFill/>
          <a:ln/>
        </p:spPr>
        <p:txBody>
          <a:bodyPr wrap="square" lIns="0" tIns="0" rIns="0" bIns="0" rtlCol="0" anchor="ctr"/>
          <a:lstStyle/>
          <a:p>
            <a:pPr indent="0" marL="0">
              <a:buNone/>
            </a:pPr>
            <a:r>
              <a:rPr lang="en-US" sz="950" spc="160" kern="0" dirty="0">
                <a:solidFill>
                  <a:srgbClr val="6B8299"/>
                </a:solidFill>
                <a:latin typeface="Consolas" pitchFamily="34" charset="0"/>
                <a:ea typeface="Consolas" pitchFamily="34" charset="-122"/>
                <a:cs typeface="Consolas" pitchFamily="34" charset="-120"/>
              </a:rPr>
              <a:t>PAR DE ESTRATEGIAS</a:t>
            </a:r>
            <a:endParaRPr lang="en-US" sz="950" dirty="0"/>
          </a:p>
        </p:txBody>
      </p:sp>
      <p:sp>
        <p:nvSpPr>
          <p:cNvPr id="7" name="Shape 5"/>
          <p:cNvSpPr/>
          <p:nvPr/>
        </p:nvSpPr>
        <p:spPr>
          <a:xfrm>
            <a:off x="5779008" y="2249424"/>
            <a:ext cx="0" cy="3108960"/>
          </a:xfrm>
          <a:prstGeom prst="line">
            <a:avLst/>
          </a:prstGeom>
          <a:noFill/>
          <a:ln w="12700">
            <a:solidFill>
              <a:srgbClr val="24405A"/>
            </a:solidFill>
            <a:prstDash val="dash"/>
          </a:ln>
        </p:spPr>
      </p:sp>
      <p:sp>
        <p:nvSpPr>
          <p:cNvPr id="8" name="Text 6"/>
          <p:cNvSpPr/>
          <p:nvPr/>
        </p:nvSpPr>
        <p:spPr>
          <a:xfrm>
            <a:off x="4956048" y="1938528"/>
            <a:ext cx="1645920" cy="256032"/>
          </a:xfrm>
          <a:prstGeom prst="rect">
            <a:avLst/>
          </a:prstGeom>
          <a:noFill/>
          <a:ln/>
        </p:spPr>
        <p:txBody>
          <a:bodyPr wrap="square" lIns="0" tIns="0" rIns="0" bIns="0" rtlCol="0" anchor="ctr"/>
          <a:lstStyle/>
          <a:p>
            <a:pPr algn="ctr" indent="0" marL="0">
              <a:buNone/>
            </a:pPr>
            <a:r>
              <a:rPr lang="en-US" sz="900" dirty="0">
                <a:solidFill>
                  <a:srgbClr val="6B8299"/>
                </a:solidFill>
                <a:latin typeface="Consolas" pitchFamily="34" charset="0"/>
                <a:ea typeface="Consolas" pitchFamily="34" charset="-122"/>
                <a:cs typeface="Consolas" pitchFamily="34" charset="-120"/>
              </a:rPr>
              <a:t>correlación 0</a:t>
            </a:r>
            <a:endParaRPr lang="en-US" sz="900" dirty="0"/>
          </a:p>
        </p:txBody>
      </p:sp>
      <p:sp>
        <p:nvSpPr>
          <p:cNvPr id="9" name="Text 7"/>
          <p:cNvSpPr/>
          <p:nvPr/>
        </p:nvSpPr>
        <p:spPr>
          <a:xfrm>
            <a:off x="3401568" y="1975104"/>
            <a:ext cx="2103120" cy="256032"/>
          </a:xfrm>
          <a:prstGeom prst="rect">
            <a:avLst/>
          </a:prstGeom>
          <a:noFill/>
          <a:ln/>
        </p:spPr>
        <p:txBody>
          <a:bodyPr wrap="square" lIns="0" tIns="0" rIns="0" bIns="0" rtlCol="0" anchor="ctr"/>
          <a:lstStyle/>
          <a:p>
            <a:pPr indent="0" marL="0">
              <a:buNone/>
            </a:pPr>
            <a:r>
              <a:rPr lang="en-US" sz="950" i="1" dirty="0">
                <a:solidFill>
                  <a:srgbClr val="E0A458"/>
                </a:solidFill>
                <a:latin typeface="Calibri" pitchFamily="34" charset="0"/>
                <a:ea typeface="Calibri" pitchFamily="34" charset="-122"/>
                <a:cs typeface="Calibri" pitchFamily="34" charset="-120"/>
              </a:rPr>
              <a:t>gana cuando la cartera sufre  ◄</a:t>
            </a:r>
            <a:endParaRPr lang="en-US" sz="950" dirty="0"/>
          </a:p>
        </p:txBody>
      </p:sp>
      <p:sp>
        <p:nvSpPr>
          <p:cNvPr id="10" name="Text 8"/>
          <p:cNvSpPr/>
          <p:nvPr/>
        </p:nvSpPr>
        <p:spPr>
          <a:xfrm>
            <a:off x="566928" y="2395728"/>
            <a:ext cx="2743200" cy="512064"/>
          </a:xfrm>
          <a:prstGeom prst="rect">
            <a:avLst/>
          </a:prstGeom>
          <a:noFill/>
          <a:ln/>
        </p:spPr>
        <p:txBody>
          <a:bodyPr wrap="square" lIns="0" tIns="0" rIns="0" bIns="0" rtlCol="0" anchor="ctr"/>
          <a:lstStyle/>
          <a:p>
            <a:pPr algn="r" indent="0" marL="0">
              <a:buNone/>
            </a:pPr>
            <a:r>
              <a:rPr lang="en-US" sz="1100" dirty="0">
                <a:solidFill>
                  <a:srgbClr val="F2F6FA"/>
                </a:solidFill>
                <a:latin typeface="Calibri" pitchFamily="34" charset="0"/>
                <a:ea typeface="Calibri" pitchFamily="34" charset="-122"/>
                <a:cs typeface="Calibri" pitchFamily="34" charset="-120"/>
              </a:rPr>
              <a:t>Momentum – Overnight</a:t>
            </a:r>
            <a:endParaRPr lang="en-US" sz="1100" dirty="0"/>
          </a:p>
        </p:txBody>
      </p:sp>
      <p:sp>
        <p:nvSpPr>
          <p:cNvPr id="11" name="Shape 9"/>
          <p:cNvSpPr/>
          <p:nvPr/>
        </p:nvSpPr>
        <p:spPr>
          <a:xfrm>
            <a:off x="3721608" y="2624328"/>
            <a:ext cx="2886075" cy="0"/>
          </a:xfrm>
          <a:prstGeom prst="line">
            <a:avLst/>
          </a:prstGeom>
          <a:noFill/>
          <a:ln w="25400">
            <a:solidFill>
              <a:srgbClr val="4D95D0"/>
            </a:solidFill>
            <a:prstDash val="solid"/>
          </a:ln>
        </p:spPr>
      </p:sp>
      <p:sp>
        <p:nvSpPr>
          <p:cNvPr id="12" name="Shape 10"/>
          <p:cNvSpPr/>
          <p:nvPr/>
        </p:nvSpPr>
        <p:spPr>
          <a:xfrm>
            <a:off x="6529959" y="2546604"/>
            <a:ext cx="155448" cy="155448"/>
          </a:xfrm>
          <a:prstGeom prst="ellipse">
            <a:avLst/>
          </a:prstGeom>
          <a:solidFill>
            <a:srgbClr val="0C1E2C"/>
          </a:solidFill>
          <a:ln w="19050">
            <a:solidFill>
              <a:srgbClr val="6B8299"/>
            </a:solidFill>
            <a:prstDash val="solid"/>
          </a:ln>
        </p:spPr>
      </p:sp>
      <p:sp>
        <p:nvSpPr>
          <p:cNvPr id="13" name="Shape 11"/>
          <p:cNvSpPr/>
          <p:nvPr/>
        </p:nvSpPr>
        <p:spPr>
          <a:xfrm>
            <a:off x="3634740" y="2537460"/>
            <a:ext cx="173736" cy="173736"/>
          </a:xfrm>
          <a:prstGeom prst="ellipse">
            <a:avLst/>
          </a:prstGeom>
          <a:solidFill>
            <a:srgbClr val="4D95D0"/>
          </a:solidFill>
          <a:ln w="12700">
            <a:solidFill>
              <a:srgbClr val="4D95D0"/>
            </a:solidFill>
            <a:prstDash val="solid"/>
          </a:ln>
        </p:spPr>
      </p:sp>
      <p:sp>
        <p:nvSpPr>
          <p:cNvPr id="14" name="Text 12"/>
          <p:cNvSpPr/>
          <p:nvPr/>
        </p:nvSpPr>
        <p:spPr>
          <a:xfrm>
            <a:off x="6196203" y="2240280"/>
            <a:ext cx="822960" cy="256032"/>
          </a:xfrm>
          <a:prstGeom prst="rect">
            <a:avLst/>
          </a:prstGeom>
          <a:noFill/>
          <a:ln/>
        </p:spPr>
        <p:txBody>
          <a:bodyPr wrap="square" lIns="0" tIns="0" rIns="0" bIns="0" rtlCol="0" anchor="ctr"/>
          <a:lstStyle/>
          <a:p>
            <a:pPr algn="ctr" indent="0" marL="0">
              <a:buNone/>
            </a:pPr>
            <a:r>
              <a:rPr lang="en-US" sz="950" dirty="0">
                <a:solidFill>
                  <a:srgbClr val="6B8299"/>
                </a:solidFill>
                <a:latin typeface="Consolas" pitchFamily="34" charset="0"/>
                <a:ea typeface="Consolas" pitchFamily="34" charset="-122"/>
                <a:cs typeface="Consolas" pitchFamily="34" charset="-120"/>
              </a:rPr>
              <a:t>0,29</a:t>
            </a:r>
            <a:endParaRPr lang="en-US" sz="950" dirty="0"/>
          </a:p>
        </p:txBody>
      </p:sp>
      <p:sp>
        <p:nvSpPr>
          <p:cNvPr id="15" name="Text 13"/>
          <p:cNvSpPr/>
          <p:nvPr/>
        </p:nvSpPr>
        <p:spPr>
          <a:xfrm>
            <a:off x="3310128" y="2240280"/>
            <a:ext cx="822960" cy="256032"/>
          </a:xfrm>
          <a:prstGeom prst="rect">
            <a:avLst/>
          </a:prstGeom>
          <a:noFill/>
          <a:ln/>
        </p:spPr>
        <p:txBody>
          <a:bodyPr wrap="square" lIns="0" tIns="0" rIns="0" bIns="0" rtlCol="0" anchor="ctr"/>
          <a:lstStyle/>
          <a:p>
            <a:pPr algn="ctr" indent="0" marL="0">
              <a:buNone/>
            </a:pPr>
            <a:r>
              <a:rPr lang="en-US" sz="1100" b="1" dirty="0">
                <a:solidFill>
                  <a:srgbClr val="4D95D0"/>
                </a:solidFill>
                <a:latin typeface="Consolas" pitchFamily="34" charset="0"/>
                <a:ea typeface="Consolas" pitchFamily="34" charset="-122"/>
                <a:cs typeface="Consolas" pitchFamily="34" charset="-120"/>
              </a:rPr>
              <a:t>-0,72</a:t>
            </a:r>
            <a:endParaRPr lang="en-US" sz="1100" dirty="0"/>
          </a:p>
        </p:txBody>
      </p:sp>
      <p:sp>
        <p:nvSpPr>
          <p:cNvPr id="16" name="Text 14"/>
          <p:cNvSpPr/>
          <p:nvPr/>
        </p:nvSpPr>
        <p:spPr>
          <a:xfrm>
            <a:off x="566928" y="2999232"/>
            <a:ext cx="2743200" cy="512064"/>
          </a:xfrm>
          <a:prstGeom prst="rect">
            <a:avLst/>
          </a:prstGeom>
          <a:noFill/>
          <a:ln/>
        </p:spPr>
        <p:txBody>
          <a:bodyPr wrap="square" lIns="0" tIns="0" rIns="0" bIns="0" rtlCol="0" anchor="ctr"/>
          <a:lstStyle/>
          <a:p>
            <a:pPr algn="r" indent="0" marL="0">
              <a:buNone/>
            </a:pPr>
            <a:r>
              <a:rPr lang="en-US" sz="1100" dirty="0">
                <a:solidFill>
                  <a:srgbClr val="F2F6FA"/>
                </a:solidFill>
                <a:latin typeface="Calibri" pitchFamily="34" charset="0"/>
                <a:ea typeface="Calibri" pitchFamily="34" charset="-122"/>
                <a:cs typeface="Calibri" pitchFamily="34" charset="-120"/>
              </a:rPr>
              <a:t>RSI2 – Overnight</a:t>
            </a:r>
            <a:endParaRPr lang="en-US" sz="1100" dirty="0"/>
          </a:p>
        </p:txBody>
      </p:sp>
      <p:sp>
        <p:nvSpPr>
          <p:cNvPr id="17" name="Shape 15"/>
          <p:cNvSpPr/>
          <p:nvPr/>
        </p:nvSpPr>
        <p:spPr>
          <a:xfrm>
            <a:off x="3864483" y="3227832"/>
            <a:ext cx="1571625" cy="0"/>
          </a:xfrm>
          <a:prstGeom prst="line">
            <a:avLst/>
          </a:prstGeom>
          <a:noFill/>
          <a:ln w="25400">
            <a:solidFill>
              <a:srgbClr val="10B981"/>
            </a:solidFill>
            <a:prstDash val="solid"/>
          </a:ln>
        </p:spPr>
      </p:sp>
      <p:sp>
        <p:nvSpPr>
          <p:cNvPr id="18" name="Shape 16"/>
          <p:cNvSpPr/>
          <p:nvPr/>
        </p:nvSpPr>
        <p:spPr>
          <a:xfrm>
            <a:off x="5358384" y="3150108"/>
            <a:ext cx="155448" cy="155448"/>
          </a:xfrm>
          <a:prstGeom prst="ellipse">
            <a:avLst/>
          </a:prstGeom>
          <a:solidFill>
            <a:srgbClr val="0C1E2C"/>
          </a:solidFill>
          <a:ln w="19050">
            <a:solidFill>
              <a:srgbClr val="6B8299"/>
            </a:solidFill>
            <a:prstDash val="solid"/>
          </a:ln>
        </p:spPr>
      </p:sp>
      <p:sp>
        <p:nvSpPr>
          <p:cNvPr id="19" name="Shape 17"/>
          <p:cNvSpPr/>
          <p:nvPr/>
        </p:nvSpPr>
        <p:spPr>
          <a:xfrm>
            <a:off x="3777615" y="3140964"/>
            <a:ext cx="173736" cy="173736"/>
          </a:xfrm>
          <a:prstGeom prst="ellipse">
            <a:avLst/>
          </a:prstGeom>
          <a:solidFill>
            <a:srgbClr val="10B981"/>
          </a:solidFill>
          <a:ln w="12700">
            <a:solidFill>
              <a:srgbClr val="10B981"/>
            </a:solidFill>
            <a:prstDash val="solid"/>
          </a:ln>
        </p:spPr>
      </p:sp>
      <p:sp>
        <p:nvSpPr>
          <p:cNvPr id="20" name="Text 18"/>
          <p:cNvSpPr/>
          <p:nvPr/>
        </p:nvSpPr>
        <p:spPr>
          <a:xfrm>
            <a:off x="5024628" y="2843784"/>
            <a:ext cx="822960" cy="256032"/>
          </a:xfrm>
          <a:prstGeom prst="rect">
            <a:avLst/>
          </a:prstGeom>
          <a:noFill/>
          <a:ln/>
        </p:spPr>
        <p:txBody>
          <a:bodyPr wrap="square" lIns="0" tIns="0" rIns="0" bIns="0" rtlCol="0" anchor="ctr"/>
          <a:lstStyle/>
          <a:p>
            <a:pPr algn="ctr" indent="0" marL="0">
              <a:buNone/>
            </a:pPr>
            <a:r>
              <a:rPr lang="en-US" sz="950" dirty="0">
                <a:solidFill>
                  <a:srgbClr val="6B8299"/>
                </a:solidFill>
                <a:latin typeface="Consolas" pitchFamily="34" charset="0"/>
                <a:ea typeface="Consolas" pitchFamily="34" charset="-122"/>
                <a:cs typeface="Consolas" pitchFamily="34" charset="-120"/>
              </a:rPr>
              <a:t>-0,12</a:t>
            </a:r>
            <a:endParaRPr lang="en-US" sz="950" dirty="0"/>
          </a:p>
        </p:txBody>
      </p:sp>
      <p:sp>
        <p:nvSpPr>
          <p:cNvPr id="21" name="Text 19"/>
          <p:cNvSpPr/>
          <p:nvPr/>
        </p:nvSpPr>
        <p:spPr>
          <a:xfrm>
            <a:off x="3453003" y="2843784"/>
            <a:ext cx="822960" cy="256032"/>
          </a:xfrm>
          <a:prstGeom prst="rect">
            <a:avLst/>
          </a:prstGeom>
          <a:noFill/>
          <a:ln/>
        </p:spPr>
        <p:txBody>
          <a:bodyPr wrap="square" lIns="0" tIns="0" rIns="0" bIns="0" rtlCol="0" anchor="ctr"/>
          <a:lstStyle/>
          <a:p>
            <a:pPr algn="ctr" indent="0" marL="0">
              <a:buNone/>
            </a:pPr>
            <a:r>
              <a:rPr lang="en-US" sz="1100" b="1" dirty="0">
                <a:solidFill>
                  <a:srgbClr val="10B981"/>
                </a:solidFill>
                <a:latin typeface="Consolas" pitchFamily="34" charset="0"/>
                <a:ea typeface="Consolas" pitchFamily="34" charset="-122"/>
                <a:cs typeface="Consolas" pitchFamily="34" charset="-120"/>
              </a:rPr>
              <a:t>-0,67</a:t>
            </a:r>
            <a:endParaRPr lang="en-US" sz="1100" dirty="0"/>
          </a:p>
        </p:txBody>
      </p:sp>
      <p:sp>
        <p:nvSpPr>
          <p:cNvPr id="22" name="Text 20"/>
          <p:cNvSpPr/>
          <p:nvPr/>
        </p:nvSpPr>
        <p:spPr>
          <a:xfrm>
            <a:off x="566928" y="3602736"/>
            <a:ext cx="2743200" cy="512064"/>
          </a:xfrm>
          <a:prstGeom prst="rect">
            <a:avLst/>
          </a:prstGeom>
          <a:noFill/>
          <a:ln/>
        </p:spPr>
        <p:txBody>
          <a:bodyPr wrap="square" lIns="0" tIns="0" rIns="0" bIns="0" rtlCol="0" anchor="ctr"/>
          <a:lstStyle/>
          <a:p>
            <a:pPr algn="r" indent="0" marL="0">
              <a:buNone/>
            </a:pPr>
            <a:r>
              <a:rPr lang="en-US" sz="1100" dirty="0">
                <a:solidFill>
                  <a:srgbClr val="F2F6FA"/>
                </a:solidFill>
                <a:latin typeface="Calibri" pitchFamily="34" charset="0"/>
                <a:ea typeface="Calibri" pitchFamily="34" charset="-122"/>
                <a:cs typeface="Calibri" pitchFamily="34" charset="-120"/>
              </a:rPr>
              <a:t>ZigZag – Momentum</a:t>
            </a:r>
            <a:endParaRPr lang="en-US" sz="1100" dirty="0"/>
          </a:p>
        </p:txBody>
      </p:sp>
      <p:sp>
        <p:nvSpPr>
          <p:cNvPr id="23" name="Shape 21"/>
          <p:cNvSpPr/>
          <p:nvPr/>
        </p:nvSpPr>
        <p:spPr>
          <a:xfrm>
            <a:off x="4407408" y="3831336"/>
            <a:ext cx="3028950" cy="0"/>
          </a:xfrm>
          <a:prstGeom prst="line">
            <a:avLst/>
          </a:prstGeom>
          <a:noFill/>
          <a:ln w="25400">
            <a:solidFill>
              <a:srgbClr val="8B8FF0"/>
            </a:solidFill>
            <a:prstDash val="solid"/>
          </a:ln>
        </p:spPr>
      </p:sp>
      <p:sp>
        <p:nvSpPr>
          <p:cNvPr id="24" name="Shape 22"/>
          <p:cNvSpPr/>
          <p:nvPr/>
        </p:nvSpPr>
        <p:spPr>
          <a:xfrm>
            <a:off x="7358634" y="3753612"/>
            <a:ext cx="155448" cy="155448"/>
          </a:xfrm>
          <a:prstGeom prst="ellipse">
            <a:avLst/>
          </a:prstGeom>
          <a:solidFill>
            <a:srgbClr val="0C1E2C"/>
          </a:solidFill>
          <a:ln w="19050">
            <a:solidFill>
              <a:srgbClr val="6B8299"/>
            </a:solidFill>
            <a:prstDash val="solid"/>
          </a:ln>
        </p:spPr>
      </p:sp>
      <p:sp>
        <p:nvSpPr>
          <p:cNvPr id="25" name="Shape 23"/>
          <p:cNvSpPr/>
          <p:nvPr/>
        </p:nvSpPr>
        <p:spPr>
          <a:xfrm>
            <a:off x="4320540" y="3744468"/>
            <a:ext cx="173736" cy="173736"/>
          </a:xfrm>
          <a:prstGeom prst="ellipse">
            <a:avLst/>
          </a:prstGeom>
          <a:solidFill>
            <a:srgbClr val="8B8FF0"/>
          </a:solidFill>
          <a:ln w="12700">
            <a:solidFill>
              <a:srgbClr val="8B8FF0"/>
            </a:solidFill>
            <a:prstDash val="solid"/>
          </a:ln>
        </p:spPr>
      </p:sp>
      <p:sp>
        <p:nvSpPr>
          <p:cNvPr id="26" name="Text 24"/>
          <p:cNvSpPr/>
          <p:nvPr/>
        </p:nvSpPr>
        <p:spPr>
          <a:xfrm>
            <a:off x="7024878" y="3447288"/>
            <a:ext cx="822960" cy="256032"/>
          </a:xfrm>
          <a:prstGeom prst="rect">
            <a:avLst/>
          </a:prstGeom>
          <a:noFill/>
          <a:ln/>
        </p:spPr>
        <p:txBody>
          <a:bodyPr wrap="square" lIns="0" tIns="0" rIns="0" bIns="0" rtlCol="0" anchor="ctr"/>
          <a:lstStyle/>
          <a:p>
            <a:pPr algn="ctr" indent="0" marL="0">
              <a:buNone/>
            </a:pPr>
            <a:r>
              <a:rPr lang="en-US" sz="950" dirty="0">
                <a:solidFill>
                  <a:srgbClr val="6B8299"/>
                </a:solidFill>
                <a:latin typeface="Consolas" pitchFamily="34" charset="0"/>
                <a:ea typeface="Consolas" pitchFamily="34" charset="-122"/>
                <a:cs typeface="Consolas" pitchFamily="34" charset="-120"/>
              </a:rPr>
              <a:t>0,58</a:t>
            </a:r>
            <a:endParaRPr lang="en-US" sz="950" dirty="0"/>
          </a:p>
        </p:txBody>
      </p:sp>
      <p:sp>
        <p:nvSpPr>
          <p:cNvPr id="27" name="Text 25"/>
          <p:cNvSpPr/>
          <p:nvPr/>
        </p:nvSpPr>
        <p:spPr>
          <a:xfrm>
            <a:off x="3995928" y="3447288"/>
            <a:ext cx="822960" cy="256032"/>
          </a:xfrm>
          <a:prstGeom prst="rect">
            <a:avLst/>
          </a:prstGeom>
          <a:noFill/>
          <a:ln/>
        </p:spPr>
        <p:txBody>
          <a:bodyPr wrap="square" lIns="0" tIns="0" rIns="0" bIns="0" rtlCol="0" anchor="ctr"/>
          <a:lstStyle/>
          <a:p>
            <a:pPr algn="ctr" indent="0" marL="0">
              <a:buNone/>
            </a:pPr>
            <a:r>
              <a:rPr lang="en-US" sz="1100" b="1" dirty="0">
                <a:solidFill>
                  <a:srgbClr val="8B8FF0"/>
                </a:solidFill>
                <a:latin typeface="Consolas" pitchFamily="34" charset="0"/>
                <a:ea typeface="Consolas" pitchFamily="34" charset="-122"/>
                <a:cs typeface="Consolas" pitchFamily="34" charset="-120"/>
              </a:rPr>
              <a:t>-0,48</a:t>
            </a:r>
            <a:endParaRPr lang="en-US" sz="1100" dirty="0"/>
          </a:p>
        </p:txBody>
      </p:sp>
      <p:sp>
        <p:nvSpPr>
          <p:cNvPr id="28" name="Text 26"/>
          <p:cNvSpPr/>
          <p:nvPr/>
        </p:nvSpPr>
        <p:spPr>
          <a:xfrm>
            <a:off x="566928" y="4206240"/>
            <a:ext cx="2743200" cy="512064"/>
          </a:xfrm>
          <a:prstGeom prst="rect">
            <a:avLst/>
          </a:prstGeom>
          <a:noFill/>
          <a:ln/>
        </p:spPr>
        <p:txBody>
          <a:bodyPr wrap="square" lIns="0" tIns="0" rIns="0" bIns="0" rtlCol="0" anchor="ctr"/>
          <a:lstStyle/>
          <a:p>
            <a:pPr algn="r" indent="0" marL="0">
              <a:buNone/>
            </a:pPr>
            <a:r>
              <a:rPr lang="en-US" sz="1100" dirty="0">
                <a:solidFill>
                  <a:srgbClr val="F2F6FA"/>
                </a:solidFill>
                <a:latin typeface="Calibri" pitchFamily="34" charset="0"/>
                <a:ea typeface="Calibri" pitchFamily="34" charset="-122"/>
                <a:cs typeface="Calibri" pitchFamily="34" charset="-120"/>
              </a:rPr>
              <a:t>ZigZag – Overnight</a:t>
            </a:r>
            <a:endParaRPr lang="en-US" sz="1100" dirty="0"/>
          </a:p>
        </p:txBody>
      </p:sp>
      <p:sp>
        <p:nvSpPr>
          <p:cNvPr id="29" name="Shape 27"/>
          <p:cNvSpPr/>
          <p:nvPr/>
        </p:nvSpPr>
        <p:spPr>
          <a:xfrm>
            <a:off x="4693158" y="4434840"/>
            <a:ext cx="1257300" cy="0"/>
          </a:xfrm>
          <a:prstGeom prst="line">
            <a:avLst/>
          </a:prstGeom>
          <a:noFill/>
          <a:ln w="25400">
            <a:solidFill>
              <a:srgbClr val="38BDF8"/>
            </a:solidFill>
            <a:prstDash val="solid"/>
          </a:ln>
        </p:spPr>
      </p:sp>
      <p:sp>
        <p:nvSpPr>
          <p:cNvPr id="30" name="Shape 28"/>
          <p:cNvSpPr/>
          <p:nvPr/>
        </p:nvSpPr>
        <p:spPr>
          <a:xfrm>
            <a:off x="5872734" y="4357116"/>
            <a:ext cx="155448" cy="155448"/>
          </a:xfrm>
          <a:prstGeom prst="ellipse">
            <a:avLst/>
          </a:prstGeom>
          <a:solidFill>
            <a:srgbClr val="0C1E2C"/>
          </a:solidFill>
          <a:ln w="19050">
            <a:solidFill>
              <a:srgbClr val="6B8299"/>
            </a:solidFill>
            <a:prstDash val="solid"/>
          </a:ln>
        </p:spPr>
      </p:sp>
      <p:sp>
        <p:nvSpPr>
          <p:cNvPr id="31" name="Shape 29"/>
          <p:cNvSpPr/>
          <p:nvPr/>
        </p:nvSpPr>
        <p:spPr>
          <a:xfrm>
            <a:off x="4606290" y="4347972"/>
            <a:ext cx="173736" cy="173736"/>
          </a:xfrm>
          <a:prstGeom prst="ellipse">
            <a:avLst/>
          </a:prstGeom>
          <a:solidFill>
            <a:srgbClr val="38BDF8"/>
          </a:solidFill>
          <a:ln w="12700">
            <a:solidFill>
              <a:srgbClr val="38BDF8"/>
            </a:solidFill>
            <a:prstDash val="solid"/>
          </a:ln>
        </p:spPr>
      </p:sp>
      <p:sp>
        <p:nvSpPr>
          <p:cNvPr id="32" name="Text 30"/>
          <p:cNvSpPr/>
          <p:nvPr/>
        </p:nvSpPr>
        <p:spPr>
          <a:xfrm>
            <a:off x="5538978" y="4050792"/>
            <a:ext cx="822960" cy="256032"/>
          </a:xfrm>
          <a:prstGeom prst="rect">
            <a:avLst/>
          </a:prstGeom>
          <a:noFill/>
          <a:ln/>
        </p:spPr>
        <p:txBody>
          <a:bodyPr wrap="square" lIns="0" tIns="0" rIns="0" bIns="0" rtlCol="0" anchor="ctr"/>
          <a:lstStyle/>
          <a:p>
            <a:pPr algn="ctr" indent="0" marL="0">
              <a:buNone/>
            </a:pPr>
            <a:r>
              <a:rPr lang="en-US" sz="950" dirty="0">
                <a:solidFill>
                  <a:srgbClr val="6B8299"/>
                </a:solidFill>
                <a:latin typeface="Consolas" pitchFamily="34" charset="0"/>
                <a:ea typeface="Consolas" pitchFamily="34" charset="-122"/>
                <a:cs typeface="Consolas" pitchFamily="34" charset="-120"/>
              </a:rPr>
              <a:t>0,06</a:t>
            </a:r>
            <a:endParaRPr lang="en-US" sz="950" dirty="0"/>
          </a:p>
        </p:txBody>
      </p:sp>
      <p:sp>
        <p:nvSpPr>
          <p:cNvPr id="33" name="Text 31"/>
          <p:cNvSpPr/>
          <p:nvPr/>
        </p:nvSpPr>
        <p:spPr>
          <a:xfrm>
            <a:off x="4281678" y="4050792"/>
            <a:ext cx="822960" cy="256032"/>
          </a:xfrm>
          <a:prstGeom prst="rect">
            <a:avLst/>
          </a:prstGeom>
          <a:noFill/>
          <a:ln/>
        </p:spPr>
        <p:txBody>
          <a:bodyPr wrap="square" lIns="0" tIns="0" rIns="0" bIns="0" rtlCol="0" anchor="ctr"/>
          <a:lstStyle/>
          <a:p>
            <a:pPr algn="ctr" indent="0" marL="0">
              <a:buNone/>
            </a:pPr>
            <a:r>
              <a:rPr lang="en-US" sz="1100" b="1" dirty="0">
                <a:solidFill>
                  <a:srgbClr val="38BDF8"/>
                </a:solidFill>
                <a:latin typeface="Consolas" pitchFamily="34" charset="0"/>
                <a:ea typeface="Consolas" pitchFamily="34" charset="-122"/>
                <a:cs typeface="Consolas" pitchFamily="34" charset="-120"/>
              </a:rPr>
              <a:t>-0,38</a:t>
            </a:r>
            <a:endParaRPr lang="en-US" sz="1100" dirty="0"/>
          </a:p>
        </p:txBody>
      </p:sp>
      <p:sp>
        <p:nvSpPr>
          <p:cNvPr id="34" name="Text 32"/>
          <p:cNvSpPr/>
          <p:nvPr/>
        </p:nvSpPr>
        <p:spPr>
          <a:xfrm>
            <a:off x="566928" y="4809744"/>
            <a:ext cx="2743200" cy="512064"/>
          </a:xfrm>
          <a:prstGeom prst="rect">
            <a:avLst/>
          </a:prstGeom>
          <a:noFill/>
          <a:ln/>
        </p:spPr>
        <p:txBody>
          <a:bodyPr wrap="square" lIns="0" tIns="0" rIns="0" bIns="0" rtlCol="0" anchor="ctr"/>
          <a:lstStyle/>
          <a:p>
            <a:pPr algn="r" indent="0" marL="0">
              <a:buNone/>
            </a:pPr>
            <a:r>
              <a:rPr lang="en-US" sz="1100" dirty="0">
                <a:solidFill>
                  <a:srgbClr val="F2F6FA"/>
                </a:solidFill>
                <a:latin typeface="Calibri" pitchFamily="34" charset="0"/>
                <a:ea typeface="Calibri" pitchFamily="34" charset="-122"/>
                <a:cs typeface="Calibri" pitchFamily="34" charset="-120"/>
              </a:rPr>
              <a:t>ZigZag – Weekend</a:t>
            </a:r>
            <a:endParaRPr lang="en-US" sz="1100" dirty="0"/>
          </a:p>
        </p:txBody>
      </p:sp>
      <p:sp>
        <p:nvSpPr>
          <p:cNvPr id="35" name="Shape 33"/>
          <p:cNvSpPr/>
          <p:nvPr/>
        </p:nvSpPr>
        <p:spPr>
          <a:xfrm>
            <a:off x="4864608" y="5038344"/>
            <a:ext cx="2228850" cy="0"/>
          </a:xfrm>
          <a:prstGeom prst="line">
            <a:avLst/>
          </a:prstGeom>
          <a:noFill/>
          <a:ln w="25400">
            <a:solidFill>
              <a:srgbClr val="E0A458"/>
            </a:solidFill>
            <a:prstDash val="solid"/>
          </a:ln>
        </p:spPr>
      </p:sp>
      <p:sp>
        <p:nvSpPr>
          <p:cNvPr id="36" name="Shape 34"/>
          <p:cNvSpPr/>
          <p:nvPr/>
        </p:nvSpPr>
        <p:spPr>
          <a:xfrm>
            <a:off x="7015734" y="4960620"/>
            <a:ext cx="155448" cy="155448"/>
          </a:xfrm>
          <a:prstGeom prst="ellipse">
            <a:avLst/>
          </a:prstGeom>
          <a:solidFill>
            <a:srgbClr val="0C1E2C"/>
          </a:solidFill>
          <a:ln w="19050">
            <a:solidFill>
              <a:srgbClr val="6B8299"/>
            </a:solidFill>
            <a:prstDash val="solid"/>
          </a:ln>
        </p:spPr>
      </p:sp>
      <p:sp>
        <p:nvSpPr>
          <p:cNvPr id="37" name="Shape 35"/>
          <p:cNvSpPr/>
          <p:nvPr/>
        </p:nvSpPr>
        <p:spPr>
          <a:xfrm>
            <a:off x="4777740" y="4951476"/>
            <a:ext cx="173736" cy="173736"/>
          </a:xfrm>
          <a:prstGeom prst="ellipse">
            <a:avLst/>
          </a:prstGeom>
          <a:solidFill>
            <a:srgbClr val="E0A458"/>
          </a:solidFill>
          <a:ln w="12700">
            <a:solidFill>
              <a:srgbClr val="E0A458"/>
            </a:solidFill>
            <a:prstDash val="solid"/>
          </a:ln>
        </p:spPr>
      </p:sp>
      <p:sp>
        <p:nvSpPr>
          <p:cNvPr id="38" name="Text 36"/>
          <p:cNvSpPr/>
          <p:nvPr/>
        </p:nvSpPr>
        <p:spPr>
          <a:xfrm>
            <a:off x="6681978" y="4654296"/>
            <a:ext cx="822960" cy="256032"/>
          </a:xfrm>
          <a:prstGeom prst="rect">
            <a:avLst/>
          </a:prstGeom>
          <a:noFill/>
          <a:ln/>
        </p:spPr>
        <p:txBody>
          <a:bodyPr wrap="square" lIns="0" tIns="0" rIns="0" bIns="0" rtlCol="0" anchor="ctr"/>
          <a:lstStyle/>
          <a:p>
            <a:pPr algn="ctr" indent="0" marL="0">
              <a:buNone/>
            </a:pPr>
            <a:r>
              <a:rPr lang="en-US" sz="950" dirty="0">
                <a:solidFill>
                  <a:srgbClr val="6B8299"/>
                </a:solidFill>
                <a:latin typeface="Consolas" pitchFamily="34" charset="0"/>
                <a:ea typeface="Consolas" pitchFamily="34" charset="-122"/>
                <a:cs typeface="Consolas" pitchFamily="34" charset="-120"/>
              </a:rPr>
              <a:t>0,46</a:t>
            </a:r>
            <a:endParaRPr lang="en-US" sz="950" dirty="0"/>
          </a:p>
        </p:txBody>
      </p:sp>
      <p:sp>
        <p:nvSpPr>
          <p:cNvPr id="39" name="Text 37"/>
          <p:cNvSpPr/>
          <p:nvPr/>
        </p:nvSpPr>
        <p:spPr>
          <a:xfrm>
            <a:off x="4453128" y="4654296"/>
            <a:ext cx="822960" cy="256032"/>
          </a:xfrm>
          <a:prstGeom prst="rect">
            <a:avLst/>
          </a:prstGeom>
          <a:noFill/>
          <a:ln/>
        </p:spPr>
        <p:txBody>
          <a:bodyPr wrap="square" lIns="0" tIns="0" rIns="0" bIns="0" rtlCol="0" anchor="ctr"/>
          <a:lstStyle/>
          <a:p>
            <a:pPr algn="ctr" indent="0" marL="0">
              <a:buNone/>
            </a:pPr>
            <a:r>
              <a:rPr lang="en-US" sz="1100" b="1" dirty="0">
                <a:solidFill>
                  <a:srgbClr val="E0A458"/>
                </a:solidFill>
                <a:latin typeface="Consolas" pitchFamily="34" charset="0"/>
                <a:ea typeface="Consolas" pitchFamily="34" charset="-122"/>
                <a:cs typeface="Consolas" pitchFamily="34" charset="-120"/>
              </a:rPr>
              <a:t>-0,32</a:t>
            </a:r>
            <a:endParaRPr lang="en-US" sz="1100" dirty="0"/>
          </a:p>
        </p:txBody>
      </p:sp>
      <p:sp>
        <p:nvSpPr>
          <p:cNvPr id="40" name="Text 38"/>
          <p:cNvSpPr/>
          <p:nvPr/>
        </p:nvSpPr>
        <p:spPr>
          <a:xfrm>
            <a:off x="3493008" y="5486400"/>
            <a:ext cx="4572000" cy="274320"/>
          </a:xfrm>
          <a:prstGeom prst="rect">
            <a:avLst/>
          </a:prstGeom>
          <a:noFill/>
          <a:ln/>
        </p:spPr>
        <p:txBody>
          <a:bodyPr wrap="square" lIns="0" tIns="0" rIns="0" bIns="0" rtlCol="0" anchor="ctr"/>
          <a:lstStyle/>
          <a:p>
            <a:pPr algn="ctr" indent="0" marL="0">
              <a:buNone/>
            </a:pPr>
            <a:r>
              <a:rPr lang="en-US" sz="1000" dirty="0">
                <a:solidFill>
                  <a:srgbClr val="9DB2C4"/>
                </a:solidFill>
                <a:latin typeface="Calibri" pitchFamily="34" charset="0"/>
                <a:ea typeface="Calibri" pitchFamily="34" charset="-122"/>
                <a:cs typeface="Calibri" pitchFamily="34" charset="-120"/>
              </a:rPr>
              <a:t>○  correlación media          ●  en el 10 % de peores días</a:t>
            </a:r>
            <a:endParaRPr lang="en-US" sz="1000" dirty="0"/>
          </a:p>
        </p:txBody>
      </p:sp>
      <p:sp>
        <p:nvSpPr>
          <p:cNvPr id="41" name="Shape 39"/>
          <p:cNvSpPr/>
          <p:nvPr/>
        </p:nvSpPr>
        <p:spPr>
          <a:xfrm>
            <a:off x="8339328" y="1975104"/>
            <a:ext cx="3255264" cy="3767328"/>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42" name="Shape 40"/>
          <p:cNvSpPr/>
          <p:nvPr/>
        </p:nvSpPr>
        <p:spPr>
          <a:xfrm>
            <a:off x="8339328" y="1975104"/>
            <a:ext cx="64008" cy="3767328"/>
          </a:xfrm>
          <a:prstGeom prst="rect">
            <a:avLst/>
          </a:prstGeom>
          <a:solidFill>
            <a:srgbClr val="E0A458"/>
          </a:solidFill>
          <a:ln w="12700">
            <a:solidFill>
              <a:srgbClr val="E0A458"/>
            </a:solidFill>
            <a:prstDash val="solid"/>
          </a:ln>
        </p:spPr>
      </p:sp>
      <p:sp>
        <p:nvSpPr>
          <p:cNvPr id="43" name="Text 41"/>
          <p:cNvSpPr/>
          <p:nvPr/>
        </p:nvSpPr>
        <p:spPr>
          <a:xfrm>
            <a:off x="8595360" y="2139696"/>
            <a:ext cx="2743200" cy="237744"/>
          </a:xfrm>
          <a:prstGeom prst="rect">
            <a:avLst/>
          </a:prstGeom>
          <a:noFill/>
          <a:ln/>
        </p:spPr>
        <p:txBody>
          <a:bodyPr wrap="square" lIns="0" tIns="0" rIns="0" bIns="0" rtlCol="0" anchor="ctr"/>
          <a:lstStyle/>
          <a:p>
            <a:pPr indent="0" marL="0">
              <a:buNone/>
            </a:pPr>
            <a:r>
              <a:rPr lang="en-US" sz="1050" spc="160" kern="0" dirty="0">
                <a:solidFill>
                  <a:srgbClr val="E0A458"/>
                </a:solidFill>
                <a:latin typeface="Consolas" pitchFamily="34" charset="0"/>
                <a:ea typeface="Consolas" pitchFamily="34" charset="-122"/>
                <a:cs typeface="Consolas" pitchFamily="34" charset="-120"/>
              </a:rPr>
              <a:t>POR QUÉ IMPORTA</a:t>
            </a:r>
            <a:endParaRPr lang="en-US" sz="1050" dirty="0"/>
          </a:p>
        </p:txBody>
      </p:sp>
      <p:sp>
        <p:nvSpPr>
          <p:cNvPr id="44" name="Text 42"/>
          <p:cNvSpPr/>
          <p:nvPr/>
        </p:nvSpPr>
        <p:spPr>
          <a:xfrm>
            <a:off x="8595360" y="2432304"/>
            <a:ext cx="2761488" cy="3200400"/>
          </a:xfrm>
          <a:prstGeom prst="rect">
            <a:avLst/>
          </a:prstGeom>
          <a:noFill/>
          <a:ln/>
        </p:spPr>
        <p:txBody>
          <a:bodyPr wrap="square" lIns="0" tIns="0" rIns="0" bIns="0" rtlCol="0" anchor="t"/>
          <a:lstStyle/>
          <a:p>
            <a:pPr algn="l" indent="0" marL="0">
              <a:lnSpc>
                <a:spcPct val="118000"/>
              </a:lnSpc>
              <a:buNone/>
            </a:pPr>
            <a:r>
              <a:rPr lang="en-US" sz="1050" dirty="0">
                <a:solidFill>
                  <a:srgbClr val="9DB2C4"/>
                </a:solidFill>
                <a:latin typeface="Calibri" pitchFamily="34" charset="0"/>
                <a:ea typeface="Calibri" pitchFamily="34" charset="-122"/>
                <a:cs typeface="Calibri" pitchFamily="34" charset="-120"/>
              </a:rPr>
              <a:t>Una cartera puede tener correlaciones bajas de media y dispararse a uno justo en el pánico, que es cuando duele.</a:t>
            </a:r>
            <a:endParaRPr lang="en-US" sz="1050" dirty="0"/>
          </a:p>
          <a:p>
            <a:pPr algn="l" indent="0" marL="0">
              <a:lnSpc>
                <a:spcPct val="118000"/>
              </a:lnSpc>
              <a:buNone/>
            </a:pPr>
            <a:endParaRPr lang="en-US" sz="1050" dirty="0"/>
          </a:p>
          <a:p>
            <a:pPr algn="l" indent="0" marL="0">
              <a:lnSpc>
                <a:spcPct val="118000"/>
              </a:lnSpc>
              <a:buNone/>
            </a:pPr>
            <a:r>
              <a:rPr lang="en-US" sz="1050" dirty="0">
                <a:solidFill>
                  <a:srgbClr val="9DB2C4"/>
                </a:solidFill>
                <a:latin typeface="Calibri" pitchFamily="34" charset="0"/>
                <a:ea typeface="Calibri" pitchFamily="34" charset="-122"/>
                <a:cs typeface="Calibri" pitchFamily="34" charset="-120"/>
              </a:rPr>
              <a:t>Aquí pasa lo contrario: los pares que de media parecen redundantes cambian de signo en los peores días.</a:t>
            </a:r>
            <a:endParaRPr lang="en-US" sz="1050" dirty="0"/>
          </a:p>
          <a:p>
            <a:pPr algn="l" indent="0" marL="0">
              <a:lnSpc>
                <a:spcPct val="118000"/>
              </a:lnSpc>
              <a:buNone/>
            </a:pPr>
            <a:endParaRPr lang="en-US" sz="1050" dirty="0"/>
          </a:p>
          <a:p>
            <a:pPr algn="l" indent="0" marL="0">
              <a:lnSpc>
                <a:spcPct val="118000"/>
              </a:lnSpc>
              <a:buNone/>
            </a:pPr>
            <a:r>
              <a:rPr lang="en-US" sz="1050" dirty="0">
                <a:solidFill>
                  <a:srgbClr val="9DB2C4"/>
                </a:solidFill>
                <a:latin typeface="Calibri" pitchFamily="34" charset="0"/>
                <a:ea typeface="Calibri" pitchFamily="34" charset="-122"/>
                <a:cs typeface="Calibri" pitchFamily="34" charset="-120"/>
              </a:rPr>
              <a:t>El ZigZag correlaciona +0,58 con el Momentum de media, pero −0,48 cuando la cartera sufre: gana cuando los demás pierden.</a:t>
            </a:r>
            <a:endParaRPr lang="en-US" sz="1050" dirty="0"/>
          </a:p>
          <a:p>
            <a:pPr algn="l" indent="0" marL="0">
              <a:lnSpc>
                <a:spcPct val="118000"/>
              </a:lnSpc>
              <a:buNone/>
            </a:pPr>
            <a:endParaRPr lang="en-US" sz="1050" dirty="0"/>
          </a:p>
          <a:p>
            <a:pPr algn="l" indent="0" marL="0">
              <a:lnSpc>
                <a:spcPct val="118000"/>
              </a:lnSpc>
              <a:buNone/>
            </a:pPr>
            <a:r>
              <a:rPr lang="en-US" sz="1050" dirty="0">
                <a:solidFill>
                  <a:srgbClr val="9DB2C4"/>
                </a:solidFill>
                <a:latin typeface="Calibri" pitchFamily="34" charset="0"/>
                <a:ea typeface="Calibri" pitchFamily="34" charset="-122"/>
                <a:cs typeface="Calibri" pitchFamily="34" charset="-120"/>
              </a:rPr>
              <a:t>Eso es lo que amortigua una caída, y no lo enseña ninguna matriz de correlación convencional.</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EL PORTAFOLIO</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29</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Cada estrategia tiene un papel</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No todas están para ganar dinero. Algunas están para que las demás puedan seguir jugando.</a:t>
            </a:r>
            <a:endParaRPr lang="en-US" sz="1450" dirty="0"/>
          </a:p>
        </p:txBody>
      </p:sp>
      <p:sp>
        <p:nvSpPr>
          <p:cNvPr id="6" name="Shape 4"/>
          <p:cNvSpPr/>
          <p:nvPr/>
        </p:nvSpPr>
        <p:spPr>
          <a:xfrm>
            <a:off x="566928" y="1865376"/>
            <a:ext cx="5413248" cy="164592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7" name="Shape 5"/>
          <p:cNvSpPr/>
          <p:nvPr/>
        </p:nvSpPr>
        <p:spPr>
          <a:xfrm>
            <a:off x="566928" y="1865376"/>
            <a:ext cx="64008" cy="1645920"/>
          </a:xfrm>
          <a:prstGeom prst="rect">
            <a:avLst/>
          </a:prstGeom>
          <a:solidFill>
            <a:srgbClr val="10B981"/>
          </a:solidFill>
          <a:ln w="12700">
            <a:solidFill>
              <a:srgbClr val="10B981"/>
            </a:solidFill>
            <a:prstDash val="solid"/>
          </a:ln>
        </p:spPr>
      </p:sp>
      <p:sp>
        <p:nvSpPr>
          <p:cNvPr id="8" name="Text 6"/>
          <p:cNvSpPr/>
          <p:nvPr/>
        </p:nvSpPr>
        <p:spPr>
          <a:xfrm>
            <a:off x="822960" y="1993392"/>
            <a:ext cx="4206240" cy="237744"/>
          </a:xfrm>
          <a:prstGeom prst="rect">
            <a:avLst/>
          </a:prstGeom>
          <a:noFill/>
          <a:ln/>
        </p:spPr>
        <p:txBody>
          <a:bodyPr wrap="square" lIns="0" tIns="0" rIns="0" bIns="0" rtlCol="0" anchor="ctr"/>
          <a:lstStyle/>
          <a:p>
            <a:pPr indent="0" marL="0">
              <a:buNone/>
            </a:pPr>
            <a:r>
              <a:rPr lang="en-US" sz="1050" spc="160" kern="0" dirty="0">
                <a:solidFill>
                  <a:srgbClr val="10B981"/>
                </a:solidFill>
                <a:latin typeface="Consolas" pitchFamily="34" charset="0"/>
                <a:ea typeface="Consolas" pitchFamily="34" charset="-122"/>
                <a:cs typeface="Consolas" pitchFamily="34" charset="-120"/>
              </a:rPr>
              <a:t>MOTORES DE RETORNO</a:t>
            </a:r>
            <a:endParaRPr lang="en-US" sz="1050" dirty="0"/>
          </a:p>
        </p:txBody>
      </p:sp>
      <p:sp>
        <p:nvSpPr>
          <p:cNvPr id="9" name="Text 7"/>
          <p:cNvSpPr/>
          <p:nvPr/>
        </p:nvSpPr>
        <p:spPr>
          <a:xfrm>
            <a:off x="822960" y="2249424"/>
            <a:ext cx="4882896" cy="402336"/>
          </a:xfrm>
          <a:prstGeom prst="rect">
            <a:avLst/>
          </a:prstGeom>
          <a:noFill/>
          <a:ln/>
        </p:spPr>
        <p:txBody>
          <a:bodyPr wrap="square" lIns="0" tIns="0" rIns="0" bIns="0" rtlCol="0" anchor="t"/>
          <a:lstStyle/>
          <a:p>
            <a:pPr indent="0" marL="0">
              <a:buNone/>
            </a:pPr>
            <a:r>
              <a:rPr lang="en-US" sz="1050" i="1" dirty="0">
                <a:solidFill>
                  <a:srgbClr val="9DB2C4"/>
                </a:solidFill>
                <a:latin typeface="Calibri" pitchFamily="34" charset="0"/>
                <a:ea typeface="Calibri" pitchFamily="34" charset="-122"/>
                <a:cs typeface="Calibri" pitchFamily="34" charset="-120"/>
              </a:rPr>
              <a:t>Aportan casi la mitad del beneficio. Son también las más dependientes del régimen actual.</a:t>
            </a:r>
            <a:endParaRPr lang="en-US" sz="1050" dirty="0"/>
          </a:p>
        </p:txBody>
      </p:sp>
      <p:sp>
        <p:nvSpPr>
          <p:cNvPr id="10" name="Text 8"/>
          <p:cNvSpPr/>
          <p:nvPr/>
        </p:nvSpPr>
        <p:spPr>
          <a:xfrm>
            <a:off x="822960" y="2724912"/>
            <a:ext cx="1737360" cy="310896"/>
          </a:xfrm>
          <a:prstGeom prst="rect">
            <a:avLst/>
          </a:prstGeom>
          <a:noFill/>
          <a:ln/>
        </p:spPr>
        <p:txBody>
          <a:bodyPr wrap="square" lIns="0" tIns="0" rIns="0" bIns="0" rtlCol="0" anchor="ctr"/>
          <a:lstStyle/>
          <a:p>
            <a:pPr indent="0" marL="0">
              <a:buNone/>
            </a:pPr>
            <a:r>
              <a:rPr lang="en-US" sz="1100" b="1" dirty="0">
                <a:solidFill>
                  <a:srgbClr val="F2F6FA"/>
                </a:solidFill>
                <a:latin typeface="Calibri" pitchFamily="34" charset="0"/>
                <a:ea typeface="Calibri" pitchFamily="34" charset="-122"/>
                <a:cs typeface="Calibri" pitchFamily="34" charset="-120"/>
              </a:rPr>
              <a:t>Overnight Drift</a:t>
            </a:r>
            <a:endParaRPr lang="en-US" sz="1100" dirty="0"/>
          </a:p>
        </p:txBody>
      </p:sp>
      <p:sp>
        <p:nvSpPr>
          <p:cNvPr id="11" name="Text 9"/>
          <p:cNvSpPr/>
          <p:nvPr/>
        </p:nvSpPr>
        <p:spPr>
          <a:xfrm>
            <a:off x="2596896" y="2724912"/>
            <a:ext cx="3108960" cy="310896"/>
          </a:xfrm>
          <a:prstGeom prst="rect">
            <a:avLst/>
          </a:prstGeom>
          <a:noFill/>
          <a:ln/>
        </p:spPr>
        <p:txBody>
          <a:bodyPr wrap="square" lIns="0" tIns="0" rIns="0" bIns="0" rtlCol="0" anchor="ctr"/>
          <a:lstStyle/>
          <a:p>
            <a:pPr indent="0" marL="0">
              <a:buNone/>
            </a:pPr>
            <a:r>
              <a:rPr lang="en-US" sz="900" dirty="0">
                <a:solidFill>
                  <a:srgbClr val="9DB2C4"/>
                </a:solidFill>
                <a:latin typeface="Consolas" pitchFamily="34" charset="0"/>
                <a:ea typeface="Consolas" pitchFamily="34" charset="-122"/>
                <a:cs typeface="Consolas" pitchFamily="34" charset="-120"/>
              </a:rPr>
              <a:t>$24.420 · 27,3 % del total · 2.076 operaciones</a:t>
            </a:r>
            <a:endParaRPr lang="en-US" sz="900" dirty="0"/>
          </a:p>
        </p:txBody>
      </p:sp>
      <p:sp>
        <p:nvSpPr>
          <p:cNvPr id="12" name="Text 10"/>
          <p:cNvSpPr/>
          <p:nvPr/>
        </p:nvSpPr>
        <p:spPr>
          <a:xfrm>
            <a:off x="822960" y="3090672"/>
            <a:ext cx="1737360" cy="310896"/>
          </a:xfrm>
          <a:prstGeom prst="rect">
            <a:avLst/>
          </a:prstGeom>
          <a:noFill/>
          <a:ln/>
        </p:spPr>
        <p:txBody>
          <a:bodyPr wrap="square" lIns="0" tIns="0" rIns="0" bIns="0" rtlCol="0" anchor="ctr"/>
          <a:lstStyle/>
          <a:p>
            <a:pPr indent="0" marL="0">
              <a:buNone/>
            </a:pPr>
            <a:r>
              <a:rPr lang="en-US" sz="1100" b="1" dirty="0">
                <a:solidFill>
                  <a:srgbClr val="F2F6FA"/>
                </a:solidFill>
                <a:latin typeface="Calibri" pitchFamily="34" charset="0"/>
                <a:ea typeface="Calibri" pitchFamily="34" charset="-122"/>
                <a:cs typeface="Calibri" pitchFamily="34" charset="-120"/>
              </a:rPr>
              <a:t>RSI2 Reversion</a:t>
            </a:r>
            <a:endParaRPr lang="en-US" sz="1100" dirty="0"/>
          </a:p>
        </p:txBody>
      </p:sp>
      <p:sp>
        <p:nvSpPr>
          <p:cNvPr id="13" name="Text 11"/>
          <p:cNvSpPr/>
          <p:nvPr/>
        </p:nvSpPr>
        <p:spPr>
          <a:xfrm>
            <a:off x="2596896" y="3090672"/>
            <a:ext cx="3108960" cy="310896"/>
          </a:xfrm>
          <a:prstGeom prst="rect">
            <a:avLst/>
          </a:prstGeom>
          <a:noFill/>
          <a:ln/>
        </p:spPr>
        <p:txBody>
          <a:bodyPr wrap="square" lIns="0" tIns="0" rIns="0" bIns="0" rtlCol="0" anchor="ctr"/>
          <a:lstStyle/>
          <a:p>
            <a:pPr indent="0" marL="0">
              <a:buNone/>
            </a:pPr>
            <a:r>
              <a:rPr lang="en-US" sz="900" dirty="0">
                <a:solidFill>
                  <a:srgbClr val="9DB2C4"/>
                </a:solidFill>
                <a:latin typeface="Consolas" pitchFamily="34" charset="0"/>
                <a:ea typeface="Consolas" pitchFamily="34" charset="-122"/>
                <a:cs typeface="Consolas" pitchFamily="34" charset="-120"/>
              </a:rPr>
              <a:t>$18.830 · el más caro de perder: −9,50 de ratio</a:t>
            </a:r>
            <a:endParaRPr lang="en-US" sz="900" dirty="0"/>
          </a:p>
        </p:txBody>
      </p:sp>
      <p:sp>
        <p:nvSpPr>
          <p:cNvPr id="14" name="Shape 12"/>
          <p:cNvSpPr/>
          <p:nvPr/>
        </p:nvSpPr>
        <p:spPr>
          <a:xfrm>
            <a:off x="6181344" y="1865376"/>
            <a:ext cx="5413248" cy="164592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5" name="Shape 13"/>
          <p:cNvSpPr/>
          <p:nvPr/>
        </p:nvSpPr>
        <p:spPr>
          <a:xfrm>
            <a:off x="6181344" y="1865376"/>
            <a:ext cx="64008" cy="1645920"/>
          </a:xfrm>
          <a:prstGeom prst="rect">
            <a:avLst/>
          </a:prstGeom>
          <a:solidFill>
            <a:srgbClr val="38BDF8"/>
          </a:solidFill>
          <a:ln w="12700">
            <a:solidFill>
              <a:srgbClr val="38BDF8"/>
            </a:solidFill>
            <a:prstDash val="solid"/>
          </a:ln>
        </p:spPr>
      </p:sp>
      <p:sp>
        <p:nvSpPr>
          <p:cNvPr id="16" name="Text 14"/>
          <p:cNvSpPr/>
          <p:nvPr/>
        </p:nvSpPr>
        <p:spPr>
          <a:xfrm>
            <a:off x="6437376" y="1993392"/>
            <a:ext cx="4206240" cy="237744"/>
          </a:xfrm>
          <a:prstGeom prst="rect">
            <a:avLst/>
          </a:prstGeom>
          <a:noFill/>
          <a:ln/>
        </p:spPr>
        <p:txBody>
          <a:bodyPr wrap="square" lIns="0" tIns="0" rIns="0" bIns="0" rtlCol="0" anchor="ctr"/>
          <a:lstStyle/>
          <a:p>
            <a:pPr indent="0" marL="0">
              <a:buNone/>
            </a:pPr>
            <a:r>
              <a:rPr lang="en-US" sz="1050" spc="160" kern="0" dirty="0">
                <a:solidFill>
                  <a:srgbClr val="38BDF8"/>
                </a:solidFill>
                <a:latin typeface="Consolas" pitchFamily="34" charset="0"/>
                <a:ea typeface="Consolas" pitchFamily="34" charset="-122"/>
                <a:cs typeface="Consolas" pitchFamily="34" charset="-120"/>
              </a:rPr>
              <a:t>SATÉLITES DE CRECIMIENTO</a:t>
            </a:r>
            <a:endParaRPr lang="en-US" sz="1050" dirty="0"/>
          </a:p>
        </p:txBody>
      </p:sp>
      <p:sp>
        <p:nvSpPr>
          <p:cNvPr id="17" name="Text 15"/>
          <p:cNvSpPr/>
          <p:nvPr/>
        </p:nvSpPr>
        <p:spPr>
          <a:xfrm>
            <a:off x="6437376" y="2249424"/>
            <a:ext cx="4882896" cy="402336"/>
          </a:xfrm>
          <a:prstGeom prst="rect">
            <a:avLst/>
          </a:prstGeom>
          <a:noFill/>
          <a:ln/>
        </p:spPr>
        <p:txBody>
          <a:bodyPr wrap="square" lIns="0" tIns="0" rIns="0" bIns="0" rtlCol="0" anchor="t"/>
          <a:lstStyle/>
          <a:p>
            <a:pPr indent="0" marL="0">
              <a:buNone/>
            </a:pPr>
            <a:r>
              <a:rPr lang="en-US" sz="1050" i="1" dirty="0">
                <a:solidFill>
                  <a:srgbClr val="9DB2C4"/>
                </a:solidFill>
                <a:latin typeface="Calibri" pitchFamily="34" charset="0"/>
                <a:ea typeface="Calibri" pitchFamily="34" charset="-122"/>
                <a:cs typeface="Calibri" pitchFamily="34" charset="-120"/>
              </a:rPr>
              <a:t>Aportan menos beneficio pero con caídas contenidas. Estabilizan la curva sin arriesgar mucho.</a:t>
            </a:r>
            <a:endParaRPr lang="en-US" sz="1050" dirty="0"/>
          </a:p>
        </p:txBody>
      </p:sp>
      <p:sp>
        <p:nvSpPr>
          <p:cNvPr id="18" name="Text 16"/>
          <p:cNvSpPr/>
          <p:nvPr/>
        </p:nvSpPr>
        <p:spPr>
          <a:xfrm>
            <a:off x="6437376" y="2724912"/>
            <a:ext cx="1737360" cy="310896"/>
          </a:xfrm>
          <a:prstGeom prst="rect">
            <a:avLst/>
          </a:prstGeom>
          <a:noFill/>
          <a:ln/>
        </p:spPr>
        <p:txBody>
          <a:bodyPr wrap="square" lIns="0" tIns="0" rIns="0" bIns="0" rtlCol="0" anchor="ctr"/>
          <a:lstStyle/>
          <a:p>
            <a:pPr indent="0" marL="0">
              <a:buNone/>
            </a:pPr>
            <a:r>
              <a:rPr lang="en-US" sz="1100" b="1" dirty="0">
                <a:solidFill>
                  <a:srgbClr val="F2F6FA"/>
                </a:solidFill>
                <a:latin typeface="Calibri" pitchFamily="34" charset="0"/>
                <a:ea typeface="Calibri" pitchFamily="34" charset="-122"/>
                <a:cs typeface="Calibri" pitchFamily="34" charset="-120"/>
              </a:rPr>
              <a:t>Weekend Effect</a:t>
            </a:r>
            <a:endParaRPr lang="en-US" sz="1100" dirty="0"/>
          </a:p>
        </p:txBody>
      </p:sp>
      <p:sp>
        <p:nvSpPr>
          <p:cNvPr id="19" name="Text 17"/>
          <p:cNvSpPr/>
          <p:nvPr/>
        </p:nvSpPr>
        <p:spPr>
          <a:xfrm>
            <a:off x="8211312" y="2724912"/>
            <a:ext cx="3108960" cy="310896"/>
          </a:xfrm>
          <a:prstGeom prst="rect">
            <a:avLst/>
          </a:prstGeom>
          <a:noFill/>
          <a:ln/>
        </p:spPr>
        <p:txBody>
          <a:bodyPr wrap="square" lIns="0" tIns="0" rIns="0" bIns="0" rtlCol="0" anchor="ctr"/>
          <a:lstStyle/>
          <a:p>
            <a:pPr indent="0" marL="0">
              <a:buNone/>
            </a:pPr>
            <a:r>
              <a:rPr lang="en-US" sz="900" dirty="0">
                <a:solidFill>
                  <a:srgbClr val="9DB2C4"/>
                </a:solidFill>
                <a:latin typeface="Consolas" pitchFamily="34" charset="0"/>
                <a:ea typeface="Consolas" pitchFamily="34" charset="-122"/>
                <a:cs typeface="Consolas" pitchFamily="34" charset="-120"/>
              </a:rPr>
              <a:t>$15.364 · segundo más caro de perder: −5,81</a:t>
            </a:r>
            <a:endParaRPr lang="en-US" sz="900" dirty="0"/>
          </a:p>
        </p:txBody>
      </p:sp>
      <p:sp>
        <p:nvSpPr>
          <p:cNvPr id="20" name="Text 18"/>
          <p:cNvSpPr/>
          <p:nvPr/>
        </p:nvSpPr>
        <p:spPr>
          <a:xfrm>
            <a:off x="6437376" y="3090672"/>
            <a:ext cx="1737360" cy="310896"/>
          </a:xfrm>
          <a:prstGeom prst="rect">
            <a:avLst/>
          </a:prstGeom>
          <a:noFill/>
          <a:ln/>
        </p:spPr>
        <p:txBody>
          <a:bodyPr wrap="square" lIns="0" tIns="0" rIns="0" bIns="0" rtlCol="0" anchor="ctr"/>
          <a:lstStyle/>
          <a:p>
            <a:pPr indent="0" marL="0">
              <a:buNone/>
            </a:pPr>
            <a:r>
              <a:rPr lang="en-US" sz="1100" b="1" dirty="0">
                <a:solidFill>
                  <a:srgbClr val="F2F6FA"/>
                </a:solidFill>
                <a:latin typeface="Calibri" pitchFamily="34" charset="0"/>
                <a:ea typeface="Calibri" pitchFamily="34" charset="-122"/>
                <a:cs typeface="Calibri" pitchFamily="34" charset="-120"/>
              </a:rPr>
              <a:t>Momentum de Apertura</a:t>
            </a:r>
            <a:endParaRPr lang="en-US" sz="1100" dirty="0"/>
          </a:p>
        </p:txBody>
      </p:sp>
      <p:sp>
        <p:nvSpPr>
          <p:cNvPr id="21" name="Text 19"/>
          <p:cNvSpPr/>
          <p:nvPr/>
        </p:nvSpPr>
        <p:spPr>
          <a:xfrm>
            <a:off x="8211312" y="3090672"/>
            <a:ext cx="3108960" cy="310896"/>
          </a:xfrm>
          <a:prstGeom prst="rect">
            <a:avLst/>
          </a:prstGeom>
          <a:noFill/>
          <a:ln/>
        </p:spPr>
        <p:txBody>
          <a:bodyPr wrap="square" lIns="0" tIns="0" rIns="0" bIns="0" rtlCol="0" anchor="ctr"/>
          <a:lstStyle/>
          <a:p>
            <a:pPr indent="0" marL="0">
              <a:buNone/>
            </a:pPr>
            <a:r>
              <a:rPr lang="en-US" sz="900" dirty="0">
                <a:solidFill>
                  <a:srgbClr val="9DB2C4"/>
                </a:solidFill>
                <a:latin typeface="Consolas" pitchFamily="34" charset="0"/>
                <a:ea typeface="Consolas" pitchFamily="34" charset="-122"/>
                <a:cs typeface="Consolas" pitchFamily="34" charset="-120"/>
              </a:rPr>
              <a:t>$6.369 · la menor caída de las seis: −$983</a:t>
            </a:r>
            <a:endParaRPr lang="en-US" sz="900" dirty="0"/>
          </a:p>
        </p:txBody>
      </p:sp>
      <p:sp>
        <p:nvSpPr>
          <p:cNvPr id="22" name="Shape 20"/>
          <p:cNvSpPr/>
          <p:nvPr/>
        </p:nvSpPr>
        <p:spPr>
          <a:xfrm>
            <a:off x="566928" y="3657600"/>
            <a:ext cx="5413248" cy="164592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23" name="Shape 21"/>
          <p:cNvSpPr/>
          <p:nvPr/>
        </p:nvSpPr>
        <p:spPr>
          <a:xfrm>
            <a:off x="566928" y="3657600"/>
            <a:ext cx="64008" cy="1645920"/>
          </a:xfrm>
          <a:prstGeom prst="rect">
            <a:avLst/>
          </a:prstGeom>
          <a:solidFill>
            <a:srgbClr val="E0A458"/>
          </a:solidFill>
          <a:ln w="12700">
            <a:solidFill>
              <a:srgbClr val="E0A458"/>
            </a:solidFill>
            <a:prstDash val="solid"/>
          </a:ln>
        </p:spPr>
      </p:sp>
      <p:sp>
        <p:nvSpPr>
          <p:cNvPr id="24" name="Text 22"/>
          <p:cNvSpPr/>
          <p:nvPr/>
        </p:nvSpPr>
        <p:spPr>
          <a:xfrm>
            <a:off x="822960" y="3785616"/>
            <a:ext cx="4206240" cy="237744"/>
          </a:xfrm>
          <a:prstGeom prst="rect">
            <a:avLst/>
          </a:prstGeom>
          <a:noFill/>
          <a:ln/>
        </p:spPr>
        <p:txBody>
          <a:bodyPr wrap="square" lIns="0" tIns="0" rIns="0" bIns="0" rtlCol="0" anchor="ctr"/>
          <a:lstStyle/>
          <a:p>
            <a:pPr indent="0" marL="0">
              <a:buNone/>
            </a:pPr>
            <a:r>
              <a:rPr lang="en-US" sz="1050" spc="160" kern="0" dirty="0">
                <a:solidFill>
                  <a:srgbClr val="E0A458"/>
                </a:solidFill>
                <a:latin typeface="Consolas" pitchFamily="34" charset="0"/>
                <a:ea typeface="Consolas" pitchFamily="34" charset="-122"/>
                <a:cs typeface="Consolas" pitchFamily="34" charset="-120"/>
              </a:rPr>
              <a:t>COBERTURA DE COLA</a:t>
            </a:r>
            <a:endParaRPr lang="en-US" sz="1050" dirty="0"/>
          </a:p>
        </p:txBody>
      </p:sp>
      <p:sp>
        <p:nvSpPr>
          <p:cNvPr id="25" name="Text 23"/>
          <p:cNvSpPr/>
          <p:nvPr/>
        </p:nvSpPr>
        <p:spPr>
          <a:xfrm>
            <a:off x="822960" y="4041648"/>
            <a:ext cx="4882896" cy="402336"/>
          </a:xfrm>
          <a:prstGeom prst="rect">
            <a:avLst/>
          </a:prstGeom>
          <a:noFill/>
          <a:ln/>
        </p:spPr>
        <p:txBody>
          <a:bodyPr wrap="square" lIns="0" tIns="0" rIns="0" bIns="0" rtlCol="0" anchor="t"/>
          <a:lstStyle/>
          <a:p>
            <a:pPr indent="0" marL="0">
              <a:buNone/>
            </a:pPr>
            <a:r>
              <a:rPr lang="en-US" sz="1050" i="1" dirty="0">
                <a:solidFill>
                  <a:srgbClr val="9DB2C4"/>
                </a:solidFill>
                <a:latin typeface="Calibri" pitchFamily="34" charset="0"/>
                <a:ea typeface="Calibri" pitchFamily="34" charset="-122"/>
                <a:cs typeface="Calibri" pitchFamily="34" charset="-120"/>
              </a:rPr>
              <a:t>Entra por descorrelación, no por rentabilidad. Es la que sostiene la cartera cuando el resto no funciona.</a:t>
            </a:r>
            <a:endParaRPr lang="en-US" sz="1050" dirty="0"/>
          </a:p>
        </p:txBody>
      </p:sp>
      <p:sp>
        <p:nvSpPr>
          <p:cNvPr id="26" name="Text 24"/>
          <p:cNvSpPr/>
          <p:nvPr/>
        </p:nvSpPr>
        <p:spPr>
          <a:xfrm>
            <a:off x="822960" y="4517136"/>
            <a:ext cx="1737360" cy="310896"/>
          </a:xfrm>
          <a:prstGeom prst="rect">
            <a:avLst/>
          </a:prstGeom>
          <a:noFill/>
          <a:ln/>
        </p:spPr>
        <p:txBody>
          <a:bodyPr wrap="square" lIns="0" tIns="0" rIns="0" bIns="0" rtlCol="0" anchor="ctr"/>
          <a:lstStyle/>
          <a:p>
            <a:pPr indent="0" marL="0">
              <a:buNone/>
            </a:pPr>
            <a:r>
              <a:rPr lang="en-US" sz="1100" b="1" dirty="0">
                <a:solidFill>
                  <a:srgbClr val="F2F6FA"/>
                </a:solidFill>
                <a:latin typeface="Calibri" pitchFamily="34" charset="0"/>
                <a:ea typeface="Calibri" pitchFamily="34" charset="-122"/>
                <a:cs typeface="Calibri" pitchFamily="34" charset="-120"/>
              </a:rPr>
              <a:t>ZigZag Breakout</a:t>
            </a:r>
            <a:endParaRPr lang="en-US" sz="1100" dirty="0"/>
          </a:p>
        </p:txBody>
      </p:sp>
      <p:sp>
        <p:nvSpPr>
          <p:cNvPr id="27" name="Text 25"/>
          <p:cNvSpPr/>
          <p:nvPr/>
        </p:nvSpPr>
        <p:spPr>
          <a:xfrm>
            <a:off x="2596896" y="4517136"/>
            <a:ext cx="3108960" cy="310896"/>
          </a:xfrm>
          <a:prstGeom prst="rect">
            <a:avLst/>
          </a:prstGeom>
          <a:noFill/>
          <a:ln/>
        </p:spPr>
        <p:txBody>
          <a:bodyPr wrap="square" lIns="0" tIns="0" rIns="0" bIns="0" rtlCol="0" anchor="ctr"/>
          <a:lstStyle/>
          <a:p>
            <a:pPr indent="0" marL="0">
              <a:buNone/>
            </a:pPr>
            <a:r>
              <a:rPr lang="en-US" sz="900" dirty="0">
                <a:solidFill>
                  <a:srgbClr val="9DB2C4"/>
                </a:solidFill>
                <a:latin typeface="Consolas" pitchFamily="34" charset="0"/>
                <a:ea typeface="Consolas" pitchFamily="34" charset="-122"/>
                <a:cs typeface="Consolas" pitchFamily="34" charset="-120"/>
              </a:rPr>
              <a:t>$18.047 · correlación negativa con TODAS en los peores días</a:t>
            </a:r>
            <a:endParaRPr lang="en-US" sz="900" dirty="0"/>
          </a:p>
        </p:txBody>
      </p:sp>
      <p:sp>
        <p:nvSpPr>
          <p:cNvPr id="28" name="Text 26"/>
          <p:cNvSpPr/>
          <p:nvPr/>
        </p:nvSpPr>
        <p:spPr>
          <a:xfrm>
            <a:off x="822960" y="4882896"/>
            <a:ext cx="1737360" cy="310896"/>
          </a:xfrm>
          <a:prstGeom prst="rect">
            <a:avLst/>
          </a:prstGeom>
          <a:noFill/>
          <a:ln/>
        </p:spPr>
        <p:txBody>
          <a:bodyPr wrap="square" lIns="0" tIns="0" rIns="0" bIns="0" rtlCol="0" anchor="ctr"/>
          <a:lstStyle/>
          <a:p>
            <a:pPr indent="0" marL="0">
              <a:buNone/>
            </a:pPr>
            <a:r>
              <a:rPr lang="en-US" sz="1100" b="1" dirty="0">
                <a:solidFill>
                  <a:srgbClr val="F2F6FA"/>
                </a:solidFill>
                <a:latin typeface="Calibri" pitchFamily="34" charset="0"/>
                <a:ea typeface="Calibri" pitchFamily="34" charset="-122"/>
                <a:cs typeface="Calibri" pitchFamily="34" charset="-120"/>
              </a:rPr>
              <a:t>Regla fija</a:t>
            </a:r>
            <a:endParaRPr lang="en-US" sz="1100" dirty="0"/>
          </a:p>
        </p:txBody>
      </p:sp>
      <p:sp>
        <p:nvSpPr>
          <p:cNvPr id="29" name="Text 27"/>
          <p:cNvSpPr/>
          <p:nvPr/>
        </p:nvSpPr>
        <p:spPr>
          <a:xfrm>
            <a:off x="2596896" y="4882896"/>
            <a:ext cx="3108960" cy="310896"/>
          </a:xfrm>
          <a:prstGeom prst="rect">
            <a:avLst/>
          </a:prstGeom>
          <a:noFill/>
          <a:ln/>
        </p:spPr>
        <p:txBody>
          <a:bodyPr wrap="square" lIns="0" tIns="0" rIns="0" bIns="0" rtlCol="0" anchor="ctr"/>
          <a:lstStyle/>
          <a:p>
            <a:pPr indent="0" marL="0">
              <a:buNone/>
            </a:pPr>
            <a:r>
              <a:rPr lang="en-US" sz="900" dirty="0">
                <a:solidFill>
                  <a:srgbClr val="9DB2C4"/>
                </a:solidFill>
                <a:latin typeface="Consolas" pitchFamily="34" charset="0"/>
                <a:ea typeface="Consolas" pitchFamily="34" charset="-122"/>
                <a:cs typeface="Consolas" pitchFamily="34" charset="-120"/>
              </a:rPr>
              <a:t>Nunca más de un contrato. Su valor es la cobertura, no el retorno</a:t>
            </a:r>
            <a:endParaRPr lang="en-US" sz="900" dirty="0"/>
          </a:p>
        </p:txBody>
      </p:sp>
      <p:sp>
        <p:nvSpPr>
          <p:cNvPr id="30" name="Shape 28"/>
          <p:cNvSpPr/>
          <p:nvPr/>
        </p:nvSpPr>
        <p:spPr>
          <a:xfrm>
            <a:off x="6181344" y="3657600"/>
            <a:ext cx="5413248" cy="1645920"/>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1" name="Shape 29"/>
          <p:cNvSpPr/>
          <p:nvPr/>
        </p:nvSpPr>
        <p:spPr>
          <a:xfrm>
            <a:off x="6181344" y="3657600"/>
            <a:ext cx="64008" cy="1645920"/>
          </a:xfrm>
          <a:prstGeom prst="rect">
            <a:avLst/>
          </a:prstGeom>
          <a:solidFill>
            <a:srgbClr val="8B8FF0"/>
          </a:solidFill>
          <a:ln w="12700">
            <a:solidFill>
              <a:srgbClr val="8B8FF0"/>
            </a:solidFill>
            <a:prstDash val="solid"/>
          </a:ln>
        </p:spPr>
      </p:sp>
      <p:sp>
        <p:nvSpPr>
          <p:cNvPr id="32" name="Text 30"/>
          <p:cNvSpPr/>
          <p:nvPr/>
        </p:nvSpPr>
        <p:spPr>
          <a:xfrm>
            <a:off x="6437376" y="3785616"/>
            <a:ext cx="4206240" cy="237744"/>
          </a:xfrm>
          <a:prstGeom prst="rect">
            <a:avLst/>
          </a:prstGeom>
          <a:noFill/>
          <a:ln/>
        </p:spPr>
        <p:txBody>
          <a:bodyPr wrap="square" lIns="0" tIns="0" rIns="0" bIns="0" rtlCol="0" anchor="ctr"/>
          <a:lstStyle/>
          <a:p>
            <a:pPr indent="0" marL="0">
              <a:buNone/>
            </a:pPr>
            <a:r>
              <a:rPr lang="en-US" sz="1050" spc="160" kern="0" dirty="0">
                <a:solidFill>
                  <a:srgbClr val="8B8FF0"/>
                </a:solidFill>
                <a:latin typeface="Consolas" pitchFamily="34" charset="0"/>
                <a:ea typeface="Consolas" pitchFamily="34" charset="-122"/>
                <a:cs typeface="Consolas" pitchFamily="34" charset="-120"/>
              </a:rPr>
              <a:t>AMORTIGUADOR DE RÉGIMEN</a:t>
            </a:r>
            <a:endParaRPr lang="en-US" sz="1050" dirty="0"/>
          </a:p>
        </p:txBody>
      </p:sp>
      <p:sp>
        <p:nvSpPr>
          <p:cNvPr id="33" name="Text 31"/>
          <p:cNvSpPr/>
          <p:nvPr/>
        </p:nvSpPr>
        <p:spPr>
          <a:xfrm>
            <a:off x="6437376" y="4041648"/>
            <a:ext cx="4882896" cy="402336"/>
          </a:xfrm>
          <a:prstGeom prst="rect">
            <a:avLst/>
          </a:prstGeom>
          <a:noFill/>
          <a:ln/>
        </p:spPr>
        <p:txBody>
          <a:bodyPr wrap="square" lIns="0" tIns="0" rIns="0" bIns="0" rtlCol="0" anchor="t"/>
          <a:lstStyle/>
          <a:p>
            <a:pPr indent="0" marL="0">
              <a:buNone/>
            </a:pPr>
            <a:r>
              <a:rPr lang="en-US" sz="1050" i="1" dirty="0">
                <a:solidFill>
                  <a:srgbClr val="9DB2C4"/>
                </a:solidFill>
                <a:latin typeface="Calibri" pitchFamily="34" charset="0"/>
                <a:ea typeface="Calibri" pitchFamily="34" charset="-122"/>
                <a:cs typeface="Calibri" pitchFamily="34" charset="-120"/>
              </a:rPr>
              <a:t>La menos dependiente del cambio de mercado de 2020, y diseñada para no solapar con nadie.</a:t>
            </a:r>
            <a:endParaRPr lang="en-US" sz="1050" dirty="0"/>
          </a:p>
        </p:txBody>
      </p:sp>
      <p:sp>
        <p:nvSpPr>
          <p:cNvPr id="34" name="Text 32"/>
          <p:cNvSpPr/>
          <p:nvPr/>
        </p:nvSpPr>
        <p:spPr>
          <a:xfrm>
            <a:off x="6437376" y="4517136"/>
            <a:ext cx="1737360" cy="310896"/>
          </a:xfrm>
          <a:prstGeom prst="rect">
            <a:avLst/>
          </a:prstGeom>
          <a:noFill/>
          <a:ln/>
        </p:spPr>
        <p:txBody>
          <a:bodyPr wrap="square" lIns="0" tIns="0" rIns="0" bIns="0" rtlCol="0" anchor="ctr"/>
          <a:lstStyle/>
          <a:p>
            <a:pPr indent="0" marL="0">
              <a:buNone/>
            </a:pPr>
            <a:r>
              <a:rPr lang="en-US" sz="1100" b="1" dirty="0">
                <a:solidFill>
                  <a:srgbClr val="F2F6FA"/>
                </a:solidFill>
                <a:latin typeface="Calibri" pitchFamily="34" charset="0"/>
                <a:ea typeface="Calibri" pitchFamily="34" charset="-122"/>
                <a:cs typeface="Calibri" pitchFamily="34" charset="-120"/>
              </a:rPr>
              <a:t>IBS Reversion</a:t>
            </a:r>
            <a:endParaRPr lang="en-US" sz="1100" dirty="0"/>
          </a:p>
        </p:txBody>
      </p:sp>
      <p:sp>
        <p:nvSpPr>
          <p:cNvPr id="35" name="Text 33"/>
          <p:cNvSpPr/>
          <p:nvPr/>
        </p:nvSpPr>
        <p:spPr>
          <a:xfrm>
            <a:off x="8211312" y="4517136"/>
            <a:ext cx="3108960" cy="310896"/>
          </a:xfrm>
          <a:prstGeom prst="rect">
            <a:avLst/>
          </a:prstGeom>
          <a:noFill/>
          <a:ln/>
        </p:spPr>
        <p:txBody>
          <a:bodyPr wrap="square" lIns="0" tIns="0" rIns="0" bIns="0" rtlCol="0" anchor="ctr"/>
          <a:lstStyle/>
          <a:p>
            <a:pPr indent="0" marL="0">
              <a:buNone/>
            </a:pPr>
            <a:r>
              <a:rPr lang="en-US" sz="900" dirty="0">
                <a:solidFill>
                  <a:srgbClr val="9DB2C4"/>
                </a:solidFill>
                <a:latin typeface="Consolas" pitchFamily="34" charset="0"/>
                <a:ea typeface="Consolas" pitchFamily="34" charset="-122"/>
                <a:cs typeface="Consolas" pitchFamily="34" charset="-120"/>
              </a:rPr>
              <a:t>$6.311 · el ratio de dependencia más bajo de los seis</a:t>
            </a:r>
            <a:endParaRPr lang="en-US" sz="900" dirty="0"/>
          </a:p>
        </p:txBody>
      </p:sp>
      <p:sp>
        <p:nvSpPr>
          <p:cNvPr id="36" name="Text 34"/>
          <p:cNvSpPr/>
          <p:nvPr/>
        </p:nvSpPr>
        <p:spPr>
          <a:xfrm>
            <a:off x="6437376" y="4882896"/>
            <a:ext cx="1737360" cy="310896"/>
          </a:xfrm>
          <a:prstGeom prst="rect">
            <a:avLst/>
          </a:prstGeom>
          <a:noFill/>
          <a:ln/>
        </p:spPr>
        <p:txBody>
          <a:bodyPr wrap="square" lIns="0" tIns="0" rIns="0" bIns="0" rtlCol="0" anchor="ctr"/>
          <a:lstStyle/>
          <a:p>
            <a:pPr indent="0" marL="0">
              <a:buNone/>
            </a:pPr>
            <a:r>
              <a:rPr lang="en-US" sz="1100" b="1" dirty="0">
                <a:solidFill>
                  <a:srgbClr val="F2F6FA"/>
                </a:solidFill>
                <a:latin typeface="Calibri" pitchFamily="34" charset="0"/>
                <a:ea typeface="Calibri" pitchFamily="34" charset="-122"/>
                <a:cs typeface="Calibri" pitchFamily="34" charset="-120"/>
              </a:rPr>
              <a:t>Diseño deliberado</a:t>
            </a:r>
            <a:endParaRPr lang="en-US" sz="1100" dirty="0"/>
          </a:p>
        </p:txBody>
      </p:sp>
      <p:sp>
        <p:nvSpPr>
          <p:cNvPr id="37" name="Text 35"/>
          <p:cNvSpPr/>
          <p:nvPr/>
        </p:nvSpPr>
        <p:spPr>
          <a:xfrm>
            <a:off x="8211312" y="4882896"/>
            <a:ext cx="3108960" cy="310896"/>
          </a:xfrm>
          <a:prstGeom prst="rect">
            <a:avLst/>
          </a:prstGeom>
          <a:noFill/>
          <a:ln/>
        </p:spPr>
        <p:txBody>
          <a:bodyPr wrap="square" lIns="0" tIns="0" rIns="0" bIns="0" rtlCol="0" anchor="ctr"/>
          <a:lstStyle/>
          <a:p>
            <a:pPr indent="0" marL="0">
              <a:buNone/>
            </a:pPr>
            <a:r>
              <a:rPr lang="en-US" sz="900" dirty="0">
                <a:solidFill>
                  <a:srgbClr val="9DB2C4"/>
                </a:solidFill>
                <a:latin typeface="Consolas" pitchFamily="34" charset="0"/>
                <a:ea typeface="Consolas" pitchFamily="34" charset="-122"/>
                <a:cs typeface="Consolas" pitchFamily="34" charset="-120"/>
              </a:rPr>
              <a:t>Correlación −0,038 con Overnight: se evitó el solape a propósito</a:t>
            </a:r>
            <a:endParaRPr lang="en-US" sz="900" dirty="0"/>
          </a:p>
        </p:txBody>
      </p:sp>
      <p:sp>
        <p:nvSpPr>
          <p:cNvPr id="38" name="Shape 36"/>
          <p:cNvSpPr/>
          <p:nvPr/>
        </p:nvSpPr>
        <p:spPr>
          <a:xfrm>
            <a:off x="566928" y="5413248"/>
            <a:ext cx="11027664" cy="566928"/>
          </a:xfrm>
          <a:prstGeom prst="rect">
            <a:avLst/>
          </a:prstGeom>
          <a:solidFill>
            <a:srgbClr val="12293B"/>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39" name="Shape 37"/>
          <p:cNvSpPr/>
          <p:nvPr/>
        </p:nvSpPr>
        <p:spPr>
          <a:xfrm>
            <a:off x="566928" y="5413248"/>
            <a:ext cx="64008" cy="566928"/>
          </a:xfrm>
          <a:prstGeom prst="rect">
            <a:avLst/>
          </a:prstGeom>
          <a:solidFill>
            <a:srgbClr val="F04438"/>
          </a:solidFill>
          <a:ln w="12700">
            <a:solidFill>
              <a:srgbClr val="F04438"/>
            </a:solidFill>
            <a:prstDash val="solid"/>
          </a:ln>
        </p:spPr>
      </p:sp>
      <p:sp>
        <p:nvSpPr>
          <p:cNvPr id="40" name="Text 38"/>
          <p:cNvSpPr/>
          <p:nvPr/>
        </p:nvSpPr>
        <p:spPr>
          <a:xfrm>
            <a:off x="841248" y="5413248"/>
            <a:ext cx="10515600" cy="566928"/>
          </a:xfrm>
          <a:prstGeom prst="rect">
            <a:avLst/>
          </a:prstGeom>
          <a:noFill/>
          <a:ln/>
        </p:spPr>
        <p:txBody>
          <a:bodyPr wrap="square" lIns="0" tIns="0" rIns="0" bIns="0" rtlCol="0" anchor="ctr"/>
          <a:lstStyle/>
          <a:p>
            <a:pPr indent="0" marL="0">
              <a:buNone/>
            </a:pPr>
            <a:r>
              <a:rPr lang="en-US" sz="1200" dirty="0">
                <a:solidFill>
                  <a:srgbClr val="9DB2C4"/>
                </a:solidFill>
                <a:latin typeface="Calibri" pitchFamily="34" charset="0"/>
                <a:ea typeface="Calibri" pitchFamily="34" charset="-122"/>
                <a:cs typeface="Calibri" pitchFamily="34" charset="-120"/>
              </a:rPr>
              <a:t>Ninguna es prescindible: quitar la que menos aporta ya cuesta 1,77 puntos de ratio beneficio-caída, y quitar el RSI2 cuesta 9,50.</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1E2C"/>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EL PORTAFOLIO</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30</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El riesgo que sí tiene esta cartera</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Cinco de las seis son estadísticamente nulas antes de julio de 2020 y fuertes después. Apuestan al mismo mundo.</a:t>
            </a:r>
            <a:endParaRPr lang="en-US" sz="1450" dirty="0"/>
          </a:p>
        </p:txBody>
      </p:sp>
      <p:graphicFrame>
        <p:nvGraphicFramePr>
          <p:cNvPr id="6" name="Chart 0" descr=""/>
          <p:cNvGraphicFramePr/>
          <p:nvPr/>
        </p:nvGraphicFramePr>
        <p:xfrm>
          <a:off x="566928" y="1956816"/>
          <a:ext cx="7315200" cy="2487168"/>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1024128" y="4480560"/>
            <a:ext cx="6583680" cy="274320"/>
          </a:xfrm>
          <a:prstGeom prst="rect">
            <a:avLst/>
          </a:prstGeom>
          <a:noFill/>
          <a:ln/>
        </p:spPr>
        <p:txBody>
          <a:bodyPr wrap="square" lIns="0" tIns="0" rIns="0" bIns="0" rtlCol="0" anchor="ctr"/>
          <a:lstStyle/>
          <a:p>
            <a:pPr indent="0" marL="0">
              <a:buNone/>
            </a:pPr>
            <a:r>
              <a:rPr lang="en-US" sz="1100" i="1" dirty="0">
                <a:solidFill>
                  <a:srgbClr val="6B8299"/>
                </a:solidFill>
                <a:latin typeface="Calibri" pitchFamily="34" charset="0"/>
                <a:ea typeface="Calibri" pitchFamily="34" charset="-122"/>
                <a:cs typeface="Calibri" pitchFamily="34" charset="-120"/>
              </a:rPr>
              <a:t>Los cinco primeros años y medio son prácticamente planos.</a:t>
            </a:r>
            <a:endParaRPr lang="en-US" sz="1100" dirty="0"/>
          </a:p>
        </p:txBody>
      </p:sp>
      <p:sp>
        <p:nvSpPr>
          <p:cNvPr id="8" name="Shape 5"/>
          <p:cNvSpPr/>
          <p:nvPr/>
        </p:nvSpPr>
        <p:spPr>
          <a:xfrm>
            <a:off x="8119872" y="1956816"/>
            <a:ext cx="3474720" cy="1188720"/>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9" name="Shape 6"/>
          <p:cNvSpPr/>
          <p:nvPr/>
        </p:nvSpPr>
        <p:spPr>
          <a:xfrm>
            <a:off x="8119872" y="1956816"/>
            <a:ext cx="64008" cy="1188720"/>
          </a:xfrm>
          <a:prstGeom prst="rect">
            <a:avLst/>
          </a:prstGeom>
          <a:solidFill>
            <a:srgbClr val="F04438"/>
          </a:solidFill>
          <a:ln w="12700">
            <a:solidFill>
              <a:srgbClr val="F04438"/>
            </a:solidFill>
            <a:prstDash val="solid"/>
          </a:ln>
        </p:spPr>
      </p:sp>
      <p:sp>
        <p:nvSpPr>
          <p:cNvPr id="10" name="Text 7"/>
          <p:cNvSpPr/>
          <p:nvPr/>
        </p:nvSpPr>
        <p:spPr>
          <a:xfrm>
            <a:off x="8357616" y="2084832"/>
            <a:ext cx="3017520" cy="237744"/>
          </a:xfrm>
          <a:prstGeom prst="rect">
            <a:avLst/>
          </a:prstGeom>
          <a:noFill/>
          <a:ln/>
        </p:spPr>
        <p:txBody>
          <a:bodyPr wrap="square" lIns="0" tIns="0" rIns="0" bIns="0" rtlCol="0" anchor="ctr"/>
          <a:lstStyle/>
          <a:p>
            <a:pPr indent="0" marL="0">
              <a:buNone/>
            </a:pPr>
            <a:r>
              <a:rPr lang="en-US" sz="1000" spc="160" kern="0" dirty="0">
                <a:solidFill>
                  <a:srgbClr val="F04438"/>
                </a:solidFill>
                <a:latin typeface="Consolas" pitchFamily="34" charset="0"/>
                <a:ea typeface="Consolas" pitchFamily="34" charset="-122"/>
                <a:cs typeface="Consolas" pitchFamily="34" charset="-120"/>
              </a:rPr>
              <a:t>2015 – JUNIO 2020</a:t>
            </a:r>
            <a:endParaRPr lang="en-US" sz="1000" dirty="0"/>
          </a:p>
        </p:txBody>
      </p:sp>
      <p:sp>
        <p:nvSpPr>
          <p:cNvPr id="11" name="Text 8"/>
          <p:cNvSpPr/>
          <p:nvPr/>
        </p:nvSpPr>
        <p:spPr>
          <a:xfrm>
            <a:off x="8339328" y="2359152"/>
            <a:ext cx="1371600" cy="566928"/>
          </a:xfrm>
          <a:prstGeom prst="rect">
            <a:avLst/>
          </a:prstGeom>
          <a:noFill/>
          <a:ln/>
        </p:spPr>
        <p:txBody>
          <a:bodyPr wrap="square" lIns="0" tIns="0" rIns="0" bIns="0" rtlCol="0" anchor="ctr"/>
          <a:lstStyle/>
          <a:p>
            <a:pPr indent="0" marL="0">
              <a:buNone/>
            </a:pPr>
            <a:r>
              <a:rPr lang="en-US" sz="2700" b="1" dirty="0">
                <a:solidFill>
                  <a:srgbClr val="F04438"/>
                </a:solidFill>
                <a:latin typeface="Consolas" pitchFamily="34" charset="0"/>
                <a:ea typeface="Consolas" pitchFamily="34" charset="-122"/>
                <a:cs typeface="Consolas" pitchFamily="34" charset="-120"/>
              </a:rPr>
              <a:t>2,82</a:t>
            </a:r>
            <a:endParaRPr lang="en-US" sz="2700" dirty="0"/>
          </a:p>
        </p:txBody>
      </p:sp>
      <p:sp>
        <p:nvSpPr>
          <p:cNvPr id="12" name="Text 9"/>
          <p:cNvSpPr/>
          <p:nvPr/>
        </p:nvSpPr>
        <p:spPr>
          <a:xfrm>
            <a:off x="9710928" y="2359152"/>
            <a:ext cx="1700784" cy="603504"/>
          </a:xfrm>
          <a:prstGeom prst="rect">
            <a:avLst/>
          </a:prstGeom>
          <a:noFill/>
          <a:ln/>
        </p:spPr>
        <p:txBody>
          <a:bodyPr wrap="square" lIns="0" tIns="0" rIns="0" bIns="0" rtlCol="0" anchor="ctr"/>
          <a:lstStyle/>
          <a:p>
            <a:pPr indent="0" marL="0">
              <a:lnSpc>
                <a:spcPct val="110000"/>
              </a:lnSpc>
              <a:buNone/>
            </a:pPr>
            <a:r>
              <a:rPr lang="en-US" sz="950" dirty="0">
                <a:solidFill>
                  <a:srgbClr val="9DB2C4"/>
                </a:solidFill>
                <a:latin typeface="Calibri" pitchFamily="34" charset="0"/>
                <a:ea typeface="Calibri" pitchFamily="34" charset="-122"/>
                <a:cs typeface="Calibri" pitchFamily="34" charset="-120"/>
              </a:rPr>
              <a:t>beneficio / caída</a:t>
            </a:r>
            <a:endParaRPr lang="en-US" sz="950" dirty="0"/>
          </a:p>
          <a:p>
            <a:pPr indent="0" marL="0">
              <a:lnSpc>
                <a:spcPct val="110000"/>
              </a:lnSpc>
              <a:buNone/>
            </a:pPr>
            <a:r>
              <a:rPr lang="en-US" sz="950" dirty="0">
                <a:solidFill>
                  <a:srgbClr val="9DB2C4"/>
                </a:solidFill>
                <a:latin typeface="Calibri" pitchFamily="34" charset="0"/>
                <a:ea typeface="Calibri" pitchFamily="34" charset="-122"/>
                <a:cs typeface="Calibri" pitchFamily="34" charset="-120"/>
              </a:rPr>
              <a:t>$11.568 con −$4.099</a:t>
            </a:r>
            <a:endParaRPr lang="en-US" sz="950" dirty="0"/>
          </a:p>
        </p:txBody>
      </p:sp>
      <p:sp>
        <p:nvSpPr>
          <p:cNvPr id="13" name="Shape 10"/>
          <p:cNvSpPr/>
          <p:nvPr/>
        </p:nvSpPr>
        <p:spPr>
          <a:xfrm>
            <a:off x="8119872" y="3255264"/>
            <a:ext cx="3474720" cy="1188720"/>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4" name="Shape 11"/>
          <p:cNvSpPr/>
          <p:nvPr/>
        </p:nvSpPr>
        <p:spPr>
          <a:xfrm>
            <a:off x="8119872" y="3255264"/>
            <a:ext cx="64008" cy="1188720"/>
          </a:xfrm>
          <a:prstGeom prst="rect">
            <a:avLst/>
          </a:prstGeom>
          <a:solidFill>
            <a:srgbClr val="10B981"/>
          </a:solidFill>
          <a:ln w="12700">
            <a:solidFill>
              <a:srgbClr val="10B981"/>
            </a:solidFill>
            <a:prstDash val="solid"/>
          </a:ln>
        </p:spPr>
      </p:sp>
      <p:sp>
        <p:nvSpPr>
          <p:cNvPr id="15" name="Text 12"/>
          <p:cNvSpPr/>
          <p:nvPr/>
        </p:nvSpPr>
        <p:spPr>
          <a:xfrm>
            <a:off x="8357616" y="3383280"/>
            <a:ext cx="3017520" cy="237744"/>
          </a:xfrm>
          <a:prstGeom prst="rect">
            <a:avLst/>
          </a:prstGeom>
          <a:noFill/>
          <a:ln/>
        </p:spPr>
        <p:txBody>
          <a:bodyPr wrap="square" lIns="0" tIns="0" rIns="0" bIns="0" rtlCol="0" anchor="ctr"/>
          <a:lstStyle/>
          <a:p>
            <a:pPr indent="0" marL="0">
              <a:buNone/>
            </a:pPr>
            <a:r>
              <a:rPr lang="en-US" sz="1000" spc="160" kern="0" dirty="0">
                <a:solidFill>
                  <a:srgbClr val="10B981"/>
                </a:solidFill>
                <a:latin typeface="Consolas" pitchFamily="34" charset="0"/>
                <a:ea typeface="Consolas" pitchFamily="34" charset="-122"/>
                <a:cs typeface="Consolas" pitchFamily="34" charset="-120"/>
              </a:rPr>
              <a:t>JULIO 2020 – HOY</a:t>
            </a:r>
            <a:endParaRPr lang="en-US" sz="1000" dirty="0"/>
          </a:p>
        </p:txBody>
      </p:sp>
      <p:sp>
        <p:nvSpPr>
          <p:cNvPr id="16" name="Text 13"/>
          <p:cNvSpPr/>
          <p:nvPr/>
        </p:nvSpPr>
        <p:spPr>
          <a:xfrm>
            <a:off x="8339328" y="3657600"/>
            <a:ext cx="1371600" cy="566928"/>
          </a:xfrm>
          <a:prstGeom prst="rect">
            <a:avLst/>
          </a:prstGeom>
          <a:noFill/>
          <a:ln/>
        </p:spPr>
        <p:txBody>
          <a:bodyPr wrap="square" lIns="0" tIns="0" rIns="0" bIns="0" rtlCol="0" anchor="ctr"/>
          <a:lstStyle/>
          <a:p>
            <a:pPr indent="0" marL="0">
              <a:buNone/>
            </a:pPr>
            <a:r>
              <a:rPr lang="en-US" sz="2700" b="1" dirty="0">
                <a:solidFill>
                  <a:srgbClr val="10B981"/>
                </a:solidFill>
                <a:latin typeface="Consolas" pitchFamily="34" charset="0"/>
                <a:ea typeface="Consolas" pitchFamily="34" charset="-122"/>
                <a:cs typeface="Consolas" pitchFamily="34" charset="-120"/>
              </a:rPr>
              <a:t>19,19</a:t>
            </a:r>
            <a:endParaRPr lang="en-US" sz="2700" dirty="0"/>
          </a:p>
        </p:txBody>
      </p:sp>
      <p:sp>
        <p:nvSpPr>
          <p:cNvPr id="17" name="Text 14"/>
          <p:cNvSpPr/>
          <p:nvPr/>
        </p:nvSpPr>
        <p:spPr>
          <a:xfrm>
            <a:off x="9710928" y="3657600"/>
            <a:ext cx="1700784" cy="603504"/>
          </a:xfrm>
          <a:prstGeom prst="rect">
            <a:avLst/>
          </a:prstGeom>
          <a:noFill/>
          <a:ln/>
        </p:spPr>
        <p:txBody>
          <a:bodyPr wrap="square" lIns="0" tIns="0" rIns="0" bIns="0" rtlCol="0" anchor="ctr"/>
          <a:lstStyle/>
          <a:p>
            <a:pPr indent="0" marL="0">
              <a:lnSpc>
                <a:spcPct val="110000"/>
              </a:lnSpc>
              <a:buNone/>
            </a:pPr>
            <a:r>
              <a:rPr lang="en-US" sz="950" dirty="0">
                <a:solidFill>
                  <a:srgbClr val="9DB2C4"/>
                </a:solidFill>
                <a:latin typeface="Calibri" pitchFamily="34" charset="0"/>
                <a:ea typeface="Calibri" pitchFamily="34" charset="-122"/>
                <a:cs typeface="Calibri" pitchFamily="34" charset="-120"/>
              </a:rPr>
              <a:t>beneficio / caída</a:t>
            </a:r>
            <a:endParaRPr lang="en-US" sz="950" dirty="0"/>
          </a:p>
          <a:p>
            <a:pPr indent="0" marL="0">
              <a:lnSpc>
                <a:spcPct val="110000"/>
              </a:lnSpc>
              <a:buNone/>
            </a:pPr>
            <a:r>
              <a:rPr lang="en-US" sz="950" dirty="0">
                <a:solidFill>
                  <a:srgbClr val="9DB2C4"/>
                </a:solidFill>
                <a:latin typeface="Calibri" pitchFamily="34" charset="0"/>
                <a:ea typeface="Calibri" pitchFamily="34" charset="-122"/>
                <a:cs typeface="Calibri" pitchFamily="34" charset="-120"/>
              </a:rPr>
              <a:t>$77.772 con −$4.052</a:t>
            </a:r>
            <a:endParaRPr lang="en-US" sz="950" dirty="0"/>
          </a:p>
        </p:txBody>
      </p:sp>
      <p:sp>
        <p:nvSpPr>
          <p:cNvPr id="18" name="Shape 15"/>
          <p:cNvSpPr/>
          <p:nvPr/>
        </p:nvSpPr>
        <p:spPr>
          <a:xfrm>
            <a:off x="566928" y="4901184"/>
            <a:ext cx="11027664" cy="969264"/>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9" name="Shape 16"/>
          <p:cNvSpPr/>
          <p:nvPr/>
        </p:nvSpPr>
        <p:spPr>
          <a:xfrm>
            <a:off x="566928" y="4901184"/>
            <a:ext cx="64008" cy="969264"/>
          </a:xfrm>
          <a:prstGeom prst="rect">
            <a:avLst/>
          </a:prstGeom>
          <a:solidFill>
            <a:srgbClr val="E0A458"/>
          </a:solidFill>
          <a:ln w="12700">
            <a:solidFill>
              <a:srgbClr val="E0A458"/>
            </a:solidFill>
            <a:prstDash val="solid"/>
          </a:ln>
        </p:spPr>
      </p:sp>
      <p:sp>
        <p:nvSpPr>
          <p:cNvPr id="20" name="Text 17"/>
          <p:cNvSpPr/>
          <p:nvPr/>
        </p:nvSpPr>
        <p:spPr>
          <a:xfrm>
            <a:off x="841248" y="4901184"/>
            <a:ext cx="10515600" cy="969264"/>
          </a:xfrm>
          <a:prstGeom prst="rect">
            <a:avLst/>
          </a:prstGeom>
          <a:noFill/>
          <a:ln/>
        </p:spPr>
        <p:txBody>
          <a:bodyPr wrap="square" lIns="0" tIns="0" rIns="0" bIns="0" rtlCol="0" anchor="ctr"/>
          <a:lstStyle/>
          <a:p>
            <a:pPr indent="0" marL="0">
              <a:lnSpc>
                <a:spcPct val="112000"/>
              </a:lnSpc>
              <a:buNone/>
            </a:pPr>
            <a:r>
              <a:rPr lang="en-US" sz="1250" b="1" dirty="0">
                <a:solidFill>
                  <a:srgbClr val="E0A458"/>
                </a:solidFill>
                <a:latin typeface="Calibri" pitchFamily="34" charset="0"/>
                <a:ea typeface="Calibri" pitchFamily="34" charset="-122"/>
                <a:cs typeface="Calibri" pitchFamily="34" charset="-120"/>
              </a:rPr>
              <a:t>Lo tranquilizador dentro de lo incómodo:  </a:t>
            </a:r>
            <a:pPr indent="0" marL="0">
              <a:lnSpc>
                <a:spcPct val="112000"/>
              </a:lnSpc>
              <a:buNone/>
            </a:pPr>
            <a:r>
              <a:rPr lang="en-US" sz="1250" dirty="0">
                <a:solidFill>
                  <a:srgbClr val="9DB2C4"/>
                </a:solidFill>
                <a:latin typeface="Calibri" pitchFamily="34" charset="0"/>
                <a:ea typeface="Calibri" pitchFamily="34" charset="-122"/>
                <a:cs typeface="Calibri" pitchFamily="34" charset="-120"/>
              </a:rPr>
              <a:t>la peor caída de todo el registro pertenece al régimen antiguo. Es decir, el peor caso que hemos medido YA ES el escenario «desaparece el factor común». No sería una catástrofe: serían varios años ganando poco mientras se soporta esa caída.</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71522"/>
        </a:solidFill>
      </p:bgPr>
    </p:bg>
    <p:spTree>
      <p:nvGrpSpPr>
        <p:cNvPr id="1" name=""/>
        <p:cNvGrpSpPr/>
        <p:nvPr/>
      </p:nvGrpSpPr>
      <p:grpSpPr>
        <a:xfrm>
          <a:off x="0" y="0"/>
          <a:ext cx="0" cy="0"/>
          <a:chOff x="0" y="0"/>
          <a:chExt cx="0" cy="0"/>
        </a:xfrm>
      </p:grpSpPr>
      <p:sp>
        <p:nvSpPr>
          <p:cNvPr id="2" name="Text 0"/>
          <p:cNvSpPr/>
          <p:nvPr/>
        </p:nvSpPr>
        <p:spPr>
          <a:xfrm>
            <a:off x="566928" y="6382512"/>
            <a:ext cx="5486400" cy="274320"/>
          </a:xfrm>
          <a:prstGeom prst="rect">
            <a:avLst/>
          </a:prstGeom>
          <a:noFill/>
          <a:ln/>
        </p:spPr>
        <p:txBody>
          <a:bodyPr wrap="square" lIns="0" tIns="0" rIns="0" bIns="0" rtlCol="0" anchor="ctr"/>
          <a:lstStyle/>
          <a:p>
            <a:pPr indent="0" marL="0">
              <a:buNone/>
            </a:pPr>
            <a:r>
              <a:rPr lang="en-US" sz="900" spc="200" kern="0" dirty="0">
                <a:solidFill>
                  <a:srgbClr val="6B8299"/>
                </a:solidFill>
                <a:latin typeface="Consolas" pitchFamily="34" charset="0"/>
                <a:ea typeface="Consolas" pitchFamily="34" charset="-122"/>
                <a:cs typeface="Consolas" pitchFamily="34" charset="-120"/>
              </a:rPr>
              <a:t>CIERRE</a:t>
            </a:r>
            <a:endParaRPr lang="en-US" sz="900" dirty="0"/>
          </a:p>
        </p:txBody>
      </p:sp>
      <p:sp>
        <p:nvSpPr>
          <p:cNvPr id="3" name="Text 1"/>
          <p:cNvSpPr/>
          <p:nvPr/>
        </p:nvSpPr>
        <p:spPr>
          <a:xfrm>
            <a:off x="10527487" y="6382512"/>
            <a:ext cx="1097280" cy="274320"/>
          </a:xfrm>
          <a:prstGeom prst="rect">
            <a:avLst/>
          </a:prstGeom>
          <a:noFill/>
          <a:ln/>
        </p:spPr>
        <p:txBody>
          <a:bodyPr wrap="square" lIns="0" tIns="0" rIns="0" bIns="0" rtlCol="0" anchor="ctr"/>
          <a:lstStyle/>
          <a:p>
            <a:pPr algn="r" indent="0" marL="0">
              <a:buNone/>
            </a:pPr>
            <a:r>
              <a:rPr lang="en-US" sz="900" dirty="0">
                <a:solidFill>
                  <a:srgbClr val="6B8299"/>
                </a:solidFill>
                <a:latin typeface="Consolas" pitchFamily="34" charset="0"/>
                <a:ea typeface="Consolas" pitchFamily="34" charset="-122"/>
                <a:cs typeface="Consolas" pitchFamily="34" charset="-120"/>
              </a:rPr>
              <a:t>31</a:t>
            </a:r>
            <a:endParaRPr lang="en-US" sz="900" dirty="0"/>
          </a:p>
        </p:txBody>
      </p:sp>
      <p:sp>
        <p:nvSpPr>
          <p:cNvPr id="4" name="Text 2"/>
          <p:cNvSpPr/>
          <p:nvPr/>
        </p:nvSpPr>
        <p:spPr>
          <a:xfrm>
            <a:off x="566928" y="475488"/>
            <a:ext cx="11057839" cy="621792"/>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Cómo se dimensiona y en qué punto estamos</a:t>
            </a:r>
            <a:endParaRPr lang="en-US" sz="3000" dirty="0"/>
          </a:p>
        </p:txBody>
      </p:sp>
      <p:sp>
        <p:nvSpPr>
          <p:cNvPr id="5" name="Text 3"/>
          <p:cNvSpPr/>
          <p:nvPr/>
        </p:nvSpPr>
        <p:spPr>
          <a:xfrm>
            <a:off x="566928" y="1115568"/>
            <a:ext cx="10692079" cy="420624"/>
          </a:xfrm>
          <a:prstGeom prst="rect">
            <a:avLst/>
          </a:prstGeom>
          <a:noFill/>
          <a:ln/>
        </p:spPr>
        <p:txBody>
          <a:bodyPr wrap="square" lIns="0" tIns="0" rIns="0" bIns="0" rtlCol="0" anchor="t"/>
          <a:lstStyle/>
          <a:p>
            <a:pPr indent="0" marL="0">
              <a:buNone/>
            </a:pPr>
            <a:r>
              <a:rPr lang="en-US" sz="1450" dirty="0">
                <a:solidFill>
                  <a:srgbClr val="9DB2C4"/>
                </a:solidFill>
                <a:latin typeface="Calibri" pitchFamily="34" charset="0"/>
                <a:ea typeface="Calibri" pitchFamily="34" charset="-122"/>
                <a:cs typeface="Calibri" pitchFamily="34" charset="-120"/>
              </a:rPr>
              <a:t>La recomendación es la más conservadora de las cuatro posibles.</a:t>
            </a:r>
            <a:endParaRPr lang="en-US" sz="14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883664"/>
          <a:ext cx="6766560" cy="914400"/>
        </p:xfrm>
        <a:graphic>
          <a:graphicData uri="http://schemas.openxmlformats.org/drawingml/2006/table">
            <a:tbl>
              <a:tblPr/>
              <a:tblGrid>
                <a:gridCol w="2103120"/>
                <a:gridCol w="1600200"/>
                <a:gridCol w="1508760"/>
                <a:gridCol w="1554480"/>
              </a:tblGrid>
              <a:tr h="329184">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Tamaño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00" b="1" dirty="0">
                          <a:solidFill>
                            <a:srgbClr val="F2F6FA"/>
                          </a:solidFill>
                          <a:latin typeface="Calibri" pitchFamily="34" charset="0"/>
                          <a:ea typeface="Calibri" pitchFamily="34" charset="-122"/>
                          <a:cs typeface="Calibri" pitchFamily="34" charset="-120"/>
                        </a:rPr>
                        <a:t>Caída esperada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00" b="1" dirty="0">
                          <a:solidFill>
                            <a:srgbClr val="F2F6FA"/>
                          </a:solidFill>
                          <a:latin typeface="Calibri" pitchFamily="34" charset="0"/>
                          <a:ea typeface="Calibri" pitchFamily="34" charset="-122"/>
                          <a:cs typeface="Calibri" pitchFamily="34" charset="-120"/>
                        </a:rPr>
                        <a:t>% de la cuenta</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c>
                  <a:txBody>
                    <a:bodyPr/>
                    <a:lstStyle/>
                    <a:p>
                      <a:pPr algn="r" indent="0" marL="0">
                        <a:buNone/>
                      </a:pPr>
                      <a:r>
                        <a:rPr lang="en-US" sz="1100" b="1" dirty="0">
                          <a:solidFill>
                            <a:srgbClr val="F2F6FA"/>
                          </a:solidFill>
                          <a:latin typeface="Calibri" pitchFamily="34" charset="0"/>
                          <a:ea typeface="Calibri" pitchFamily="34" charset="-122"/>
                          <a:cs typeface="Calibri" pitchFamily="34" charset="-120"/>
                        </a:rPr>
                        <a:t>$/año histórico</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03D66"/>
                    </a:solidFill>
                  </a:tcPr>
                </a:tc>
              </a:tr>
              <a:tr h="329184">
                <a:tc>
                  <a:txBody>
                    <a:bodyPr/>
                    <a:lstStyle/>
                    <a:p>
                      <a:pPr algn="l" indent="0" marL="0">
                        <a:buNone/>
                      </a:pPr>
                      <a:r>
                        <a:rPr lang="en-US" sz="1100" b="1" dirty="0">
                          <a:solidFill>
                            <a:srgbClr val="F2F6FA"/>
                          </a:solidFill>
                          <a:latin typeface="Calibri" pitchFamily="34" charset="0"/>
                          <a:ea typeface="Calibri" pitchFamily="34" charset="-122"/>
                          <a:cs typeface="Calibri" pitchFamily="34" charset="-120"/>
                        </a:rPr>
                        <a:t>1 contrato por bot</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b="1" dirty="0">
                          <a:solidFill>
                            <a:srgbClr val="10B981"/>
                          </a:solidFill>
                          <a:latin typeface="Consolas" pitchFamily="34" charset="0"/>
                          <a:ea typeface="Consolas" pitchFamily="34" charset="-122"/>
                          <a:cs typeface="Consolas" pitchFamily="34" charset="-120"/>
                        </a:rPr>
                        <a:t>−$4.099</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b="1" dirty="0">
                          <a:solidFill>
                            <a:srgbClr val="10B981"/>
                          </a:solidFill>
                          <a:latin typeface="Consolas" pitchFamily="34" charset="0"/>
                          <a:ea typeface="Consolas" pitchFamily="34" charset="-122"/>
                          <a:cs typeface="Consolas" pitchFamily="34" charset="-120"/>
                        </a:rPr>
                        <a:t>8,2 %</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b="1" dirty="0">
                          <a:solidFill>
                            <a:srgbClr val="10B981"/>
                          </a:solidFill>
                          <a:latin typeface="Consolas" pitchFamily="34" charset="0"/>
                          <a:ea typeface="Consolas" pitchFamily="34" charset="-122"/>
                          <a:cs typeface="Consolas" pitchFamily="34" charset="-120"/>
                        </a:rPr>
                        <a:t>$7.714</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29184">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2 contratos por bot</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−$8.198</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16,4 %</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$15.428</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r h="329184">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3 contratos por bot</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−$12.297</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24,6 %</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$23.142</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12293B"/>
                    </a:solidFill>
                  </a:tcPr>
                </a:tc>
              </a:tr>
              <a:tr h="329184">
                <a:tc>
                  <a:txBody>
                    <a:bodyPr/>
                    <a:lstStyle/>
                    <a:p>
                      <a:pPr algn="l" indent="0" marL="0">
                        <a:buNone/>
                      </a:pPr>
                      <a:r>
                        <a:rPr lang="en-US" sz="1100" dirty="0">
                          <a:solidFill>
                            <a:srgbClr val="F2F6FA"/>
                          </a:solidFill>
                          <a:latin typeface="Calibri" pitchFamily="34" charset="0"/>
                          <a:ea typeface="Calibri" pitchFamily="34" charset="-122"/>
                          <a:cs typeface="Calibri" pitchFamily="34" charset="-120"/>
                        </a:rPr>
                        <a:t>4 contratos por bot</a:t>
                      </a:r>
                      <a:endParaRPr lang="en-US" sz="1100" dirty="0">
                        <a:latin typeface="Calibri" charset="0"/>
                        <a:ea typeface="Calibri" charset="0"/>
                        <a:cs typeface="Calibri"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−$16.396</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32,8 %</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c>
                  <a:txBody>
                    <a:bodyPr/>
                    <a:lstStyle/>
                    <a:p>
                      <a:pPr algn="r" indent="0" marL="0">
                        <a:buNone/>
                      </a:pPr>
                      <a:r>
                        <a:rPr lang="en-US" sz="1100" dirty="0">
                          <a:solidFill>
                            <a:srgbClr val="9DB2C4"/>
                          </a:solidFill>
                          <a:latin typeface="Consolas" pitchFamily="34" charset="0"/>
                          <a:ea typeface="Consolas" pitchFamily="34" charset="-122"/>
                          <a:cs typeface="Consolas" pitchFamily="34" charset="-120"/>
                        </a:rPr>
                        <a:t>$30.856</a:t>
                      </a:r>
                      <a:endParaRPr lang="en-US" sz="1100" dirty="0">
                        <a:latin typeface="Consolas" charset="0"/>
                        <a:ea typeface="Consolas" charset="0"/>
                        <a:cs typeface="Consolas" charset="0"/>
                      </a:endParaRPr>
                    </a:p>
                  </a:txBody>
                  <a:tcPr marL="101600" marR="101600" marT="38100" marB="38100" anchor="ctr">
                    <a:lnL w="6350" cap="flat" cmpd="sng" algn="ctr">
                      <a:solidFill>
                        <a:srgbClr val="24405A"/>
                      </a:solidFill>
                      <a:prstDash val="solid"/>
                      <a:round/>
                      <a:headEnd type="none" w="med" len="med"/>
                      <a:tailEnd type="none" w="med" len="med"/>
                    </a:lnL>
                    <a:lnR w="6350" cap="flat" cmpd="sng" algn="ctr">
                      <a:solidFill>
                        <a:srgbClr val="24405A"/>
                      </a:solidFill>
                      <a:prstDash val="solid"/>
                      <a:round/>
                      <a:headEnd type="none" w="med" len="med"/>
                      <a:tailEnd type="none" w="med" len="med"/>
                    </a:lnR>
                    <a:lnT w="6350" cap="flat" cmpd="sng" algn="ctr">
                      <a:solidFill>
                        <a:srgbClr val="24405A"/>
                      </a:solidFill>
                      <a:prstDash val="solid"/>
                      <a:round/>
                      <a:headEnd type="none" w="med" len="med"/>
                      <a:tailEnd type="none" w="med" len="med"/>
                    </a:lnT>
                    <a:lnB w="6350" cap="flat" cmpd="sng" algn="ctr">
                      <a:solidFill>
                        <a:srgbClr val="24405A"/>
                      </a:solidFill>
                      <a:prstDash val="solid"/>
                      <a:round/>
                      <a:headEnd type="none" w="med" len="med"/>
                      <a:tailEnd type="none" w="med" len="med"/>
                    </a:lnB>
                    <a:solidFill>
                      <a:srgbClr val="0C1E2C"/>
                    </a:solidFill>
                  </a:tcPr>
                </a:tc>
              </a:tr>
            </a:tbl>
          </a:graphicData>
        </a:graphic>
      </p:graphicFrame>
      <p:sp>
        <p:nvSpPr>
          <p:cNvPr id="7" name="Shape 4"/>
          <p:cNvSpPr/>
          <p:nvPr/>
        </p:nvSpPr>
        <p:spPr>
          <a:xfrm>
            <a:off x="566928" y="3712464"/>
            <a:ext cx="6766560" cy="987552"/>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8" name="Shape 5"/>
          <p:cNvSpPr/>
          <p:nvPr/>
        </p:nvSpPr>
        <p:spPr>
          <a:xfrm>
            <a:off x="566928" y="3712464"/>
            <a:ext cx="64008" cy="987552"/>
          </a:xfrm>
          <a:prstGeom prst="rect">
            <a:avLst/>
          </a:prstGeom>
          <a:solidFill>
            <a:srgbClr val="E0A458"/>
          </a:solidFill>
          <a:ln w="12700">
            <a:solidFill>
              <a:srgbClr val="E0A458"/>
            </a:solidFill>
            <a:prstDash val="solid"/>
          </a:ln>
        </p:spPr>
      </p:sp>
      <p:sp>
        <p:nvSpPr>
          <p:cNvPr id="9" name="Text 6"/>
          <p:cNvSpPr/>
          <p:nvPr/>
        </p:nvSpPr>
        <p:spPr>
          <a:xfrm>
            <a:off x="841248" y="3840480"/>
            <a:ext cx="6217920" cy="237744"/>
          </a:xfrm>
          <a:prstGeom prst="rect">
            <a:avLst/>
          </a:prstGeom>
          <a:noFill/>
          <a:ln/>
        </p:spPr>
        <p:txBody>
          <a:bodyPr wrap="square" lIns="0" tIns="0" rIns="0" bIns="0" rtlCol="0" anchor="ctr"/>
          <a:lstStyle/>
          <a:p>
            <a:pPr indent="0" marL="0">
              <a:buNone/>
            </a:pPr>
            <a:r>
              <a:rPr lang="en-US" sz="1050" spc="160" kern="0" dirty="0">
                <a:solidFill>
                  <a:srgbClr val="E0A458"/>
                </a:solidFill>
                <a:latin typeface="Consolas" pitchFamily="34" charset="0"/>
                <a:ea typeface="Consolas" pitchFamily="34" charset="-122"/>
                <a:cs typeface="Consolas" pitchFamily="34" charset="-120"/>
              </a:rPr>
              <a:t>CON QUÉ CIFRA PLANIFICAR</a:t>
            </a:r>
            <a:endParaRPr lang="en-US" sz="1050" dirty="0"/>
          </a:p>
        </p:txBody>
      </p:sp>
      <p:sp>
        <p:nvSpPr>
          <p:cNvPr id="10" name="Text 7"/>
          <p:cNvSpPr/>
          <p:nvPr/>
        </p:nvSpPr>
        <p:spPr>
          <a:xfrm>
            <a:off x="841248" y="4096512"/>
            <a:ext cx="6254496" cy="566928"/>
          </a:xfrm>
          <a:prstGeom prst="rect">
            <a:avLst/>
          </a:prstGeom>
          <a:noFill/>
          <a:ln/>
        </p:spPr>
        <p:txBody>
          <a:bodyPr wrap="square" lIns="0" tIns="0" rIns="0" bIns="0" rtlCol="0" anchor="t"/>
          <a:lstStyle/>
          <a:p>
            <a:pPr algn="l" indent="0" marL="0">
              <a:lnSpc>
                <a:spcPct val="118000"/>
              </a:lnSpc>
              <a:buNone/>
            </a:pPr>
            <a:r>
              <a:rPr lang="en-US" sz="1100" dirty="0">
                <a:solidFill>
                  <a:srgbClr val="9DB2C4"/>
                </a:solidFill>
                <a:latin typeface="Calibri" pitchFamily="34" charset="0"/>
                <a:ea typeface="Calibri" pitchFamily="34" charset="-122"/>
                <a:cs typeface="Calibri" pitchFamily="34" charset="-120"/>
              </a:rPr>
              <a:t>Con $7.714 al año, la media de los 11,6 años que incluye ambos regímenes. No con los $12.710 del régimen actual. Y hay que estar preparado para $2.118 durante varios años seguidos.</a:t>
            </a:r>
            <a:endParaRPr lang="en-US" sz="1100" dirty="0"/>
          </a:p>
        </p:txBody>
      </p:sp>
      <p:sp>
        <p:nvSpPr>
          <p:cNvPr id="11" name="Text 8"/>
          <p:cNvSpPr/>
          <p:nvPr/>
        </p:nvSpPr>
        <p:spPr>
          <a:xfrm>
            <a:off x="566928" y="4864608"/>
            <a:ext cx="5486400" cy="237744"/>
          </a:xfrm>
          <a:prstGeom prst="rect">
            <a:avLst/>
          </a:prstGeom>
          <a:noFill/>
          <a:ln/>
        </p:spPr>
        <p:txBody>
          <a:bodyPr wrap="square" lIns="0" tIns="0" rIns="0" bIns="0" rtlCol="0" anchor="ctr"/>
          <a:lstStyle/>
          <a:p>
            <a:pPr indent="0" marL="0">
              <a:buNone/>
            </a:pPr>
            <a:r>
              <a:rPr lang="en-US" sz="1050" spc="160" kern="0" dirty="0">
                <a:solidFill>
                  <a:srgbClr val="4D95D0"/>
                </a:solidFill>
                <a:latin typeface="Consolas" pitchFamily="34" charset="0"/>
                <a:ea typeface="Consolas" pitchFamily="34" charset="-122"/>
                <a:cs typeface="Consolas" pitchFamily="34" charset="-120"/>
              </a:rPr>
              <a:t>REGLAS DE GOBIERNO</a:t>
            </a:r>
            <a:endParaRPr lang="en-US" sz="1050" dirty="0"/>
          </a:p>
        </p:txBody>
      </p:sp>
      <p:sp>
        <p:nvSpPr>
          <p:cNvPr id="12" name="Text 9"/>
          <p:cNvSpPr/>
          <p:nvPr/>
        </p:nvSpPr>
        <p:spPr>
          <a:xfrm>
            <a:off x="566928" y="5120640"/>
            <a:ext cx="6766560" cy="100584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9DB2C4"/>
                </a:solidFill>
                <a:latin typeface="Calibri" pitchFamily="34" charset="0"/>
                <a:ea typeface="Calibri" pitchFamily="34" charset="-122"/>
                <a:cs typeface="Calibri" pitchFamily="34" charset="-120"/>
              </a:rPr>
              <a:t>Encender las seis a la vez: la ventaja del 74 % solo existe si corren juntas</a:t>
            </a:r>
            <a:endParaRPr lang="en-US" sz="1050" dirty="0"/>
          </a:p>
          <a:p>
            <a:pPr marL="177800" indent="-177800">
              <a:spcAft>
                <a:spcPts val="600"/>
              </a:spcAft>
              <a:buSzPct val="100000"/>
              <a:buChar char="•"/>
            </a:pPr>
            <a:r>
              <a:rPr lang="en-US" sz="1050" dirty="0">
                <a:solidFill>
                  <a:srgbClr val="9DB2C4"/>
                </a:solidFill>
                <a:latin typeface="Calibri" pitchFamily="34" charset="0"/>
                <a:ea typeface="Calibri" pitchFamily="34" charset="-122"/>
                <a:cs typeface="Calibri" pitchFamily="34" charset="-120"/>
              </a:rPr>
              <a:t>No pausar por intuición: apagar un bot unos días concretos puede costar el año entero</a:t>
            </a:r>
            <a:endParaRPr lang="en-US" sz="1050" dirty="0"/>
          </a:p>
          <a:p>
            <a:pPr marL="177800" indent="-177800">
              <a:spcAft>
                <a:spcPts val="600"/>
              </a:spcAft>
              <a:buSzPct val="100000"/>
              <a:buChar char="•"/>
            </a:pPr>
            <a:r>
              <a:rPr lang="en-US" sz="1050" dirty="0">
                <a:solidFill>
                  <a:srgbClr val="9DB2C4"/>
                </a:solidFill>
                <a:latin typeface="Calibri" pitchFamily="34" charset="0"/>
                <a:ea typeface="Calibri" pitchFamily="34" charset="-122"/>
                <a:cs typeface="Calibri" pitchFamily="34" charset="-120"/>
              </a:rPr>
              <a:t>Umbral de revisión: si el resultado móvil de 12 meses cae por debajo de −$4.099, parar y revisar</a:t>
            </a:r>
            <a:endParaRPr lang="en-US" sz="1050" dirty="0"/>
          </a:p>
        </p:txBody>
      </p:sp>
      <p:sp>
        <p:nvSpPr>
          <p:cNvPr id="13" name="Shape 10"/>
          <p:cNvSpPr/>
          <p:nvPr/>
        </p:nvSpPr>
        <p:spPr>
          <a:xfrm>
            <a:off x="7571232" y="1883664"/>
            <a:ext cx="4023360" cy="4224528"/>
          </a:xfrm>
          <a:prstGeom prst="rect">
            <a:avLst/>
          </a:prstGeom>
          <a:solidFill>
            <a:srgbClr val="1A3549"/>
          </a:solidFill>
          <a:ln w="9525">
            <a:solidFill>
              <a:srgbClr val="24405A"/>
            </a:solidFill>
            <a:prstDash val="solid"/>
          </a:ln>
          <a:effectLst>
            <a:outerShdw sx="100000" sy="100000" kx="0" ky="0" algn="bl" rotWithShape="0" blurRad="127000" dist="38100" dir="5400000">
              <a:srgbClr val="000000">
                <a:alpha val="28000"/>
              </a:srgbClr>
            </a:outerShdw>
          </a:effectLst>
        </p:spPr>
      </p:sp>
      <p:sp>
        <p:nvSpPr>
          <p:cNvPr id="14" name="Shape 11"/>
          <p:cNvSpPr/>
          <p:nvPr/>
        </p:nvSpPr>
        <p:spPr>
          <a:xfrm>
            <a:off x="7571232" y="1883664"/>
            <a:ext cx="64008" cy="4224528"/>
          </a:xfrm>
          <a:prstGeom prst="rect">
            <a:avLst/>
          </a:prstGeom>
          <a:solidFill>
            <a:srgbClr val="F04438"/>
          </a:solidFill>
          <a:ln w="12700">
            <a:solidFill>
              <a:srgbClr val="F04438"/>
            </a:solidFill>
            <a:prstDash val="solid"/>
          </a:ln>
        </p:spPr>
      </p:sp>
      <p:sp>
        <p:nvSpPr>
          <p:cNvPr id="15" name="Text 12"/>
          <p:cNvSpPr/>
          <p:nvPr/>
        </p:nvSpPr>
        <p:spPr>
          <a:xfrm>
            <a:off x="7827264" y="2066544"/>
            <a:ext cx="3474720" cy="237744"/>
          </a:xfrm>
          <a:prstGeom prst="rect">
            <a:avLst/>
          </a:prstGeom>
          <a:noFill/>
          <a:ln/>
        </p:spPr>
        <p:txBody>
          <a:bodyPr wrap="square" lIns="0" tIns="0" rIns="0" bIns="0" rtlCol="0" anchor="ctr"/>
          <a:lstStyle/>
          <a:p>
            <a:pPr indent="0" marL="0">
              <a:buNone/>
            </a:pPr>
            <a:r>
              <a:rPr lang="en-US" sz="1100" spc="160" kern="0" dirty="0">
                <a:solidFill>
                  <a:srgbClr val="F04438"/>
                </a:solidFill>
                <a:latin typeface="Consolas" pitchFamily="34" charset="0"/>
                <a:ea typeface="Consolas" pitchFamily="34" charset="-122"/>
                <a:cs typeface="Consolas" pitchFamily="34" charset="-120"/>
              </a:rPr>
              <a:t>EN QUÉ PUNTO ESTAMOS HOY</a:t>
            </a:r>
            <a:endParaRPr lang="en-US" sz="1100" dirty="0"/>
          </a:p>
        </p:txBody>
      </p:sp>
      <p:sp>
        <p:nvSpPr>
          <p:cNvPr id="16" name="Text 13"/>
          <p:cNvSpPr/>
          <p:nvPr/>
        </p:nvSpPr>
        <p:spPr>
          <a:xfrm>
            <a:off x="7808976" y="2340864"/>
            <a:ext cx="3474720" cy="548640"/>
          </a:xfrm>
          <a:prstGeom prst="rect">
            <a:avLst/>
          </a:prstGeom>
          <a:noFill/>
          <a:ln/>
        </p:spPr>
        <p:txBody>
          <a:bodyPr wrap="square" lIns="0" tIns="0" rIns="0" bIns="0" rtlCol="0" anchor="ctr"/>
          <a:lstStyle/>
          <a:p>
            <a:pPr indent="0" marL="0">
              <a:buNone/>
            </a:pPr>
            <a:r>
              <a:rPr lang="en-US" sz="3000" b="1" dirty="0">
                <a:solidFill>
                  <a:srgbClr val="F2F6FA"/>
                </a:solidFill>
                <a:latin typeface="Georgia" pitchFamily="34" charset="0"/>
                <a:ea typeface="Georgia" pitchFamily="34" charset="-122"/>
                <a:cs typeface="Georgia" pitchFamily="34" charset="-120"/>
              </a:rPr>
              <a:t>Fase E</a:t>
            </a:r>
            <a:endParaRPr lang="en-US" sz="3000" dirty="0"/>
          </a:p>
        </p:txBody>
      </p:sp>
      <p:sp>
        <p:nvSpPr>
          <p:cNvPr id="17" name="Text 14"/>
          <p:cNvSpPr/>
          <p:nvPr/>
        </p:nvSpPr>
        <p:spPr>
          <a:xfrm>
            <a:off x="7827264" y="2871216"/>
            <a:ext cx="3529584" cy="274320"/>
          </a:xfrm>
          <a:prstGeom prst="rect">
            <a:avLst/>
          </a:prstGeom>
          <a:noFill/>
          <a:ln/>
        </p:spPr>
        <p:txBody>
          <a:bodyPr wrap="square" lIns="0" tIns="0" rIns="0" bIns="0" rtlCol="0" anchor="ctr"/>
          <a:lstStyle/>
          <a:p>
            <a:pPr indent="0" marL="0">
              <a:buNone/>
            </a:pPr>
            <a:r>
              <a:rPr lang="en-US" sz="1200" i="1" dirty="0">
                <a:solidFill>
                  <a:srgbClr val="F04438"/>
                </a:solidFill>
                <a:latin typeface="Calibri" pitchFamily="34" charset="0"/>
                <a:ea typeface="Calibri" pitchFamily="34" charset="-122"/>
                <a:cs typeface="Calibri" pitchFamily="34" charset="-120"/>
              </a:rPr>
              <a:t>simulado, sin capital asignado</a:t>
            </a:r>
            <a:endParaRPr lang="en-US" sz="1200" dirty="0"/>
          </a:p>
        </p:txBody>
      </p:sp>
      <p:sp>
        <p:nvSpPr>
          <p:cNvPr id="18" name="Text 15"/>
          <p:cNvSpPr/>
          <p:nvPr/>
        </p:nvSpPr>
        <p:spPr>
          <a:xfrm>
            <a:off x="7827264" y="3255264"/>
            <a:ext cx="3529584" cy="2377440"/>
          </a:xfrm>
          <a:prstGeom prst="rect">
            <a:avLst/>
          </a:prstGeom>
          <a:noFill/>
          <a:ln/>
        </p:spPr>
        <p:txBody>
          <a:bodyPr wrap="square" lIns="0" tIns="0" rIns="0" bIns="0" rtlCol="0" anchor="t"/>
          <a:lstStyle/>
          <a:p>
            <a:pPr algn="l" indent="0" marL="0">
              <a:lnSpc>
                <a:spcPct val="118000"/>
              </a:lnSpc>
              <a:buNone/>
            </a:pPr>
            <a:r>
              <a:rPr lang="en-US" sz="1100" dirty="0">
                <a:solidFill>
                  <a:srgbClr val="9DB2C4"/>
                </a:solidFill>
                <a:latin typeface="Calibri" pitchFamily="34" charset="0"/>
                <a:ea typeface="Calibri" pitchFamily="34" charset="-122"/>
                <a:cs typeface="Calibri" pitchFamily="34" charset="-120"/>
              </a:rPr>
              <a:t>Las seis estrategias operan en tiempo real desde el 11 de agosto de 2026 —el IBS desde el 16— sin dinero detrás. Todos los resultados de esta presentación son de simulación histórica.</a:t>
            </a:r>
            <a:endParaRPr lang="en-US" sz="1100" dirty="0"/>
          </a:p>
          <a:p>
            <a:pPr algn="l" indent="0" marL="0">
              <a:lnSpc>
                <a:spcPct val="118000"/>
              </a:lnSpc>
              <a:buNone/>
            </a:pPr>
            <a:endParaRPr lang="en-US" sz="1100" dirty="0"/>
          </a:p>
          <a:p>
            <a:pPr algn="l" indent="0" marL="0">
              <a:lnSpc>
                <a:spcPct val="118000"/>
              </a:lnSpc>
              <a:buNone/>
            </a:pPr>
            <a:r>
              <a:rPr lang="en-US" sz="1100" dirty="0">
                <a:solidFill>
                  <a:srgbClr val="9DB2C4"/>
                </a:solidFill>
                <a:latin typeface="Calibri" pitchFamily="34" charset="0"/>
                <a:ea typeface="Calibri" pitchFamily="34" charset="-122"/>
                <a:cs typeface="Calibri" pitchFamily="34" charset="-120"/>
              </a:rPr>
              <a:t>Los cuatro agentes de acciones y opciones sí producen recomendaciones en vivo, con capital nocional y registro completo.</a:t>
            </a:r>
            <a:endParaRPr lang="en-US" sz="1100" dirty="0"/>
          </a:p>
          <a:p>
            <a:pPr algn="l" indent="0" marL="0">
              <a:lnSpc>
                <a:spcPct val="118000"/>
              </a:lnSpc>
              <a:buNone/>
            </a:pPr>
            <a:endParaRPr lang="en-US" sz="1100" dirty="0"/>
          </a:p>
          <a:p>
            <a:pPr algn="l" indent="0" marL="0">
              <a:lnSpc>
                <a:spcPct val="118000"/>
              </a:lnSpc>
              <a:buNone/>
            </a:pPr>
            <a:r>
              <a:rPr lang="en-US" sz="1100" dirty="0">
                <a:solidFill>
                  <a:srgbClr val="9DB2C4"/>
                </a:solidFill>
                <a:latin typeface="Calibri" pitchFamily="34" charset="0"/>
                <a:ea typeface="Calibri" pitchFamily="34" charset="-122"/>
                <a:cs typeface="Calibri" pitchFamily="34" charset="-120"/>
              </a:rPr>
              <a:t>Lo que pido no es capital todavía. Es acordar el criterio con el que decidiremos, dentro de unos meses, si la Fase E ha cumplido lo que el papel prometía.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Emporium Quality Funds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Emporium Quant Desk</dc:title>
  <dc:subject>De la idea al capital gestionado</dc:subject>
  <dc:creator>Luis Riofrío</dc:creator>
  <cp:lastModifiedBy>Luis Riofrío</cp:lastModifiedBy>
  <cp:revision>1</cp:revision>
  <dcterms:created xsi:type="dcterms:W3CDTF">2026-08-24T03:41:07Z</dcterms:created>
  <dcterms:modified xsi:type="dcterms:W3CDTF">2026-08-24T03:41:07Z</dcterms:modified>
</cp:coreProperties>
</file>